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4.png" ContentType="image/png"/>
  <Override PartName="/ppt/media/image13.png" ContentType="image/png"/>
  <Override PartName="/ppt/media/image9.png" ContentType="image/png"/>
  <Override PartName="/ppt/media/image7.jpeg" ContentType="image/jpe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0.png" ContentType="image/png"/>
  <Override PartName="/ppt/media/image6.jpeg" ContentType="image/jpeg"/>
  <Override PartName="/ppt/media/image1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43891200" cy="32918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EBFF23-B8D0-47C4-9615-69C20DBC73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1B96C6-7725-441A-AD09-0EDE610684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7D8895E-CABD-40A9-BCBC-F309449357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3950172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7B3E3DA-F637-40CD-82A3-F6BB419396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C6F3F76-6CF4-4A3A-93D5-DB67A20C85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19456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22435200" y="7702560"/>
            <a:ext cx="19276560" cy="1909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24A249C-82DF-4554-8EB6-AD852ACABC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BAE55E0-B5D3-4059-A89E-AFDA8A521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3962193-FBBB-426E-9E3D-634CC63B94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FEFCDD8-7980-4DCF-8BBE-9755C12B59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A6FDB92-B932-4284-BA44-838AF63943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22AC4E4-3DD2-45E1-B57A-981F166A05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1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2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3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93133D15-F64A-4375-B70D-2A1BA18DFE05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11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12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13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ftr" idx="4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52C09362-E2FB-4EEB-8699-6427518DEC3D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6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18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19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20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ftr" idx="7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8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76294933-6C19-4923-9A8E-53D200AF9C32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9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25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26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27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3950136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10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sldNum" idx="11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BF9CDB33-FA31-4FB5-B5EA-E02FEC91A177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dt" idx="12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36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37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38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ftr" idx="13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4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1493F261-9E98-447C-85C8-7D74F83DA77C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5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43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44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45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219456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22435200" y="7702560"/>
            <a:ext cx="19276200" cy="1909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6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7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55565643-0385-49C9-92B3-38BABFE77E2D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18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56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57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58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ftr" idx="19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20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128A8CA7-E7C0-4ACF-8BC0-2D710CBE651F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21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63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64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65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291480" y="11003760"/>
            <a:ext cx="37303560" cy="549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22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23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B276D781-79AC-4C1F-A86E-D1735EDCDB90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24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72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73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74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ftr" idx="25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26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341F1FFF-4621-478F-8326-3E7D97FF9BEF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27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79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80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81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ftr" idx="28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29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0FCEAD61-8D43-49FD-BF0F-6413F4775723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30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New picture" descr=""/>
          <p:cNvPicPr/>
          <p:nvPr/>
        </p:nvPicPr>
        <p:blipFill>
          <a:blip r:embed="rId2"/>
          <a:stretch/>
        </p:blipFill>
        <p:spPr>
          <a:xfrm rot="16200000">
            <a:off x="-11069640" y="1646388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86" name="New picture" descr=""/>
          <p:cNvPicPr/>
          <p:nvPr/>
        </p:nvPicPr>
        <p:blipFill>
          <a:blip r:embed="rId3"/>
          <a:stretch/>
        </p:blipFill>
        <p:spPr>
          <a:xfrm rot="5400000">
            <a:off x="40695480" y="16459200"/>
            <a:ext cx="14270040" cy="3932280"/>
          </a:xfrm>
          <a:prstGeom prst="rect">
            <a:avLst/>
          </a:prstGeom>
          <a:ln w="0">
            <a:noFill/>
          </a:ln>
        </p:spPr>
      </p:pic>
      <p:pic>
        <p:nvPicPr>
          <p:cNvPr id="87" name="New picture" descr=""/>
          <p:cNvPicPr/>
          <p:nvPr/>
        </p:nvPicPr>
        <p:blipFill>
          <a:blip r:embed="rId4"/>
          <a:stretch/>
        </p:blipFill>
        <p:spPr>
          <a:xfrm>
            <a:off x="6946920" y="33426360"/>
            <a:ext cx="29992680" cy="1443240"/>
          </a:xfrm>
          <a:prstGeom prst="rect">
            <a:avLst/>
          </a:prstGeom>
          <a:ln w="0">
            <a:noFill/>
          </a:ln>
        </p:spPr>
      </p:pic>
      <p:sp>
        <p:nvSpPr>
          <p:cNvPr id="88" name="New shape"/>
          <p:cNvSpPr/>
          <p:nvPr/>
        </p:nvSpPr>
        <p:spPr>
          <a:xfrm>
            <a:off x="6946920" y="33998040"/>
            <a:ext cx="21940920" cy="126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560" spc="-1" strike="noStrike">
                <a:solidFill>
                  <a:srgbClr val="808080"/>
                </a:solidFill>
                <a:latin typeface="Arial"/>
                <a:ea typeface="Arial"/>
              </a:rPr>
              <a:t>Template ID: pragmaticgraphite  Size: 48x36</a:t>
            </a:r>
            <a:endParaRPr b="0" lang="en-US" sz="45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ftr" idx="31"/>
          </p:nvPr>
        </p:nvSpPr>
        <p:spPr>
          <a:xfrm>
            <a:off x="14994360" y="29977560"/>
            <a:ext cx="138974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32"/>
          </p:nvPr>
        </p:nvSpPr>
        <p:spPr>
          <a:xfrm>
            <a:off x="314535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 algn="r" defTabSz="3292200">
              <a:lnSpc>
                <a:spcPct val="100000"/>
              </a:lnSpc>
              <a:buNone/>
              <a:tabLst>
                <a:tab algn="l" pos="0"/>
              </a:tabLst>
              <a:defRPr b="0" lang="en-US" sz="503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3292200">
              <a:lnSpc>
                <a:spcPct val="100000"/>
              </a:lnSpc>
              <a:buNone/>
              <a:tabLst>
                <a:tab algn="l" pos="0"/>
              </a:tabLst>
            </a:pPr>
            <a:fld id="{30EDCB04-EBC3-481E-97C5-B9EF93C1CCEC}" type="slidenum">
              <a:rPr b="0" lang="en-US" sz="503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50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33"/>
          </p:nvPr>
        </p:nvSpPr>
        <p:spPr>
          <a:xfrm>
            <a:off x="2192760" y="29977560"/>
            <a:ext cx="10239840" cy="2281320"/>
          </a:xfrm>
          <a:prstGeom prst="rect">
            <a:avLst/>
          </a:prstGeom>
          <a:noFill/>
          <a:ln w="0">
            <a:noFill/>
          </a:ln>
        </p:spPr>
        <p:txBody>
          <a:bodyPr lIns="438840" rIns="438840" tIns="219600" bIns="2196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33147000" y="16651800"/>
            <a:ext cx="10121760" cy="1418256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22174200" y="5558400"/>
            <a:ext cx="10512360" cy="2530224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3147000" y="6413400"/>
            <a:ext cx="10121760" cy="1019916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1201400" y="5558400"/>
            <a:ext cx="10512360" cy="2530224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77800" y="5558400"/>
            <a:ext cx="10163160" cy="1158336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7" name="Rectangle 6"/>
          <p:cNvSpPr/>
          <p:nvPr/>
        </p:nvSpPr>
        <p:spPr>
          <a:xfrm>
            <a:off x="0" y="3240"/>
            <a:ext cx="43886520" cy="5250240"/>
          </a:xfrm>
          <a:prstGeom prst="rect">
            <a:avLst/>
          </a:prstGeom>
          <a:solidFill>
            <a:srgbClr val="21314d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68760" bIns="68760" anchor="ctr">
            <a:noAutofit/>
          </a:bodyPr>
          <a:p>
            <a:pPr algn="ctr" defTabSz="4703760">
              <a:lnSpc>
                <a:spcPct val="100000"/>
              </a:lnSpc>
            </a:pPr>
            <a:endParaRPr b="1" lang="en-US" sz="5400" spc="-1" strike="noStrike">
              <a:solidFill>
                <a:schemeClr val="dk2"/>
              </a:solidFill>
              <a:latin typeface="Gill Sans"/>
              <a:ea typeface="Arial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609480" y="6666480"/>
            <a:ext cx="10131480" cy="98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If we intend to make use of complex quantum algorithms, we need either: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Scalable, reliable quantum hardware.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	</a:t>
            </a: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or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Sophisticated algorithm, architecture &amp; compilation frameworks that enable execution on heterogeneous, distributed systems.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This work proposes a framework for quantum circuit generation in hopes to better utilize complex quantum modeling techniques on real quantum hardware.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Placeholder 5"/>
          <p:cNvSpPr/>
          <p:nvPr/>
        </p:nvSpPr>
        <p:spPr>
          <a:xfrm>
            <a:off x="7545960" y="410400"/>
            <a:ext cx="28799280" cy="29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376092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US" sz="8500" spc="-1" strike="noStrike">
                <a:solidFill>
                  <a:srgbClr val="ffffff"/>
                </a:solidFill>
                <a:latin typeface="Bree Serif"/>
                <a:ea typeface="Arial"/>
              </a:rPr>
              <a:t>Quantum Circuit Generation for Modeling Complex Interactions</a:t>
            </a:r>
            <a:endParaRPr b="0" lang="en-US" sz="8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Placeholder 5"/>
          <p:cNvSpPr/>
          <p:nvPr/>
        </p:nvSpPr>
        <p:spPr>
          <a:xfrm>
            <a:off x="1175040" y="3321000"/>
            <a:ext cx="36571320" cy="26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                                                                  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  </a:t>
            </a: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Department of Computer Science                 Department of Computer Science                       NVIDIA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9"/>
          <p:cNvSpPr/>
          <p:nvPr/>
        </p:nvSpPr>
        <p:spPr>
          <a:xfrm>
            <a:off x="11417040" y="6666480"/>
            <a:ext cx="10070640" cy="151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modeling methods are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expensive 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due to an inability to scale for: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Large / dense domain sizes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Long-term model stability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We are interested in making quantum algorithms for modeling complex systems viable for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execution on real quantum hardware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architecture, encoding and qubit mapping can all fall under the umbrella of </a:t>
            </a:r>
            <a:r>
              <a:rPr b="0" i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circuit compilation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9"/>
          <p:cNvSpPr/>
          <p:nvPr/>
        </p:nvSpPr>
        <p:spPr>
          <a:xfrm>
            <a:off x="22368960" y="6666480"/>
            <a:ext cx="10127520" cy="232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NVIDIAs quantum SDK, CUDA-Q enables: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Parallelization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Hamiltonian Simulation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Multi-GPU acceleration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CUDA-Q wraps NVIDIAs backend development kits, targeting high performance applications: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cuQuantum: Library that accelerates quantum simulations on a circuit &amp; device-level.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CUDA:  GPU development SDK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Ideal for hybrid quantum-classical processing and HPC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Placing CUDA-Q at the center of this framework indicates the full utilization of hardware acceleration at every step.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33256440" y="6746760"/>
            <a:ext cx="9596520" cy="9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circuit generation with diffusion models resembles image generation.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We imagine quantum circuits as a flexible representation - enabling us to consider them as images, or a language.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0" y="31318200"/>
            <a:ext cx="43886520" cy="1595520"/>
          </a:xfrm>
          <a:prstGeom prst="rect">
            <a:avLst/>
          </a:prstGeom>
          <a:solidFill>
            <a:srgbClr val="c8c8c8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68760" bIns="68760" anchor="ctr">
            <a:noAutofit/>
          </a:bodyPr>
          <a:p>
            <a:pPr algn="ctr" defTabSz="4703760">
              <a:lnSpc>
                <a:spcPct val="100000"/>
              </a:lnSpc>
            </a:pPr>
            <a:endParaRPr b="1" lang="en-US" sz="5400" spc="-1" strike="noStrike">
              <a:solidFill>
                <a:schemeClr val="dk2"/>
              </a:solidFill>
              <a:latin typeface="Gill Sans"/>
              <a:ea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79960" y="5558400"/>
            <a:ext cx="10130760" cy="83916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Abstract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1230920" y="5558400"/>
            <a:ext cx="10482840" cy="83916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600" spc="-1" strike="noStrike">
                <a:solidFill>
                  <a:srgbClr val="ffffff"/>
                </a:solidFill>
                <a:latin typeface="Bree Serif"/>
                <a:ea typeface="Arial"/>
              </a:rPr>
              <a:t>Quantum Architecture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3147000" y="5571000"/>
            <a:ext cx="10125000" cy="83916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Large-Language Models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2177440" y="5558400"/>
            <a:ext cx="10514880" cy="83916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CUDA-Q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3151320" y="16618320"/>
            <a:ext cx="10121760" cy="83412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Applications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77800" y="17242200"/>
            <a:ext cx="10163160" cy="13618440"/>
          </a:xfrm>
          <a:prstGeom prst="rect">
            <a:avLst/>
          </a:prstGeom>
          <a:solidFill>
            <a:srgbClr val="ffffff"/>
          </a:solidFill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 methods such as gate cutting can further improve the fidelity of a quantum circuit and reduce depth.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circuit generation mitigates the need for high-level algorithm expertise.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 hybrid quantum-classical ML workflow with CUDA-Q at the center 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79960" y="17087400"/>
            <a:ext cx="10167840" cy="839160"/>
          </a:xfrm>
          <a:prstGeom prst="rect">
            <a:avLst/>
          </a:prstGeom>
          <a:solidFill>
            <a:srgbClr val="21314d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Motivation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79960" y="25367400"/>
            <a:ext cx="10158480" cy="839160"/>
          </a:xfrm>
          <a:prstGeom prst="rect">
            <a:avLst/>
          </a:prstGeom>
          <a:solidFill>
            <a:srgbClr val="21314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800" spc="-1" strike="noStrike">
                <a:solidFill>
                  <a:srgbClr val="ffffff"/>
                </a:solidFill>
                <a:latin typeface="Bree Serif"/>
                <a:ea typeface="Arial"/>
              </a:rPr>
              <a:t>Challenges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7781200" y="2971800"/>
            <a:ext cx="479880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Pooja Rao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9905480" y="2971800"/>
            <a:ext cx="479880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Iris Bahar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9781920" y="2971800"/>
            <a:ext cx="4798800" cy="18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3760920">
              <a:lnSpc>
                <a:spcPct val="100000"/>
              </a:lnSpc>
              <a:spcBef>
                <a:spcPts val="1120"/>
              </a:spcBef>
              <a:tabLst>
                <a:tab algn="l" pos="0"/>
              </a:tabLst>
            </a:pPr>
            <a:r>
              <a:rPr b="0" lang="en-US" sz="5600" spc="-1" strike="noStrike">
                <a:solidFill>
                  <a:srgbClr val="ffffff"/>
                </a:solidFill>
                <a:latin typeface="Open Sans"/>
                <a:ea typeface="Open Sans"/>
              </a:rPr>
              <a:t>Will Buziak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38176200" y="31318200"/>
            <a:ext cx="4951080" cy="1533600"/>
          </a:xfrm>
          <a:prstGeom prst="rect">
            <a:avLst/>
          </a:prstGeom>
          <a:ln w="0">
            <a:noFill/>
          </a:ln>
        </p:spPr>
      </p:pic>
      <p:sp>
        <p:nvSpPr>
          <p:cNvPr id="117" name="TextBox 1"/>
          <p:cNvSpPr/>
          <p:nvPr/>
        </p:nvSpPr>
        <p:spPr>
          <a:xfrm>
            <a:off x="33256440" y="17618760"/>
            <a:ext cx="9596520" cy="101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Each major component of this paradigm is intended to be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interchangeable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, opening the door for a larger swath of applications.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computing provides speedups over classical solutions when algorithms can map to an algorithm that takes advantage of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entanglement similarities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Architecture &amp; Compilation frameworks can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target heterogeneous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 distributed systems.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advantage is dependent on the ability to encode domain properties and conditions into the </a:t>
            </a:r>
            <a:r>
              <a:rPr b="0" i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state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990000" y="12171600"/>
            <a:ext cx="9459360" cy="205668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/>
          <p:nvPr/>
        </p:nvSpPr>
        <p:spPr>
          <a:xfrm>
            <a:off x="577800" y="26289000"/>
            <a:ext cx="10163160" cy="52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Quantum Hardware is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noisy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 &amp; </a:t>
            </a:r>
            <a:r>
              <a:rPr b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unreliable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Qubit technologies are </a:t>
            </a:r>
            <a:r>
              <a:rPr b="0" i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non-homogeneous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Classical models experience </a:t>
            </a:r>
            <a:r>
              <a:rPr b="0" i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exponential blowup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 when scaling to real-world systems.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Algorithm design is </a:t>
            </a:r>
            <a:r>
              <a:rPr b="0" i="1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non-trivial</a:t>
            </a:r>
            <a:r>
              <a:rPr b="0" lang="en-US" sz="3600" spc="-1" strike="noStrike">
                <a:solidFill>
                  <a:schemeClr val="dk1"/>
                </a:solidFill>
                <a:latin typeface="Open Sans"/>
                <a:ea typeface="Open Sans"/>
              </a:rPr>
              <a:t> &amp; often requires additional techniques to improve circuit fidelity on NISQ hardware.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3"/>
          <a:stretch/>
        </p:blipFill>
        <p:spPr>
          <a:xfrm>
            <a:off x="33444360" y="8242200"/>
            <a:ext cx="4202280" cy="251424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4"/>
          <a:stretch/>
        </p:blipFill>
        <p:spPr>
          <a:xfrm>
            <a:off x="38932200" y="8251920"/>
            <a:ext cx="4125600" cy="246852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5"/>
          <a:stretch/>
        </p:blipFill>
        <p:spPr>
          <a:xfrm>
            <a:off x="36082800" y="12006720"/>
            <a:ext cx="4125600" cy="2468520"/>
          </a:xfrm>
          <a:prstGeom prst="rect">
            <a:avLst/>
          </a:prstGeom>
          <a:ln w="0">
            <a:noFill/>
          </a:ln>
        </p:spPr>
      </p:pic>
      <p:cxnSp>
        <p:nvCxnSpPr>
          <p:cNvPr id="123" name=""/>
          <p:cNvCxnSpPr>
            <a:stCxn id="120" idx="3"/>
            <a:endCxn id="121" idx="1"/>
          </p:cNvCxnSpPr>
          <p:nvPr/>
        </p:nvCxnSpPr>
        <p:spPr>
          <a:xfrm flipV="1">
            <a:off x="37646640" y="9486000"/>
            <a:ext cx="1285920" cy="136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24" name=""/>
          <p:cNvCxnSpPr>
            <a:stCxn id="121" idx="2"/>
            <a:endCxn id="122" idx="3"/>
          </p:cNvCxnSpPr>
          <p:nvPr/>
        </p:nvCxnSpPr>
        <p:spPr>
          <a:xfrm rot="5400000">
            <a:off x="39341160" y="11587320"/>
            <a:ext cx="2520720" cy="786960"/>
          </a:xfrm>
          <a:prstGeom prst="curvedConnector2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25" name=""/>
          <p:cNvCxnSpPr>
            <a:stCxn id="122" idx="1"/>
            <a:endCxn id="120" idx="2"/>
          </p:cNvCxnSpPr>
          <p:nvPr/>
        </p:nvCxnSpPr>
        <p:spPr>
          <a:xfrm rot="10800000">
            <a:off x="35544960" y="10756080"/>
            <a:ext cx="537840" cy="2484720"/>
          </a:xfrm>
          <a:prstGeom prst="curvedConnector2">
            <a:avLst/>
          </a:prstGeom>
          <a:ln w="3816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126" name="" descr=""/>
          <p:cNvPicPr/>
          <p:nvPr/>
        </p:nvPicPr>
        <p:blipFill>
          <a:blip r:embed="rId6"/>
          <a:stretch/>
        </p:blipFill>
        <p:spPr>
          <a:xfrm>
            <a:off x="23398920" y="9928800"/>
            <a:ext cx="7990920" cy="359964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7"/>
          <a:stretch/>
        </p:blipFill>
        <p:spPr>
          <a:xfrm>
            <a:off x="22302720" y="21675600"/>
            <a:ext cx="10224000" cy="497124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8"/>
          <a:stretch/>
        </p:blipFill>
        <p:spPr>
          <a:xfrm>
            <a:off x="275400" y="31180680"/>
            <a:ext cx="11069640" cy="190332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9"/>
          <a:stretch/>
        </p:blipFill>
        <p:spPr>
          <a:xfrm>
            <a:off x="11658600" y="21926160"/>
            <a:ext cx="9666000" cy="852444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10"/>
          <a:stretch/>
        </p:blipFill>
        <p:spPr>
          <a:xfrm>
            <a:off x="39450960" y="27360000"/>
            <a:ext cx="3297240" cy="276120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11"/>
          <a:stretch/>
        </p:blipFill>
        <p:spPr>
          <a:xfrm>
            <a:off x="1506600" y="22368600"/>
            <a:ext cx="8480520" cy="272880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12"/>
          <a:srcRect l="0" t="18239" r="7" b="0"/>
          <a:stretch/>
        </p:blipFill>
        <p:spPr>
          <a:xfrm>
            <a:off x="33532200" y="27503640"/>
            <a:ext cx="4471920" cy="2502360"/>
          </a:xfrm>
          <a:prstGeom prst="rect">
            <a:avLst/>
          </a:prstGeom>
          <a:ln w="0">
            <a:noFill/>
          </a:ln>
        </p:spPr>
      </p:pic>
      <p:cxnSp>
        <p:nvCxnSpPr>
          <p:cNvPr id="133" name=""/>
          <p:cNvCxnSpPr>
            <a:stCxn id="132" idx="3"/>
            <a:endCxn id="130" idx="1"/>
          </p:cNvCxnSpPr>
          <p:nvPr/>
        </p:nvCxnSpPr>
        <p:spPr>
          <a:xfrm flipV="1">
            <a:off x="38004120" y="28740600"/>
            <a:ext cx="1447200" cy="14400"/>
          </a:xfrm>
          <a:prstGeom prst="straightConnector1">
            <a:avLst/>
          </a:prstGeom>
          <a:ln w="2916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34" name=""/>
          <p:cNvSpPr/>
          <p:nvPr/>
        </p:nvSpPr>
        <p:spPr>
          <a:xfrm flipH="1">
            <a:off x="12452400" y="13397400"/>
            <a:ext cx="4114800" cy="1580760"/>
          </a:xfrm>
          <a:prstGeom prst="line">
            <a:avLst/>
          </a:prstGeom>
          <a:ln w="57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 flipH="1" flipV="1">
            <a:off x="16567200" y="13397400"/>
            <a:ext cx="3657600" cy="1580760"/>
          </a:xfrm>
          <a:prstGeom prst="line">
            <a:avLst/>
          </a:prstGeom>
          <a:ln w="57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4293800" y="12596400"/>
            <a:ext cx="4572000" cy="105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Compilation Techniques</a:t>
            </a:r>
            <a:endParaRPr b="1" lang="en-US" sz="2800" spc="-1" strike="noStrike" baseline="-8000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Application>LibreOffice/24.2.7.2$Linux_X86_64 LibreOffice_project/420$Build-2</Application>
  <AppVersion>15.0000</AppVersion>
  <Paragraphs>16</Paragraphs>
  <Company>Graphicsland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scientific poster template</cp:category>
  <dc:creator>Graphicsland/MakeSigns.com</dc:creator>
  <dc:description>This is a free template from MakeSigns.com to help you create the perfect scientific poster.</dc:description>
  <cp:keywords>scientific research template custom poster presentation symposium printing PowerPoint create design example sample download</cp:keywords>
  <dc:language>en-US</dc:language>
  <cp:lastModifiedBy/>
  <cp:lastPrinted>2026-01-29T12:24:40Z</cp:lastPrinted>
  <dcterms:modified xsi:type="dcterms:W3CDTF">2026-03-31T15:53:07Z</dcterms:modified>
  <cp:revision>73</cp:revision>
  <dc:subject>Template For Scientific Poster Presentation</dc:subject>
  <dc:title>PowerPoint template for a scientific poster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