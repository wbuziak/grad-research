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10.xml" ContentType="application/vnd.openxmlformats-officedocument.theme+xml"/>
  <Override PartName="/ppt/theme/theme8.xml" ContentType="application/vnd.openxmlformats-officedocument.theme+xml"/>
  <Override PartName="/ppt/theme/theme11.xml" ContentType="application/vnd.openxmlformats-officedocument.theme+xml"/>
  <Override PartName="/ppt/theme/theme9.xml" ContentType="application/vnd.openxmlformats-officedocument.theme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1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_rels/presentation.xml.rels" ContentType="application/vnd.openxmlformats-package.relationships+xml"/>
  <Override PartName="/ppt/media/image1.png" ContentType="image/png"/>
  <Override PartName="/ppt/media/image5.png" ContentType="image/png"/>
  <Override PartName="/ppt/media/image13.png" ContentType="image/png"/>
  <Override PartName="/ppt/media/image6.jpeg" ContentType="image/jpeg"/>
  <Override PartName="/ppt/media/image4.png" ContentType="image/png"/>
  <Override PartName="/ppt/media/image12.png" ContentType="image/png"/>
  <Override PartName="/ppt/media/image7.jpeg" ContentType="image/jpeg"/>
  <Override PartName="/ppt/media/image8.png" ContentType="image/png"/>
  <Override PartName="/ppt/media/image10.png" ContentType="image/png"/>
  <Override PartName="/ppt/media/image2.png" ContentType="image/png"/>
  <Override PartName="/ppt/media/image9.png" ContentType="image/png"/>
  <Override PartName="/ppt/media/image11.png" ContentType="image/png"/>
  <Override PartName="/ppt/media/image3.png" ContentType="image/png"/>
  <Override PartName="/ppt/media/image14.png" ContentType="image/png"/>
  <Override PartName="/ppt/slideLayouts/_rels/slideLayout9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43891200" cy="329184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C64D3B-0FDB-4795-A17D-6F5029BE65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248AE2-EAFD-48D0-B11C-98DC39DE70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CCD1D32-9EB2-415F-BF32-5C2411ABF8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F8BFF61-F88B-48C8-8E99-6944602EA0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3D023E-3D42-4ED2-BA39-84DE4BD49A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2243520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E1409BA-3400-48C6-809A-E61851881F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E992FB-204D-46F7-A71F-6EA7C1E6B6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35584FC-7373-42DA-BCC4-BC4AEE3B17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8CCBC8-56CD-47A3-839F-126FF989B2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8D86927-8D4A-4249-B26E-D6D525C7F8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7082345-0B82-490F-852B-F829297E94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1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2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3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9E0F3480-2176-44AB-9C35-E83A6F38CA64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11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12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13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ftr" idx="4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22B97696-93FF-49BF-B8F8-2E67D43AE5B3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1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6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18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19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20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ftr" idx="7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8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862EA53A-6103-4B7A-B7E6-977326E1136F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1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9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25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26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27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3950136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0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1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1CF767A1-ACE9-4F1E-90DB-1E343A3B53CD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2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36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3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38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ftr" idx="13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4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D2FF6522-6EEE-44C1-97B9-37237D4A8681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5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43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44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45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2243520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16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17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60F76F21-F4D4-4206-AD87-141EE74E07C9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dt" idx="18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56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5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58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ftr" idx="19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20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E830A276-9AF5-4569-BCBE-B9A48A46A61A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21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63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64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65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3200" cy="54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ftr" idx="22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23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237BDD9A-A3C7-4731-BEDD-34686AC76FC0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24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72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73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74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ftr" idx="25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6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EF000851-A7B8-4C5A-A4D5-BF3CD0C72EA5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dt" idx="27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79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80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81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ftr" idx="28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29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07E6F75B-2EC1-4C79-88F1-343B76C163BB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30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New picture" descr=""/>
          <p:cNvPicPr/>
          <p:nvPr/>
        </p:nvPicPr>
        <p:blipFill>
          <a:blip r:embed="rId2"/>
          <a:stretch/>
        </p:blipFill>
        <p:spPr>
          <a:xfrm rot="16200000">
            <a:off x="-11069280" y="1646424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86" name="New picture" descr=""/>
          <p:cNvPicPr/>
          <p:nvPr/>
        </p:nvPicPr>
        <p:blipFill>
          <a:blip r:embed="rId3"/>
          <a:stretch/>
        </p:blipFill>
        <p:spPr>
          <a:xfrm rot="5400000">
            <a:off x="40695840" y="16459200"/>
            <a:ext cx="14269680" cy="3931920"/>
          </a:xfrm>
          <a:prstGeom prst="rect">
            <a:avLst/>
          </a:prstGeom>
          <a:ln w="0">
            <a:noFill/>
          </a:ln>
        </p:spPr>
      </p:pic>
      <p:pic>
        <p:nvPicPr>
          <p:cNvPr id="8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2320" cy="1442880"/>
          </a:xfrm>
          <a:prstGeom prst="rect">
            <a:avLst/>
          </a:prstGeom>
          <a:ln w="0">
            <a:noFill/>
          </a:ln>
        </p:spPr>
      </p:pic>
      <p:sp>
        <p:nvSpPr>
          <p:cNvPr id="88" name="New shape"/>
          <p:cNvSpPr/>
          <p:nvPr/>
        </p:nvSpPr>
        <p:spPr>
          <a:xfrm>
            <a:off x="6946920" y="33998040"/>
            <a:ext cx="21940560" cy="1265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trike="noStrike" u="none">
                <a:solidFill>
                  <a:srgbClr val="808080"/>
                </a:solidFill>
                <a:uFillTx/>
                <a:latin typeface="Arial"/>
                <a:ea typeface="Arial"/>
              </a:rPr>
              <a:t>Template ID: pragmaticgraphite  Size: 48x36</a:t>
            </a:r>
            <a:endParaRPr b="0" lang="en-US" sz="456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ftr" idx="31"/>
          </p:nvPr>
        </p:nvSpPr>
        <p:spPr>
          <a:xfrm>
            <a:off x="14994360" y="29977560"/>
            <a:ext cx="138970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32"/>
          </p:nvPr>
        </p:nvSpPr>
        <p:spPr>
          <a:xfrm>
            <a:off x="314535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1A26482B-F7BF-40DB-8F5C-5E104904079C}" type="slidenum">
              <a:rPr b="0" lang="en-US" sz="5030" strike="noStrike" u="none">
                <a:solidFill>
                  <a:schemeClr val="dk1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503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dt" idx="33"/>
          </p:nvPr>
        </p:nvSpPr>
        <p:spPr>
          <a:xfrm>
            <a:off x="2192760" y="29977560"/>
            <a:ext cx="10239480" cy="22809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>
            <a:off x="33147000" y="16651800"/>
            <a:ext cx="10121400" cy="141822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174200" y="5558400"/>
            <a:ext cx="10512000" cy="2530188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33147000" y="6413400"/>
            <a:ext cx="10121400" cy="101988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11201400" y="5558400"/>
            <a:ext cx="10512000" cy="2530188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77800" y="5558400"/>
            <a:ext cx="10162800" cy="115830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7" name="Rectangle 6"/>
          <p:cNvSpPr/>
          <p:nvPr/>
        </p:nvSpPr>
        <p:spPr>
          <a:xfrm>
            <a:off x="0" y="3240"/>
            <a:ext cx="43886160" cy="5249880"/>
          </a:xfrm>
          <a:prstGeom prst="rect">
            <a:avLst/>
          </a:prstGeom>
          <a:solidFill>
            <a:srgbClr val="21314d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trike="noStrike" u="none">
              <a:solidFill>
                <a:schemeClr val="dk2"/>
              </a:solidFill>
              <a:uFillTx/>
              <a:latin typeface="Gill Sans"/>
              <a:ea typeface="Arial"/>
            </a:endParaRPr>
          </a:p>
        </p:txBody>
      </p:sp>
      <p:sp>
        <p:nvSpPr>
          <p:cNvPr id="98" name="TextBox 19"/>
          <p:cNvSpPr/>
          <p:nvPr/>
        </p:nvSpPr>
        <p:spPr>
          <a:xfrm>
            <a:off x="609480" y="6666480"/>
            <a:ext cx="10131120" cy="988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10000"/>
              </a:lnSpc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If we intend to make use of complex quantum algorithms, we need either: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Scalable, reliable quantum hardware.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	</a:t>
            </a: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or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Sophisticated algorithm, architecture &amp; compilation frameworks that enable execution on heterogeneous, distributed systems.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40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This work proposes a framework for quantum circuit generation in hopes to better utilize complex quantum modeling techniques on real quantum hardware.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Text Placeholder 5"/>
          <p:cNvSpPr/>
          <p:nvPr/>
        </p:nvSpPr>
        <p:spPr>
          <a:xfrm>
            <a:off x="7545960" y="410400"/>
            <a:ext cx="28798920" cy="29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3760920">
              <a:lnSpc>
                <a:spcPct val="100000"/>
              </a:lnSpc>
              <a:spcBef>
                <a:spcPts val="1701"/>
              </a:spcBef>
              <a:tabLst>
                <a:tab algn="l" pos="0"/>
              </a:tabLst>
            </a:pPr>
            <a:r>
              <a:rPr b="0" lang="en-US" sz="85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Quantum Circuit Generation for Modeling Complex Interactions</a:t>
            </a:r>
            <a:endParaRPr b="0" lang="en-US" sz="8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Text Placeholder 5"/>
          <p:cNvSpPr/>
          <p:nvPr/>
        </p:nvSpPr>
        <p:spPr>
          <a:xfrm>
            <a:off x="1175040" y="3321000"/>
            <a:ext cx="36570960" cy="24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                                                                  </a:t>
            </a:r>
            <a:endParaRPr b="0" lang="en-US" sz="5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40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  </a:t>
            </a:r>
            <a:r>
              <a:rPr b="0" lang="en-US" sz="40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Department of Computer Science                 Department of Computer Science                       NVIDIA</a:t>
            </a:r>
            <a:endParaRPr b="0" lang="en-US" sz="4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endParaRPr b="0" lang="en-US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TextBox 19"/>
          <p:cNvSpPr/>
          <p:nvPr/>
        </p:nvSpPr>
        <p:spPr>
          <a:xfrm>
            <a:off x="11417040" y="6666480"/>
            <a:ext cx="10070280" cy="151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10000"/>
              </a:lnSpc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Classical modeling methods are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expensive 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due to an inability to scale for: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Large / dense domain sizes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Long-term model stability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We are interested in making quantum algorithms for modeling complex systems viable for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execution on real quantum hardware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architecture, encoding and qubit mapping can all fall under the umbrella of </a:t>
            </a:r>
            <a:r>
              <a:rPr b="0" i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circuit compilation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22368960" y="6666480"/>
            <a:ext cx="10127160" cy="238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NVIDIAs quantum SDK, CUDA-Q enables: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Parallelization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Hamiltonian Simulation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Multi-GPU acceleration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CUDA-Q wraps NVIDIAs backend development kits, targeting high performance applications: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cuQuantum: Library that accelerates quantum simulations on a circuit &amp; device-level.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CUDA:  GPU development SDK 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Ideal for hybrid quantum-classical processing and HPC applications.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Placing CUDA-Q at the center of this framework indicates the full utilization of hardware acceleration at every step.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TextBox 19"/>
          <p:cNvSpPr/>
          <p:nvPr/>
        </p:nvSpPr>
        <p:spPr>
          <a:xfrm>
            <a:off x="33256440" y="6746760"/>
            <a:ext cx="9596160" cy="9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circuit generation with diffusion models resembles image generation.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We imagine quantum circuits as a flexible representation - enabling us to consider them as images, or a language.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" name="Rectangle 6"/>
          <p:cNvSpPr/>
          <p:nvPr/>
        </p:nvSpPr>
        <p:spPr>
          <a:xfrm>
            <a:off x="0" y="31318200"/>
            <a:ext cx="43886160" cy="1595160"/>
          </a:xfrm>
          <a:prstGeom prst="rect">
            <a:avLst/>
          </a:prstGeom>
          <a:solidFill>
            <a:srgbClr val="c8c8c8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trike="noStrike" u="none">
              <a:solidFill>
                <a:schemeClr val="dk2"/>
              </a:solidFill>
              <a:uFillTx/>
              <a:latin typeface="Gill Sans"/>
              <a:ea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579960" y="5558400"/>
            <a:ext cx="10130400" cy="8388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Abstract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1230920" y="5558400"/>
            <a:ext cx="10482480" cy="8388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6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Quantum Architecture</a:t>
            </a:r>
            <a:endParaRPr b="0" lang="en-US" sz="4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33147000" y="5571000"/>
            <a:ext cx="10124640" cy="8388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Large-Language Models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2177440" y="5558400"/>
            <a:ext cx="10514520" cy="8388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CUDA-Q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3151320" y="16618320"/>
            <a:ext cx="10121400" cy="8337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Applications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577800" y="17242200"/>
            <a:ext cx="10162800" cy="1361808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Architecture methods such as gate cutting can further improve the fidelity of a quantum circuit and reduce depth.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circuit generation mitigates the need for high-level algorithm expertise.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A hybrid quantum-classical ML workflow with CUDA-Q at the center  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579960" y="17087400"/>
            <a:ext cx="10167480" cy="838800"/>
          </a:xfrm>
          <a:prstGeom prst="rect">
            <a:avLst/>
          </a:prstGeom>
          <a:solidFill>
            <a:srgbClr val="21314d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Motivation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579960" y="25367400"/>
            <a:ext cx="10158120" cy="8388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trike="noStrike" u="none">
                <a:solidFill>
                  <a:srgbClr val="ffffff"/>
                </a:solidFill>
                <a:uFillTx/>
                <a:latin typeface="Bree Serif"/>
                <a:ea typeface="Arial"/>
              </a:rPr>
              <a:t>Challenges</a:t>
            </a:r>
            <a:endParaRPr b="0" lang="en-US" sz="4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27781200" y="2971800"/>
            <a:ext cx="4798440" cy="18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Pooja Rao</a:t>
            </a:r>
            <a:endParaRPr b="0" lang="en-US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9905480" y="2971800"/>
            <a:ext cx="4798440" cy="18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Iris Bahar</a:t>
            </a:r>
            <a:endParaRPr b="0" lang="en-US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9781920" y="2971800"/>
            <a:ext cx="4798440" cy="18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trike="noStrike" u="none">
                <a:solidFill>
                  <a:srgbClr val="ffffff"/>
                </a:solidFill>
                <a:uFillTx/>
                <a:latin typeface="Open Sans"/>
                <a:ea typeface="Open Sans"/>
              </a:rPr>
              <a:t>Will Buziak</a:t>
            </a:r>
            <a:endParaRPr b="0" lang="en-US" sz="5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1"/>
          <a:stretch/>
        </p:blipFill>
        <p:spPr>
          <a:xfrm>
            <a:off x="38176200" y="31318200"/>
            <a:ext cx="4950720" cy="153324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"/>
          <p:cNvSpPr/>
          <p:nvPr/>
        </p:nvSpPr>
        <p:spPr>
          <a:xfrm>
            <a:off x="33256440" y="17618760"/>
            <a:ext cx="9596160" cy="107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Each major component of this paradigm is intended to be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interchangeable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, opening the door for a larger swath of applications.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computing provides speedups over classical solutions when algorithms can map to an algorithm that takes advantage of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entanglement similarities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Architecture &amp; Compilation frameworks can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target heterogeneous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 distributed systems.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advantage is dependent on the ability to encode domain properties and conditions into the </a:t>
            </a:r>
            <a:r>
              <a:rPr b="0" i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state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just">
              <a:lnSpc>
                <a:spcPct val="110000"/>
              </a:lnSpc>
              <a:tabLst>
                <a:tab algn="l" pos="0"/>
              </a:tabLst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2"/>
          <a:stretch/>
        </p:blipFill>
        <p:spPr>
          <a:xfrm>
            <a:off x="990000" y="12171600"/>
            <a:ext cx="9459000" cy="205632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/>
          <p:nvPr/>
        </p:nvSpPr>
        <p:spPr>
          <a:xfrm>
            <a:off x="577800" y="26289000"/>
            <a:ext cx="10162800" cy="52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Quantum Hardware is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noisy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 &amp; </a:t>
            </a:r>
            <a:r>
              <a:rPr b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unreliable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Qubit technologies are </a:t>
            </a:r>
            <a:r>
              <a:rPr b="0" i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non-homogeneous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Classical models experience </a:t>
            </a:r>
            <a:r>
              <a:rPr b="0" i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exponential blowup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 when scaling to real-world systems.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Algorithm design is </a:t>
            </a:r>
            <a:r>
              <a:rPr b="0" i="1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non-trivial</a:t>
            </a:r>
            <a:r>
              <a:rPr b="0" lang="en-US" sz="36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 &amp; often requires additional techniques to improve circuit fidelity on NISQ hardware.</a:t>
            </a: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3"/>
          <a:stretch/>
        </p:blipFill>
        <p:spPr>
          <a:xfrm>
            <a:off x="33444360" y="8242200"/>
            <a:ext cx="4201920" cy="2513880"/>
          </a:xfrm>
          <a:prstGeom prst="rect">
            <a:avLst/>
          </a:prstGeom>
          <a:ln w="0">
            <a:noFill/>
          </a:ln>
        </p:spPr>
      </p:pic>
      <p:pic>
        <p:nvPicPr>
          <p:cNvPr id="121" name="" descr=""/>
          <p:cNvPicPr/>
          <p:nvPr/>
        </p:nvPicPr>
        <p:blipFill>
          <a:blip r:embed="rId4"/>
          <a:stretch/>
        </p:blipFill>
        <p:spPr>
          <a:xfrm>
            <a:off x="38932200" y="8251920"/>
            <a:ext cx="4125240" cy="2468160"/>
          </a:xfrm>
          <a:prstGeom prst="rect">
            <a:avLst/>
          </a:prstGeom>
          <a:ln w="0">
            <a:noFill/>
          </a:ln>
        </p:spPr>
      </p:pic>
      <p:pic>
        <p:nvPicPr>
          <p:cNvPr id="122" name="" descr=""/>
          <p:cNvPicPr/>
          <p:nvPr/>
        </p:nvPicPr>
        <p:blipFill>
          <a:blip r:embed="rId5"/>
          <a:stretch/>
        </p:blipFill>
        <p:spPr>
          <a:xfrm>
            <a:off x="36082800" y="12006720"/>
            <a:ext cx="4125240" cy="2468160"/>
          </a:xfrm>
          <a:prstGeom prst="rect">
            <a:avLst/>
          </a:prstGeom>
          <a:ln w="0">
            <a:noFill/>
          </a:ln>
        </p:spPr>
      </p:pic>
      <p:cxnSp>
        <p:nvCxnSpPr>
          <p:cNvPr id="123" name=""/>
          <p:cNvCxnSpPr>
            <a:stCxn id="120" idx="3"/>
            <a:endCxn id="121" idx="1"/>
          </p:cNvCxnSpPr>
          <p:nvPr/>
        </p:nvCxnSpPr>
        <p:spPr>
          <a:xfrm flipV="1">
            <a:off x="37646280" y="9486000"/>
            <a:ext cx="1286280" cy="13320"/>
          </a:xfrm>
          <a:prstGeom prst="straightConnector1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24" name=""/>
          <p:cNvCxnSpPr>
            <a:stCxn id="121" idx="2"/>
            <a:endCxn id="122" idx="3"/>
          </p:cNvCxnSpPr>
          <p:nvPr/>
        </p:nvCxnSpPr>
        <p:spPr>
          <a:xfrm rot="5400000">
            <a:off x="39340800" y="11587320"/>
            <a:ext cx="2521080" cy="786960"/>
          </a:xfrm>
          <a:prstGeom prst="curvedConnector2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25" name=""/>
          <p:cNvCxnSpPr>
            <a:stCxn id="122" idx="1"/>
            <a:endCxn id="120" idx="2"/>
          </p:cNvCxnSpPr>
          <p:nvPr/>
        </p:nvCxnSpPr>
        <p:spPr>
          <a:xfrm rot="10800000">
            <a:off x="35544960" y="10756080"/>
            <a:ext cx="537840" cy="2485080"/>
          </a:xfrm>
          <a:prstGeom prst="curvedConnector2">
            <a:avLst/>
          </a:prstGeom>
          <a:ln w="38160">
            <a:solidFill>
              <a:srgbClr val="000000"/>
            </a:solidFill>
            <a:round/>
            <a:tailEnd len="med" type="triangle" w="med"/>
          </a:ln>
        </p:spPr>
      </p:cxnSp>
      <p:pic>
        <p:nvPicPr>
          <p:cNvPr id="126" name="" descr=""/>
          <p:cNvPicPr/>
          <p:nvPr/>
        </p:nvPicPr>
        <p:blipFill>
          <a:blip r:embed="rId6"/>
          <a:stretch/>
        </p:blipFill>
        <p:spPr>
          <a:xfrm>
            <a:off x="23398920" y="9928800"/>
            <a:ext cx="7990560" cy="3599280"/>
          </a:xfrm>
          <a:prstGeom prst="rect">
            <a:avLst/>
          </a:prstGeom>
          <a:ln w="0">
            <a:noFill/>
          </a:ln>
        </p:spPr>
      </p:pic>
      <p:pic>
        <p:nvPicPr>
          <p:cNvPr id="127" name="" descr=""/>
          <p:cNvPicPr/>
          <p:nvPr/>
        </p:nvPicPr>
        <p:blipFill>
          <a:blip r:embed="rId7"/>
          <a:stretch/>
        </p:blipFill>
        <p:spPr>
          <a:xfrm>
            <a:off x="22302720" y="21675600"/>
            <a:ext cx="10223640" cy="4970880"/>
          </a:xfrm>
          <a:prstGeom prst="rect">
            <a:avLst/>
          </a:prstGeom>
          <a:ln w="0">
            <a:noFill/>
          </a:ln>
        </p:spPr>
      </p:pic>
      <p:pic>
        <p:nvPicPr>
          <p:cNvPr id="128" name="" descr=""/>
          <p:cNvPicPr/>
          <p:nvPr/>
        </p:nvPicPr>
        <p:blipFill>
          <a:blip r:embed="rId8"/>
          <a:stretch/>
        </p:blipFill>
        <p:spPr>
          <a:xfrm>
            <a:off x="275400" y="31180680"/>
            <a:ext cx="11069280" cy="1902960"/>
          </a:xfrm>
          <a:prstGeom prst="rect">
            <a:avLst/>
          </a:prstGeom>
          <a:ln w="0">
            <a:noFill/>
          </a:ln>
        </p:spPr>
      </p:pic>
      <p:pic>
        <p:nvPicPr>
          <p:cNvPr id="129" name="" descr=""/>
          <p:cNvPicPr/>
          <p:nvPr/>
        </p:nvPicPr>
        <p:blipFill>
          <a:blip r:embed="rId9"/>
          <a:stretch/>
        </p:blipFill>
        <p:spPr>
          <a:xfrm>
            <a:off x="11658600" y="21926160"/>
            <a:ext cx="9665640" cy="8524080"/>
          </a:xfrm>
          <a:prstGeom prst="rect">
            <a:avLst/>
          </a:prstGeom>
          <a:ln w="0">
            <a:noFill/>
          </a:ln>
        </p:spPr>
      </p:pic>
      <p:pic>
        <p:nvPicPr>
          <p:cNvPr id="130" name="" descr=""/>
          <p:cNvPicPr/>
          <p:nvPr/>
        </p:nvPicPr>
        <p:blipFill>
          <a:blip r:embed="rId10"/>
          <a:stretch/>
        </p:blipFill>
        <p:spPr>
          <a:xfrm>
            <a:off x="39450960" y="27360000"/>
            <a:ext cx="3296880" cy="2760840"/>
          </a:xfrm>
          <a:prstGeom prst="rect">
            <a:avLst/>
          </a:prstGeom>
          <a:ln w="0">
            <a:noFill/>
          </a:ln>
        </p:spPr>
      </p:pic>
      <p:pic>
        <p:nvPicPr>
          <p:cNvPr id="131" name="" descr=""/>
          <p:cNvPicPr/>
          <p:nvPr/>
        </p:nvPicPr>
        <p:blipFill>
          <a:blip r:embed="rId11"/>
          <a:stretch/>
        </p:blipFill>
        <p:spPr>
          <a:xfrm>
            <a:off x="1506600" y="22368600"/>
            <a:ext cx="8480160" cy="2728440"/>
          </a:xfrm>
          <a:prstGeom prst="rect">
            <a:avLst/>
          </a:prstGeom>
          <a:ln w="0">
            <a:noFill/>
          </a:ln>
        </p:spPr>
      </p:pic>
      <p:pic>
        <p:nvPicPr>
          <p:cNvPr id="132" name="" descr=""/>
          <p:cNvPicPr/>
          <p:nvPr/>
        </p:nvPicPr>
        <p:blipFill>
          <a:blip r:embed="rId12"/>
          <a:srcRect l="0" t="18239" r="7" b="0"/>
          <a:stretch/>
        </p:blipFill>
        <p:spPr>
          <a:xfrm>
            <a:off x="33532200" y="27503640"/>
            <a:ext cx="4471560" cy="2502000"/>
          </a:xfrm>
          <a:prstGeom prst="rect">
            <a:avLst/>
          </a:prstGeom>
          <a:ln w="0">
            <a:noFill/>
          </a:ln>
        </p:spPr>
      </p:pic>
      <p:cxnSp>
        <p:nvCxnSpPr>
          <p:cNvPr id="133" name=""/>
          <p:cNvCxnSpPr>
            <a:stCxn id="132" idx="3"/>
            <a:endCxn id="130" idx="1"/>
          </p:cNvCxnSpPr>
          <p:nvPr/>
        </p:nvCxnSpPr>
        <p:spPr>
          <a:xfrm flipV="1">
            <a:off x="38003760" y="28740240"/>
            <a:ext cx="1447560" cy="14760"/>
          </a:xfrm>
          <a:prstGeom prst="straightConnector1">
            <a:avLst/>
          </a:prstGeom>
          <a:ln w="2916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134" name=""/>
          <p:cNvSpPr/>
          <p:nvPr/>
        </p:nvSpPr>
        <p:spPr>
          <a:xfrm flipH="1">
            <a:off x="12452400" y="13397400"/>
            <a:ext cx="4114800" cy="1580760"/>
          </a:xfrm>
          <a:prstGeom prst="line">
            <a:avLst/>
          </a:prstGeom>
          <a:ln w="57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440" rIns="118440" tIns="73440" bIns="734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35" name=""/>
          <p:cNvSpPr/>
          <p:nvPr/>
        </p:nvSpPr>
        <p:spPr>
          <a:xfrm flipH="1" flipV="1">
            <a:off x="16567200" y="13397400"/>
            <a:ext cx="3657600" cy="1580760"/>
          </a:xfrm>
          <a:prstGeom prst="line">
            <a:avLst/>
          </a:prstGeom>
          <a:ln w="572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440" rIns="118440" tIns="73440" bIns="734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14293800" y="12596400"/>
            <a:ext cx="4571640" cy="10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uFillTx/>
                <a:latin typeface="Arial"/>
              </a:rPr>
              <a:t>Compilation Techniques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554</TotalTime>
  <Application>LibreOffice/24.8.2.1$MacOSX_AARCH64 LibreOffice_project/0f794b6e29741098670a3b95d60478a65d05ef13</Application>
  <AppVersion>15.0000</AppVersion>
  <Paragraphs>16</Paragraphs>
  <Company>Graphicsland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scientific poster template</cp:category>
  <dc:creator>Graphicsland/MakeSigns.com</dc:creator>
  <dc:description>This is a free template from MakeSigns.com to help you create the perfect scientific poster.</dc:description>
  <cp:keywords>scientific research template custom poster presentation symposium printing PowerPoint create design example sample download</cp:keywords>
  <dc:language>en-US</dc:language>
  <cp:lastModifiedBy/>
  <cp:lastPrinted>2026-01-29T12:24:40Z</cp:lastPrinted>
  <dcterms:modified xsi:type="dcterms:W3CDTF">2026-03-31T17:43:27Z</dcterms:modified>
  <cp:revision>74</cp:revision>
  <dc:subject>Template For Scientific Poster Presentation</dc:subject>
  <dc:title>PowerPoint template for a scientific poster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</vt:i4>
  </property>
</Properties>
</file>