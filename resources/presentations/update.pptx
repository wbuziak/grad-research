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8.xml" ContentType="application/vnd.openxmlformats-officedocument.theme+xml"/>
  <Override PartName="/ppt/theme/theme2.xml" ContentType="application/vnd.openxmlformats-officedocument.theme+xml"/>
  <Override PartName="/ppt/theme/theme29.xml" ContentType="application/vnd.openxmlformats-officedocument.theme+xml"/>
  <Override PartName="/ppt/theme/theme17.xml" ContentType="application/vnd.openxmlformats-officedocument.theme+xml"/>
  <Override PartName="/ppt/theme/theme6.xml" ContentType="application/vnd.openxmlformats-officedocument.theme+xml"/>
  <Override PartName="/ppt/theme/theme13.xml" ContentType="application/vnd.openxmlformats-officedocument.theme+xml"/>
  <Override PartName="/ppt/theme/theme7.xml" ContentType="application/vnd.openxmlformats-officedocument.theme+xml"/>
  <Override PartName="/ppt/theme/theme14.xml" ContentType="application/vnd.openxmlformats-officedocument.theme+xml"/>
  <Override PartName="/ppt/theme/theme10.xml" ContentType="application/vnd.openxmlformats-officedocument.theme+xml"/>
  <Override PartName="/ppt/theme/theme3.xml" ContentType="application/vnd.openxmlformats-officedocument.theme+xml"/>
  <Override PartName="/ppt/theme/theme8.xml" ContentType="application/vnd.openxmlformats-officedocument.theme+xml"/>
  <Override PartName="/ppt/theme/theme15.xml" ContentType="application/vnd.openxmlformats-officedocument.theme+xml"/>
  <Override PartName="/ppt/theme/theme11.xml" ContentType="application/vnd.openxmlformats-officedocument.theme+xml"/>
  <Override PartName="/ppt/theme/theme4.xml" ContentType="application/vnd.openxmlformats-officedocument.theme+xml"/>
  <Override PartName="/ppt/theme/theme9.xml" ContentType="application/vnd.openxmlformats-officedocument.theme+xml"/>
  <Override PartName="/ppt/theme/theme16.xml" ContentType="application/vnd.openxmlformats-officedocument.theme+xml"/>
  <Override PartName="/ppt/theme/theme12.xml" ContentType="application/vnd.openxmlformats-officedocument.theme+xml"/>
  <Override PartName="/ppt/theme/theme5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27.xml" ContentType="application/vnd.openxmlformats-officedocument.theme+xml"/>
  <Override PartName="/ppt/theme/theme30.xml" ContentType="application/vnd.openxmlformats-officedocument.theme+xml"/>
  <Override PartName="/ppt/theme/theme31.xml" ContentType="application/vnd.openxmlformats-officedocument.theme+xml"/>
  <Override PartName="/ppt/theme/theme32.xml" ContentType="application/vnd.openxmlformats-officedocument.theme+xml"/>
  <Override PartName="/ppt/theme/theme33.xml" ContentType="application/vnd.openxmlformats-officedocument.theme+xml"/>
  <Override PartName="/ppt/theme/theme34.xml" ContentType="application/vnd.openxmlformats-officedocument.theme+xml"/>
  <Override PartName="/ppt/theme/theme40.xml" ContentType="application/vnd.openxmlformats-officedocument.theme+xml"/>
  <Override PartName="/ppt/theme/theme41.xml" ContentType="application/vnd.openxmlformats-officedocument.theme+xml"/>
  <Override PartName="/ppt/theme/theme42.xml" ContentType="application/vnd.openxmlformats-officedocument.theme+xml"/>
  <Override PartName="/ppt/theme/theme43.xml" ContentType="application/vnd.openxmlformats-officedocument.theme+xml"/>
  <Override PartName="/ppt/theme/theme49.xml" ContentType="application/vnd.openxmlformats-officedocument.theme+xml"/>
  <Override PartName="/ppt/theme/theme44.xml" ContentType="application/vnd.openxmlformats-officedocument.theme+xml"/>
  <Override PartName="/ppt/theme/theme35.xml" ContentType="application/vnd.openxmlformats-officedocument.theme+xml"/>
  <Override PartName="/ppt/theme/theme50.xml" ContentType="application/vnd.openxmlformats-officedocument.theme+xml"/>
  <Override PartName="/ppt/theme/theme45.xml" ContentType="application/vnd.openxmlformats-officedocument.theme+xml"/>
  <Override PartName="/ppt/theme/theme36.xml" ContentType="application/vnd.openxmlformats-officedocument.theme+xml"/>
  <Override PartName="/ppt/theme/theme18.xml" ContentType="application/vnd.openxmlformats-officedocument.theme+xml"/>
  <Override PartName="/ppt/theme/theme51.xml" ContentType="application/vnd.openxmlformats-officedocument.theme+xml"/>
  <Override PartName="/ppt/theme/theme46.xml" ContentType="application/vnd.openxmlformats-officedocument.theme+xml"/>
  <Override PartName="/ppt/theme/theme37.xml" ContentType="application/vnd.openxmlformats-officedocument.theme+xml"/>
  <Override PartName="/ppt/theme/theme19.xml" ContentType="application/vnd.openxmlformats-officedocument.theme+xml"/>
  <Override PartName="/ppt/theme/theme52.xml" ContentType="application/vnd.openxmlformats-officedocument.theme+xml"/>
  <Override PartName="/ppt/theme/theme47.xml" ContentType="application/vnd.openxmlformats-officedocument.theme+xml"/>
  <Override PartName="/ppt/theme/theme38.xml" ContentType="application/vnd.openxmlformats-officedocument.theme+xml"/>
  <Override PartName="/ppt/theme/theme53.xml" ContentType="application/vnd.openxmlformats-officedocument.theme+xml"/>
  <Override PartName="/ppt/theme/theme48.xml" ContentType="application/vnd.openxmlformats-officedocument.theme+xml"/>
  <Override PartName="/ppt/theme/theme39.xml" ContentType="application/vnd.openxmlformats-officedocument.theme+xml"/>
  <Override PartName="/ppt/theme/theme54.xml" ContentType="application/vnd.openxmlformats-officedocument.theme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Masters/_rels/slideMaster53.xml.rels" ContentType="application/vnd.openxmlformats-package.relationships+xml"/>
  <Override PartName="/ppt/slideMasters/_rels/slideMaster47.xml.rels" ContentType="application/vnd.openxmlformats-package.relationships+xml"/>
  <Override PartName="/ppt/slideMasters/_rels/slideMaster52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46.xml.rels" ContentType="application/vnd.openxmlformats-package.relationships+xml"/>
  <Override PartName="/ppt/slideMasters/_rels/slideMaster49.xml.rels" ContentType="application/vnd.openxmlformats-package.relationships+xml"/>
  <Override PartName="/ppt/slideMasters/_rels/slideMaster51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50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42.xml.rels" ContentType="application/vnd.openxmlformats-package.relationships+xml"/>
  <Override PartName="/ppt/slideMasters/_rels/slideMaster41.xml.rels" ContentType="application/vnd.openxmlformats-package.relationships+xml"/>
  <Override PartName="/ppt/slideMasters/_rels/slideMaster40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48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39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44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43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45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7.xml.rels" ContentType="application/vnd.openxmlformats-package.relationships+xml"/>
  <Override PartName="/ppt/slideMasters/slideMaster37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4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52.xml" ContentType="application/vnd.openxmlformats-officedocument.presentationml.slideMaster+xml"/>
  <Override PartName="/ppt/slideMasters/slideMaster47.xml" ContentType="application/vnd.openxmlformats-officedocument.presentationml.slideMaster+xml"/>
  <Override PartName="/ppt/slideMasters/slideMaster53.xml" ContentType="application/vnd.openxmlformats-officedocument.presentationml.slideMaster+xml"/>
  <Override PartName="/ppt/_rels/presentation.xml.rels" ContentType="application/vnd.openxmlformats-package.relationships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_rels/slideLayout57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2.xml.rels" ContentType="application/vnd.openxmlformats-package.relationships+xml"/>
  <Override PartName="/ppt/slideLayouts/slideLayout5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_rels/slide29.xml.rels" ContentType="application/vnd.openxmlformats-package.relationships+xml"/>
  <Override PartName="/ppt/slides/_rels/slide28.xml.rels" ContentType="application/vnd.openxmlformats-package.relationships+xml"/>
  <Override PartName="/ppt/slides/_rels/slide27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5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3.xml.rels" ContentType="application/vnd.openxmlformats-package.relationships+xml"/>
  <Override PartName="/ppt/slides/_rels/slide20.xml.rels" ContentType="application/vnd.openxmlformats-package.relationships+xml"/>
  <Override PartName="/ppt/slides/_rels/slide19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1.xml" ContentType="application/vnd.openxmlformats-officedocument.presentationml.slide+xml"/>
  <Override PartName="/ppt/slides/slide18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Slides/_rels/notesSlide2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1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  <p:sldMasterId id="2147483724" r:id="rId40"/>
    <p:sldMasterId id="2147483726" r:id="rId41"/>
    <p:sldMasterId id="2147483728" r:id="rId42"/>
    <p:sldMasterId id="2147483730" r:id="rId43"/>
    <p:sldMasterId id="2147483732" r:id="rId44"/>
    <p:sldMasterId id="2147483734" r:id="rId45"/>
    <p:sldMasterId id="2147483740" r:id="rId46"/>
    <p:sldMasterId id="2147483742" r:id="rId47"/>
    <p:sldMasterId id="2147483744" r:id="rId48"/>
    <p:sldMasterId id="2147483746" r:id="rId49"/>
    <p:sldMasterId id="2147483748" r:id="rId50"/>
    <p:sldMasterId id="2147483750" r:id="rId51"/>
    <p:sldMasterId id="2147483752" r:id="rId52"/>
    <p:sldMasterId id="2147483754" r:id="rId53"/>
    <p:sldMasterId id="2147483756" r:id="rId54"/>
  </p:sldMasterIdLst>
  <p:notesMasterIdLst>
    <p:notesMasterId r:id="rId55"/>
  </p:notesMasterIdLst>
  <p:sldIdLst>
    <p:sldId id="256" r:id="rId56"/>
    <p:sldId id="257" r:id="rId57"/>
    <p:sldId id="258" r:id="rId58"/>
    <p:sldId id="259" r:id="rId59"/>
    <p:sldId id="260" r:id="rId60"/>
    <p:sldId id="261" r:id="rId61"/>
    <p:sldId id="262" r:id="rId62"/>
    <p:sldId id="263" r:id="rId63"/>
    <p:sldId id="264" r:id="rId64"/>
    <p:sldId id="265" r:id="rId65"/>
    <p:sldId id="266" r:id="rId66"/>
    <p:sldId id="267" r:id="rId67"/>
    <p:sldId id="268" r:id="rId68"/>
    <p:sldId id="269" r:id="rId69"/>
    <p:sldId id="270" r:id="rId70"/>
    <p:sldId id="271" r:id="rId71"/>
    <p:sldId id="272" r:id="rId72"/>
    <p:sldId id="273" r:id="rId73"/>
    <p:sldId id="274" r:id="rId74"/>
    <p:sldId id="275" r:id="rId75"/>
    <p:sldId id="276" r:id="rId76"/>
    <p:sldId id="277" r:id="rId77"/>
    <p:sldId id="278" r:id="rId78"/>
    <p:sldId id="279" r:id="rId79"/>
    <p:sldId id="280" r:id="rId80"/>
    <p:sldId id="281" r:id="rId81"/>
    <p:sldId id="282" r:id="rId82"/>
    <p:sldId id="283" r:id="rId83"/>
    <p:sldId id="284" r:id="rId84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slideMaster" Target="slideMasters/slideMaster45.xml"/><Relationship Id="rId47" Type="http://schemas.openxmlformats.org/officeDocument/2006/relationships/slideMaster" Target="slideMasters/slideMaster46.xml"/><Relationship Id="rId48" Type="http://schemas.openxmlformats.org/officeDocument/2006/relationships/slideMaster" Target="slideMasters/slideMaster47.xml"/><Relationship Id="rId49" Type="http://schemas.openxmlformats.org/officeDocument/2006/relationships/slideMaster" Target="slideMasters/slideMaster48.xml"/><Relationship Id="rId50" Type="http://schemas.openxmlformats.org/officeDocument/2006/relationships/slideMaster" Target="slideMasters/slideMaster49.xml"/><Relationship Id="rId51" Type="http://schemas.openxmlformats.org/officeDocument/2006/relationships/slideMaster" Target="slideMasters/slideMaster50.xml"/><Relationship Id="rId52" Type="http://schemas.openxmlformats.org/officeDocument/2006/relationships/slideMaster" Target="slideMasters/slideMaster51.xml"/><Relationship Id="rId53" Type="http://schemas.openxmlformats.org/officeDocument/2006/relationships/slideMaster" Target="slideMasters/slideMaster52.xml"/><Relationship Id="rId54" Type="http://schemas.openxmlformats.org/officeDocument/2006/relationships/slideMaster" Target="slideMasters/slideMaster53.xml"/><Relationship Id="rId55" Type="http://schemas.openxmlformats.org/officeDocument/2006/relationships/notesMaster" Target="notesMasters/notesMaster1.xml"/><Relationship Id="rId56" Type="http://schemas.openxmlformats.org/officeDocument/2006/relationships/slide" Target="slides/slide1.xml"/><Relationship Id="rId57" Type="http://schemas.openxmlformats.org/officeDocument/2006/relationships/slide" Target="slides/slide2.xml"/><Relationship Id="rId58" Type="http://schemas.openxmlformats.org/officeDocument/2006/relationships/slide" Target="slides/slide3.xml"/><Relationship Id="rId59" Type="http://schemas.openxmlformats.org/officeDocument/2006/relationships/slide" Target="slides/slide4.xml"/><Relationship Id="rId60" Type="http://schemas.openxmlformats.org/officeDocument/2006/relationships/slide" Target="slides/slide5.xml"/><Relationship Id="rId61" Type="http://schemas.openxmlformats.org/officeDocument/2006/relationships/slide" Target="slides/slide6.xml"/><Relationship Id="rId62" Type="http://schemas.openxmlformats.org/officeDocument/2006/relationships/slide" Target="slides/slide7.xml"/><Relationship Id="rId63" Type="http://schemas.openxmlformats.org/officeDocument/2006/relationships/slide" Target="slides/slide8.xml"/><Relationship Id="rId64" Type="http://schemas.openxmlformats.org/officeDocument/2006/relationships/slide" Target="slides/slide9.xml"/><Relationship Id="rId65" Type="http://schemas.openxmlformats.org/officeDocument/2006/relationships/slide" Target="slides/slide10.xml"/><Relationship Id="rId66" Type="http://schemas.openxmlformats.org/officeDocument/2006/relationships/slide" Target="slides/slide11.xml"/><Relationship Id="rId67" Type="http://schemas.openxmlformats.org/officeDocument/2006/relationships/slide" Target="slides/slide12.xml"/><Relationship Id="rId68" Type="http://schemas.openxmlformats.org/officeDocument/2006/relationships/slide" Target="slides/slide13.xml"/><Relationship Id="rId69" Type="http://schemas.openxmlformats.org/officeDocument/2006/relationships/slide" Target="slides/slide14.xml"/><Relationship Id="rId70" Type="http://schemas.openxmlformats.org/officeDocument/2006/relationships/slide" Target="slides/slide15.xml"/><Relationship Id="rId71" Type="http://schemas.openxmlformats.org/officeDocument/2006/relationships/slide" Target="slides/slide16.xml"/><Relationship Id="rId72" Type="http://schemas.openxmlformats.org/officeDocument/2006/relationships/slide" Target="slides/slide17.xml"/><Relationship Id="rId73" Type="http://schemas.openxmlformats.org/officeDocument/2006/relationships/slide" Target="slides/slide18.xml"/><Relationship Id="rId74" Type="http://schemas.openxmlformats.org/officeDocument/2006/relationships/slide" Target="slides/slide19.xml"/><Relationship Id="rId75" Type="http://schemas.openxmlformats.org/officeDocument/2006/relationships/slide" Target="slides/slide20.xml"/><Relationship Id="rId76" Type="http://schemas.openxmlformats.org/officeDocument/2006/relationships/slide" Target="slides/slide21.xml"/><Relationship Id="rId77" Type="http://schemas.openxmlformats.org/officeDocument/2006/relationships/slide" Target="slides/slide22.xml"/><Relationship Id="rId78" Type="http://schemas.openxmlformats.org/officeDocument/2006/relationships/slide" Target="slides/slide23.xml"/><Relationship Id="rId79" Type="http://schemas.openxmlformats.org/officeDocument/2006/relationships/slide" Target="slides/slide24.xml"/><Relationship Id="rId80" Type="http://schemas.openxmlformats.org/officeDocument/2006/relationships/slide" Target="slides/slide25.xml"/><Relationship Id="rId81" Type="http://schemas.openxmlformats.org/officeDocument/2006/relationships/slide" Target="slides/slide26.xml"/><Relationship Id="rId82" Type="http://schemas.openxmlformats.org/officeDocument/2006/relationships/slide" Target="slides/slide27.xml"/><Relationship Id="rId83" Type="http://schemas.openxmlformats.org/officeDocument/2006/relationships/slide" Target="slides/slide28.xml"/><Relationship Id="rId84" Type="http://schemas.openxmlformats.org/officeDocument/2006/relationships/slide" Target="slides/slide29.xml"/><Relationship Id="rId8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 type="dt" idx="5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 type="ftr" idx="5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9" name="PlaceHolder 6"/>
          <p:cNvSpPr>
            <a:spLocks noGrp="1"/>
          </p:cNvSpPr>
          <p:nvPr>
            <p:ph type="sldNum" idx="5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F729174-245D-4377-A7FF-270DD526C54C}" type="slidenum">
              <a:rPr b="0" lang="en-US" sz="1400" strike="noStrike" u="none">
                <a:solidFill>
                  <a:srgbClr val="000000"/>
                </a:solidFill>
                <a:uFillTx/>
                <a:latin typeface="Times New Roman"/>
              </a:rPr>
              <a:t>1</a:t>
            </a:fld>
            <a:endParaRPr b="0" lang="en-US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7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3231283-88A9-4817-A797-3A70FB0B0762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29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3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D9FCB4-002C-41D1-B49F-07E0A86BEE06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29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6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437BEC-D025-47D8-B66A-2B2FAD50AF69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29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9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1F7D8E-BE10-4E26-AEDE-5557A5BB8739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29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6B4F418-96B3-48E4-985E-7023B8B5DF5B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29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5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186FFD-CBDC-4B8F-80CB-003436A52FE4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18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C62EFE-2757-4998-B81C-A65D1DD0163F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1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A19D95-2C5C-4466-B4C8-A3DD324728D7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A7D3000-FDF9-4F57-BB81-BA5B2869F966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7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F0FA20-9350-4E11-B1BD-10DA4EA990DD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0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C98D8F-FF5A-4D4D-B3E9-9566374E5218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3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E86AF4A-38E6-4024-BB35-8EEE7F756271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6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AF4D783-D20D-4E35-8E6B-841A29E9FEF8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62980D-A572-4F74-B00B-08DDA9E8B71A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6960" cy="3065400"/>
          </a:xfrm>
          <a:prstGeom prst="rect">
            <a:avLst/>
          </a:prstGeom>
          <a:ln w="0">
            <a:noFill/>
          </a:ln>
        </p:spPr>
      </p:sp>
      <p:sp>
        <p:nvSpPr>
          <p:cNvPr id="8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5520" cy="357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2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50920" cy="4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D2C1B1-A763-4365-9E67-E3EA5A6002D5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6960" cy="3065400"/>
          </a:xfrm>
          <a:prstGeom prst="rect">
            <a:avLst/>
          </a:prstGeom>
          <a:ln w="0">
            <a:noFill/>
          </a:ln>
        </p:spPr>
      </p:sp>
      <p:sp>
        <p:nvSpPr>
          <p:cNvPr id="8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5520" cy="357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5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50920" cy="4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2D08370-493D-4662-A23A-ECA289DFE3F7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6960" cy="3065400"/>
          </a:xfrm>
          <a:prstGeom prst="rect">
            <a:avLst/>
          </a:prstGeom>
          <a:ln w="0">
            <a:noFill/>
          </a:ln>
        </p:spPr>
      </p:sp>
      <p:sp>
        <p:nvSpPr>
          <p:cNvPr id="8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5520" cy="357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8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50920" cy="4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B18799D-EB55-48FB-A84E-62DEE99F5830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6960" cy="3065400"/>
          </a:xfrm>
          <a:prstGeom prst="rect">
            <a:avLst/>
          </a:prstGeom>
          <a:ln w="0">
            <a:noFill/>
          </a:ln>
        </p:spPr>
      </p:sp>
      <p:sp>
        <p:nvSpPr>
          <p:cNvPr id="8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5520" cy="357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1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50920" cy="4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779F6C0-7224-4154-AF61-782260A82951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6960" cy="3065400"/>
          </a:xfrm>
          <a:prstGeom prst="rect">
            <a:avLst/>
          </a:prstGeom>
          <a:ln w="0">
            <a:noFill/>
          </a:ln>
        </p:spPr>
      </p:sp>
      <p:sp>
        <p:nvSpPr>
          <p:cNvPr id="8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5520" cy="357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4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50920" cy="4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AB2070-CFEC-4C9D-84E4-90BA7F55E65F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5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6960" cy="3065400"/>
          </a:xfrm>
          <a:prstGeom prst="rect">
            <a:avLst/>
          </a:prstGeom>
          <a:ln w="0">
            <a:noFill/>
          </a:ln>
        </p:spPr>
      </p:sp>
      <p:sp>
        <p:nvSpPr>
          <p:cNvPr id="8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5520" cy="357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57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50920" cy="4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D9E9C2-F45D-453E-8877-620A5B5E3611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6960" cy="3065400"/>
          </a:xfrm>
          <a:prstGeom prst="rect">
            <a:avLst/>
          </a:prstGeom>
          <a:ln w="0">
            <a:noFill/>
          </a:ln>
        </p:spPr>
      </p:sp>
      <p:sp>
        <p:nvSpPr>
          <p:cNvPr id="8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5520" cy="357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0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50920" cy="4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A07C61-7045-471C-A973-D2F2B9F4CD7C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6960" cy="3065400"/>
          </a:xfrm>
          <a:prstGeom prst="rect">
            <a:avLst/>
          </a:prstGeom>
          <a:ln w="0">
            <a:noFill/>
          </a:ln>
        </p:spPr>
      </p:sp>
      <p:sp>
        <p:nvSpPr>
          <p:cNvPr id="8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5520" cy="357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50920" cy="4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0652AF-BF67-4604-850C-F20109A32ECB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66960" cy="3065400"/>
          </a:xfrm>
          <a:prstGeom prst="rect">
            <a:avLst/>
          </a:prstGeom>
          <a:ln w="0">
            <a:noFill/>
          </a:ln>
        </p:spPr>
      </p:sp>
      <p:sp>
        <p:nvSpPr>
          <p:cNvPr id="8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65520" cy="357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6" name="PlaceHolder 3"/>
          <p:cNvSpPr>
            <a:spLocks noGrp="1"/>
          </p:cNvSpPr>
          <p:nvPr>
            <p:ph type="sldNum" idx="108"/>
          </p:nvPr>
        </p:nvSpPr>
        <p:spPr>
          <a:xfrm>
            <a:off x="3884760" y="8685360"/>
            <a:ext cx="2950920" cy="43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16729F-17BB-4F5E-BACA-B0D9A19C516D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9" name="PlaceHolder 3"/>
          <p:cNvSpPr>
            <a:spLocks noGrp="1"/>
          </p:cNvSpPr>
          <p:nvPr>
            <p:ph type="sldNum" idx="109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84767E-75BE-4ADF-AA6B-DFB4B9C576CF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 type="sldNum" idx="110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FC2045-3E1B-4613-97B6-7E0D4B698A54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 type="sldNum" idx="111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78464E-B6FF-43D0-9EE7-933B167C1489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6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8" name="PlaceHolder 3"/>
          <p:cNvSpPr>
            <a:spLocks noGrp="1"/>
          </p:cNvSpPr>
          <p:nvPr>
            <p:ph type="sldNum" idx="112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46EB57-23AF-4B67-A1F8-D91AA7627CE4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9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1" name="PlaceHolder 3"/>
          <p:cNvSpPr>
            <a:spLocks noGrp="1"/>
          </p:cNvSpPr>
          <p:nvPr>
            <p:ph type="sldNum" idx="113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417E47-C126-492B-9578-297CBF98FFDB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/>
          </p:cNvSpPr>
          <p:nvPr>
            <p:ph type="sldImg"/>
          </p:nvPr>
        </p:nvSpPr>
        <p:spPr>
          <a:xfrm>
            <a:off x="685080" y="1143000"/>
            <a:ext cx="5473440" cy="3071880"/>
          </a:xfrm>
          <a:prstGeom prst="rect">
            <a:avLst/>
          </a:prstGeom>
          <a:ln w="0">
            <a:noFill/>
          </a:ln>
        </p:spPr>
      </p:sp>
      <p:sp>
        <p:nvSpPr>
          <p:cNvPr id="8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72000" cy="3585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84" name="PlaceHolder 3"/>
          <p:cNvSpPr>
            <a:spLocks noGrp="1"/>
          </p:cNvSpPr>
          <p:nvPr>
            <p:ph type="sldNum" idx="114"/>
          </p:nvPr>
        </p:nvSpPr>
        <p:spPr>
          <a:xfrm>
            <a:off x="3884760" y="8685360"/>
            <a:ext cx="2957400" cy="44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AE3F18-6AB7-4E5B-86DE-F64949F7668F}" type="slidenum">
              <a:rPr b="0" lang="en" sz="12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2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3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6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7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8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9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0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1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2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0E826C3-E9D0-4391-861A-1A063780447C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2F506C1-3D80-4A6F-BD7D-BA91CD9C126A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7A22D59-9429-4B08-8B42-298F967A5EE2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18322FF9-9EBC-4629-B4B5-1E59F967C646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20BBE7F-5A2D-4B10-8F04-254A2D5C9B3F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CE47F59-A5D2-4FB7-83B2-BB4CDA9799E6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53CA1E20-4104-4C10-A8B7-40E31E8D2256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24AC427-AB0B-4CAB-B368-03948D0D53F5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A9859A8-250A-4D2F-936B-30200E6D4B17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F44AE1DB-3B83-4645-83D9-22160DD3B016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C2A4361-C715-4A8E-A141-4F4C4D39121D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FD8C975-4B5E-41FB-9805-666E2892A13C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C82687D1-4307-4768-A931-51289273B98E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6B86184-9769-4558-91FC-FCBB73613B0E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E633184-3FC9-4FF4-965E-2ACA1D11E817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383F0ED5-7F1C-4FD3-8A6E-B4273406FB40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18695B7-CCA5-4B6B-99B6-C398CF5422D8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DB0C83A3-3926-404F-9D8B-E4A4E512C941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9"/>
          </p:nvPr>
        </p:nvSpPr>
        <p:spPr/>
        <p:txBody>
          <a:bodyPr/>
          <a:p>
            <a:fld id="{91F046CF-A8AD-4FF9-B578-48DF133B2D9B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69FF8D7-22D9-4155-BA0E-5437CE628542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C6730637-AD2C-4CA6-9ADE-904CE1A95E65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2"/>
          </p:nvPr>
        </p:nvSpPr>
        <p:spPr/>
        <p:txBody>
          <a:bodyPr/>
          <a:p>
            <a:fld id="{6967DD0E-E57F-434C-AB16-5CA8A9917C31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6FEEA7FB-46D9-4CAF-BF71-24984BD1B372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3E4E6BC3-3AF8-4E58-8217-DA039EDAD6A8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B7B6259B-DB8C-444F-9FBD-F12116F8659B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AAF817D-AA44-4FAE-B0E5-0A02D1A8FB4A}" type="slidenum">
              <a:t>&lt;#&gt;</a:t>
            </a:fld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02E83E35-4817-43E1-A6F6-CA105E8C2D70}" type="slidenum">
              <a:t>&lt;#&gt;</a:t>
            </a:fld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p>
            <a:fld id="{802E51C6-DDD0-4023-B025-6BF9BFA3B640}" type="slidenum">
              <a:t>&lt;#&gt;</a:t>
            </a:fld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8F8E63A-1D30-4E92-9757-C200F72D2A2A}" type="slidenum">
              <a:t>&lt;#&gt;</a:t>
            </a:fld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F457D7A5-9915-43D3-933A-1E6AE39D9E4F}" type="slidenum">
              <a:t>&lt;#&gt;</a:t>
            </a:fld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1"/>
          </p:nvPr>
        </p:nvSpPr>
        <p:spPr/>
        <p:txBody>
          <a:bodyPr/>
          <a:p>
            <a:fld id="{6856E851-7D5B-4D30-8D60-E139675FF5C8}" type="slidenum">
              <a:t>&lt;#&gt;</a:t>
            </a:fld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6D07214-E8F5-4ACE-94E2-FBF8DBF17279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E0E265BB-128E-4716-AB6D-5662809E08B1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4"/>
          </p:nvPr>
        </p:nvSpPr>
        <p:spPr/>
        <p:txBody>
          <a:bodyPr/>
          <a:p>
            <a:fld id="{37057928-FB8E-45BC-810F-E6C02B534A1A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C67EF695-0669-4A85-AE73-F0F28E545625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B8A1CD03-7DBA-4548-923E-DA4343B748D4}" type="slidenum">
              <a:t>&lt;#&gt;</a:t>
            </a:fld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7"/>
          </p:nvPr>
        </p:nvSpPr>
        <p:spPr/>
        <p:txBody>
          <a:bodyPr/>
          <a:p>
            <a:fld id="{0B7A4982-47B1-4237-BDCB-825D7AFF5CB7}" type="slidenum">
              <a:t>&lt;#&gt;</a:t>
            </a:fld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8DD408C-AC16-4025-B6EF-A95BC58BA835}" type="slidenum">
              <a:t>&lt;#&gt;</a:t>
            </a:fld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BACA8BD2-6DE0-4DDA-B6D4-2C678D1A28CC}" type="slidenum">
              <a:t>&lt;#&gt;</a:t>
            </a:fld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0"/>
          </p:nvPr>
        </p:nvSpPr>
        <p:spPr/>
        <p:txBody>
          <a:bodyPr/>
          <a:p>
            <a:fld id="{C20400B5-79A8-4B79-8FA6-45BBF884D1C5}" type="slidenum">
              <a:t>&lt;#&gt;</a:t>
            </a:fld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336CA234-3531-4C6A-9814-1F790E83CF02}" type="slidenum">
              <a:t>&lt;#&gt;</a:t>
            </a:fld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2"/>
          </p:nvPr>
        </p:nvSpPr>
        <p:spPr/>
        <p:txBody>
          <a:bodyPr/>
          <a:p>
            <a:fld id="{CA822ECD-CDFA-4644-B012-50533B9991D1}" type="slidenum">
              <a:t>&lt;#&gt;</a:t>
            </a:fld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3"/>
          </p:nvPr>
        </p:nvSpPr>
        <p:spPr/>
        <p:txBody>
          <a:bodyPr/>
          <a:p>
            <a:fld id="{62CDA936-D395-4FD0-A3C3-84F584435F9E}" type="slidenum">
              <a:t>&lt;#&gt;</a:t>
            </a:fld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A0A4FA5-740F-46A1-84B3-3E4943AB8811}" type="slidenum">
              <a:t>&lt;#&gt;</a:t>
            </a:fld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980C8D5-ACA2-4A19-8662-63D1BCA4A440}" type="slidenum">
              <a:t>&lt;#&gt;</a:t>
            </a:fld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FCA93470-0942-4F4C-B378-51BA603047B6}" type="slidenum">
              <a:t>&lt;#&gt;</a:t>
            </a:fld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E6CECA65-DD15-4E7B-A8D3-582C2F281DCD}" type="slidenum">
              <a:t>&lt;#&gt;</a:t>
            </a:fld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0232BE03-97B5-4849-8C27-FDF1F5F849A7}" type="slidenum">
              <a:t>&lt;#&gt;</a:t>
            </a:fld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5"/>
          </p:nvPr>
        </p:nvSpPr>
        <p:spPr/>
        <p:txBody>
          <a:bodyPr/>
          <a:p>
            <a:fld id="{1E558CE0-D0DD-4B8D-A0EC-E4E556F3C31A}" type="slidenum">
              <a:t>&lt;#&gt;</a:t>
            </a:fld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p>
            <a:fld id="{30D2127E-4819-4208-AEFC-472DF41E7820}" type="slidenum">
              <a:t>&lt;#&gt;</a:t>
            </a:fld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D9631D63-31F2-4A2C-8E3A-50F07A2A53A4}" type="slidenum">
              <a:t>&lt;#&gt;</a:t>
            </a:fld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8"/>
          </p:nvPr>
        </p:nvSpPr>
        <p:spPr/>
        <p:txBody>
          <a:bodyPr/>
          <a:p>
            <a:fld id="{67A99977-A8C9-4B89-AB6A-6FBDE3A6E589}" type="slidenum">
              <a:t>&lt;#&gt;</a:t>
            </a:fld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9"/>
          </p:nvPr>
        </p:nvSpPr>
        <p:spPr/>
        <p:txBody>
          <a:bodyPr/>
          <a:p>
            <a:fld id="{7BFF4670-C91D-4742-98B7-F30A9DA71806}" type="slidenum">
              <a:t>&lt;#&gt;</a:t>
            </a:fld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587DD93D-366E-4573-A90A-03B37E798A35}" type="slidenum">
              <a:t>&lt;#&gt;</a:t>
            </a:fld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51"/>
          </p:nvPr>
        </p:nvSpPr>
        <p:spPr/>
        <p:txBody>
          <a:bodyPr/>
          <a:p>
            <a:fld id="{841DED52-C392-4DAF-B8A8-C095077CE84C}" type="slidenum">
              <a:t>&lt;#&gt;</a:t>
            </a:fld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52"/>
          </p:nvPr>
        </p:nvSpPr>
        <p:spPr/>
        <p:txBody>
          <a:bodyPr/>
          <a:p>
            <a:fld id="{E96F6B6B-C7C7-4BB7-98C6-C28C6B679370}" type="slidenum">
              <a:t>&lt;#&gt;</a:t>
            </a:fld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0D2E1FA5-F855-4104-85A4-7BFBB561405E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39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slideLayout" Target="../slideLayouts/slideLayout40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slideLayout" Target="../slideLayouts/slideLayout41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slideLayout" Target="../slideLayouts/slideLayout42.xml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slideLayout" Target="../slideLayouts/slideLayout43.xml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8.xml"/>
</Relationships>
</file>

<file path=ppt/slideMasters/_rels/slideMaster45.xml.rels><?xml version="1.0" encoding="UTF-8"?>
<Relationships xmlns="http://schemas.openxmlformats.org/package/2006/relationships"><Relationship Id="rId1" Type="http://schemas.openxmlformats.org/officeDocument/2006/relationships/theme" Target="../theme/theme45.xml"/><Relationship Id="rId2" Type="http://schemas.openxmlformats.org/officeDocument/2006/relationships/slideLayout" Target="../slideLayouts/slideLayout49.xml"/>
</Relationships>
</file>

<file path=ppt/slideMasters/_rels/slideMaster46.xml.rels><?xml version="1.0" encoding="UTF-8"?>
<Relationships xmlns="http://schemas.openxmlformats.org/package/2006/relationships"><Relationship Id="rId1" Type="http://schemas.openxmlformats.org/officeDocument/2006/relationships/theme" Target="../theme/theme46.xml"/><Relationship Id="rId2" Type="http://schemas.openxmlformats.org/officeDocument/2006/relationships/slideLayout" Target="../slideLayouts/slideLayout50.xml"/>
</Relationships>
</file>

<file path=ppt/slideMasters/_rels/slideMaster47.xml.rels><?xml version="1.0" encoding="UTF-8"?>
<Relationships xmlns="http://schemas.openxmlformats.org/package/2006/relationships"><Relationship Id="rId1" Type="http://schemas.openxmlformats.org/officeDocument/2006/relationships/theme" Target="../theme/theme47.xml"/><Relationship Id="rId2" Type="http://schemas.openxmlformats.org/officeDocument/2006/relationships/slideLayout" Target="../slideLayouts/slideLayout51.xml"/>
</Relationships>
</file>

<file path=ppt/slideMasters/_rels/slideMaster48.xml.rels><?xml version="1.0" encoding="UTF-8"?>
<Relationships xmlns="http://schemas.openxmlformats.org/package/2006/relationships"><Relationship Id="rId1" Type="http://schemas.openxmlformats.org/officeDocument/2006/relationships/theme" Target="../theme/theme48.xml"/><Relationship Id="rId2" Type="http://schemas.openxmlformats.org/officeDocument/2006/relationships/slideLayout" Target="../slideLayouts/slideLayout52.xml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49.xml"/><Relationship Id="rId2" Type="http://schemas.openxmlformats.org/officeDocument/2006/relationships/slideLayout" Target="../slideLayouts/slideLayout53.xml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0.xml"/><Relationship Id="rId2" Type="http://schemas.openxmlformats.org/officeDocument/2006/relationships/slideLayout" Target="../slideLayouts/slideLayout54.xml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1.xml"/><Relationship Id="rId2" Type="http://schemas.openxmlformats.org/officeDocument/2006/relationships/slideLayout" Target="../slideLayouts/slideLayout55.xml"/>
</Relationships>
</file>

<file path=ppt/slideMasters/_rels/slideMaster52.xml.rels><?xml version="1.0" encoding="UTF-8"?>
<Relationships xmlns="http://schemas.openxmlformats.org/package/2006/relationships"><Relationship Id="rId1" Type="http://schemas.openxmlformats.org/officeDocument/2006/relationships/theme" Target="../theme/theme52.xml"/><Relationship Id="rId2" Type="http://schemas.openxmlformats.org/officeDocument/2006/relationships/slideLayout" Target="../slideLayouts/slideLayout56.xml"/>
</Relationships>
</file>

<file path=ppt/slideMasters/_rels/slideMaster53.xml.rels><?xml version="1.0" encoding="UTF-8"?>
<Relationships xmlns="http://schemas.openxmlformats.org/package/2006/relationships"><Relationship Id="rId1" Type="http://schemas.openxmlformats.org/officeDocument/2006/relationships/theme" Target="../theme/theme53.xml"/><Relationship Id="rId2" Type="http://schemas.openxmlformats.org/officeDocument/2006/relationships/slideLayout" Target="../slideLayouts/slideLayout5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BA4288-70A2-4269-AB27-FF94A5A09ED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0E56E1-40FE-4D98-BF04-ECA18981534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88E5C28-B720-4651-9325-8C7EE8C7EC9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A29E32-D434-40A8-9D66-5A0672F7C69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9BDF6FF-4024-4057-8BEB-8E2AD5B5549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E2874BA-6769-4F86-8889-C92D21C16C7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A59D5D-69DF-4DDC-B062-237D4DD4122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2446F9-FEE7-405F-86E0-74F788F0738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B263DC-F00C-418D-BB82-5B6494BD5FD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BD9C04-4A3A-43A9-BD6B-BABFCDB35FB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ED162B-F61A-432C-8604-1B004A67731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0FCED61-17B3-462A-ACC5-1F4884F7F19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CBBD53-939C-4BF3-9197-2748E4790A8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D55A0A2-5A62-4FFB-9F22-FD6EAD8A0CE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97F1C49-4116-49C1-B21A-DDCC9FCF768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0D6990-AC7B-4F3D-BE47-4BAE4CB99EC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4A8350E-CF7B-4922-95D8-FAB56F04DC8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FBE5552-7063-44DE-A147-DDF05009E84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1AD5FB-FE4C-4D82-86A6-AFC743E9136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0BC1354-8610-4D2D-AAD8-9158A51F8AE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020371-07F5-4F07-829C-3E6A92D64F0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B1FFD7-E3AE-4F2D-AFF0-BE06ECB7BFD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F621E77-E4D5-46F9-A93D-79C4FDD25EB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BDC51A9-1FD4-4BC5-AC52-69EEAE6FFE0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894895-7BD3-46C0-8FE1-9A8AF2A1651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8BE9D7C-7A91-474E-81EF-5169A09CB00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 type="sldNum" idx="27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5E6910B-C845-4F91-AB26-AAB60C3DCD8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28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7276489-8E7E-4D0A-92BE-8D670DF1087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PlaceHolder 4"/>
          <p:cNvSpPr>
            <a:spLocks noGrp="1"/>
          </p:cNvSpPr>
          <p:nvPr>
            <p:ph type="sldNum" idx="29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4AF41C8-01E8-4409-8B5F-86BC05854D7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sldNum" idx="30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1AA3E66-FFBE-49F5-ABD3-7F296EC175F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2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sldNum" idx="31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CFDA09-1B5E-45B3-A02F-AC45CFC359B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2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sldNum" idx="32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421B68-20E7-491E-BEB2-6814C588454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0" name="PlaceHolder 4"/>
          <p:cNvSpPr>
            <a:spLocks noGrp="1"/>
          </p:cNvSpPr>
          <p:nvPr>
            <p:ph type="sldNum" idx="33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93A46F5-CAEC-4CEF-813D-5DA70C6445B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sldNum" idx="34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619DB33-B6BA-4ADB-B029-FF38CD94B39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sldNum" idx="35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084AD8-8204-4F37-9118-0805D493E66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sldNum" idx="36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67CB1D-8C09-4964-A80C-F48CB997098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37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9B643FC-73DD-40E5-944E-5EB2C90546B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ldNum" idx="38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6154329-E01B-4234-BFF7-B3922BD12B8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39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C1919D-EAA6-4E15-96BB-E74124CAA59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5" r:id="rId2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1" name="PlaceHolder 2"/>
          <p:cNvSpPr>
            <a:spLocks noGrp="1"/>
          </p:cNvSpPr>
          <p:nvPr>
            <p:ph type="sldNum" idx="40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9BD6FDF-8B35-425B-B2A1-4E9620319AB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2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 type="sldNum" idx="41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79CD7E-A738-403B-9360-D032B006600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2"/>
  </p:sldLayoutIdLst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42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5B235D-66C5-4D6E-A785-6A06D6B1F16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1" r:id="rId2"/>
  </p:sldLayoutIdLst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ldNum" idx="43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4982BFE-B175-49F0-A3F7-424A9C5A3F6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2"/>
  </p:sldLayoutIdLst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Num" idx="44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ADC3EF-2289-4792-ABE3-0F13D2EF6CA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2"/>
    <p:sldLayoutId id="2147483736" r:id="rId3"/>
    <p:sldLayoutId id="2147483737" r:id="rId4"/>
    <p:sldLayoutId id="2147483738" r:id="rId5"/>
    <p:sldLayoutId id="2147483739" r:id="rId6"/>
  </p:sldLayoutIdLst>
</p:sldMaster>
</file>

<file path=ppt/slideMasters/slideMaster4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sldNum" idx="45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951537D-A4AF-4B3E-92FC-AD3CB1F6E5E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1" r:id="rId2"/>
  </p:sldLayoutIdLst>
</p:sldMaster>
</file>

<file path=ppt/slideMasters/slideMaster4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888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46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ACC0F6B-E00C-402B-B6A6-1A05A0FE8A8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3" r:id="rId2"/>
  </p:sldLayoutIdLst>
</p:sldMaster>
</file>

<file path=ppt/slideMasters/slideMaster4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54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 type="sldNum" idx="47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757078-6163-4CB6-8628-095AB8AE74D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5" r:id="rId2"/>
  </p:sldLayoutIdLst>
</p:sldMaster>
</file>

<file path=ppt/slideMasters/slideMaster4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888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 type="sldNum" idx="48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7C1F4B-B117-4DB4-8B35-1D0298410C4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7" r:id="rId2"/>
  </p:sldLayoutIdLst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Num" idx="49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F3A468-C05C-4923-AA70-58C59CD0D1B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9" r:id="rId2"/>
  </p:sldLayoutIdLst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Num" idx="50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FDBE2D-A39C-4E4D-8FCA-6783CD6812D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1" r:id="rId2"/>
  </p:sldLayoutIdLst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36;p9"/>
          <p:cNvSpPr/>
          <p:nvPr/>
        </p:nvSpPr>
        <p:spPr>
          <a:xfrm>
            <a:off x="4572000" y="0"/>
            <a:ext cx="4564080" cy="513576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9" name="PlaceHolder 1"/>
          <p:cNvSpPr>
            <a:spLocks noGrp="1"/>
          </p:cNvSpPr>
          <p:nvPr>
            <p:ph type="sldNum" idx="51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1299482-9660-4A31-A1D0-6D49ECFDB41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2"/>
  </p:sldLayoutIdLst>
</p:sldMaster>
</file>

<file path=ppt/slideMasters/slideMaster5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Num" idx="52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72F299F-E032-4666-947C-CAEECE23DAD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5" r:id="rId2"/>
  </p:sldLayoutIdLst>
</p:sldMaster>
</file>

<file path=ppt/slideMasters/slideMaster5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sldNum" idx="53"/>
          </p:nvPr>
        </p:nvSpPr>
        <p:spPr>
          <a:xfrm>
            <a:off x="8472600" y="4663080"/>
            <a:ext cx="534240" cy="37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DCE920E-36C5-4071-8908-D95733D54AF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8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48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8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834480" y="347400"/>
            <a:ext cx="7466760" cy="17571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ctr">
            <a:noAutofit/>
          </a:bodyPr>
          <a:p>
            <a:pPr indent="0" algn="ctr">
              <a:lnSpc>
                <a:spcPct val="150000"/>
              </a:lnSpc>
              <a:buNone/>
              <a:tabLst>
                <a:tab algn="l" pos="0"/>
              </a:tabLst>
            </a:pPr>
            <a:r>
              <a:rPr b="1" lang="en" sz="33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Efficient Secure Memory for RISC-V Trusted Execution</a:t>
            </a:r>
            <a:endParaRPr b="0" lang="en-US" sz="3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41" name="Google Shape;56;p13"/>
          <p:cNvCxnSpPr/>
          <p:nvPr/>
        </p:nvCxnSpPr>
        <p:spPr>
          <a:xfrm>
            <a:off x="204480" y="230472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cxnSp>
        <p:nvCxnSpPr>
          <p:cNvPr id="242" name="Google Shape;57;p13"/>
          <p:cNvCxnSpPr/>
          <p:nvPr/>
        </p:nvCxnSpPr>
        <p:spPr>
          <a:xfrm>
            <a:off x="204480" y="39488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243" name="PlaceHolder 2"/>
          <p:cNvSpPr>
            <a:spLocks noGrp="1"/>
          </p:cNvSpPr>
          <p:nvPr>
            <p:ph type="sldNum" idx="57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72A9C2-AD1C-490B-AD9F-39488CD0B73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44" name="Google Shape;59;p13"/>
          <p:cNvSpPr/>
          <p:nvPr/>
        </p:nvSpPr>
        <p:spPr>
          <a:xfrm>
            <a:off x="1946880" y="2244240"/>
            <a:ext cx="5242680" cy="166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b="0" lang="en" sz="1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Presentation By: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b="0" lang="en" sz="1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Will Buziak</a:t>
            </a:r>
            <a:br>
              <a:rPr sz="1900"/>
            </a:br>
            <a:r>
              <a:rPr b="0" lang="en" sz="17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Department of Computer Science</a:t>
            </a:r>
            <a:br>
              <a:rPr sz="1700"/>
            </a:br>
            <a:r>
              <a:rPr b="0" lang="en" sz="17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Colorado School of Mines</a:t>
            </a:r>
            <a:endParaRPr b="0" lang="en-US" sz="17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5" name="Google Shape;60;p13"/>
          <p:cNvSpPr/>
          <p:nvPr/>
        </p:nvSpPr>
        <p:spPr>
          <a:xfrm>
            <a:off x="3071880" y="3948480"/>
            <a:ext cx="29919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br>
              <a:rPr sz="1800"/>
            </a:b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February, 2026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Content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/>
          </p:nvPr>
        </p:nvSpPr>
        <p:spPr>
          <a:xfrm>
            <a:off x="343080" y="606600"/>
            <a:ext cx="8384760" cy="4187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AutoNum type="arabicParenR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Background &amp; Motivation  .............................................................3-4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AutoNum type="arabicParenR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Trusted Execution Environments  ...................................................5-7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AutoNum type="arabicParenR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Secure Memory .............................................................................8-12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AutoNum type="arabicParenR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gem5 ................................................................................................13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48" name="Google Shape;68;p 1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249" name="PlaceHolder 3"/>
          <p:cNvSpPr>
            <a:spLocks noGrp="1"/>
          </p:cNvSpPr>
          <p:nvPr>
            <p:ph type="sldNum" idx="58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E48DA39-C2A9-4AFB-B3E4-D77757048F4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Background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343080" y="606600"/>
            <a:ext cx="8384760" cy="4187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Motivated attackers can employ many tactics to corrupt or steal data, this work focuses on preventing: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 malicious OS, application or thread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Replay or side-channel attacks targeting off-chip peripherals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Trusted Execution Environments (TEEs) provide hardware guarantees that attempt to secure the integrity of the processor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" sz="2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Secure Memory methods protect against off-chip tampering by encrypting and storing metadata securely on-chip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52" name="Google Shape;68;p14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253" name="PlaceHolder 3"/>
          <p:cNvSpPr>
            <a:spLocks noGrp="1"/>
          </p:cNvSpPr>
          <p:nvPr>
            <p:ph type="sldNum" idx="59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814FFD-B72E-419F-9FA2-E9039C8B612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3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93;p17"/>
          <p:cNvSpPr/>
          <p:nvPr/>
        </p:nvSpPr>
        <p:spPr>
          <a:xfrm>
            <a:off x="327960" y="4114800"/>
            <a:ext cx="8480520" cy="803520"/>
          </a:xfrm>
          <a:prstGeom prst="roundRect">
            <a:avLst>
              <a:gd name="adj" fmla="val 16667"/>
            </a:avLst>
          </a:prstGeom>
          <a:solidFill>
            <a:srgbClr val="ffc000">
              <a:alpha val="20000"/>
            </a:srgbClr>
          </a:solidFill>
          <a:ln w="12600">
            <a:solidFill>
              <a:srgbClr val="32549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5" name="PlaceHolder 1"/>
          <p:cNvSpPr>
            <a:spLocks noGrp="1"/>
          </p:cNvSpPr>
          <p:nvPr>
            <p:ph type="sldNum" idx="60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54ACF9-A331-4555-8D85-D1EEC3068F6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4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941400" y="3567600"/>
            <a:ext cx="7253640" cy="18982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ctr">
            <a:noAutofit/>
          </a:bodyPr>
          <a:p>
            <a:pPr indent="0" algn="ctr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3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Goal</a:t>
            </a:r>
            <a:r>
              <a:rPr b="0" lang="en" sz="23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: Harden TEEs with secure memory protocols to efficiently protect data integrity</a:t>
            </a:r>
            <a:endParaRPr b="0" lang="en-US" sz="2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Motivation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58" name="Google Shape;97;p17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259" name="PlaceHolder 4"/>
          <p:cNvSpPr>
            <a:spLocks noGrp="1"/>
          </p:cNvSpPr>
          <p:nvPr>
            <p:ph/>
          </p:nvPr>
        </p:nvSpPr>
        <p:spPr>
          <a:xfrm>
            <a:off x="343080" y="829800"/>
            <a:ext cx="8384760" cy="27734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TEEs provide confidence against malicious applications attempting to tamper with data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Still vulnerable to side-channel attacks, replay attacks and off-chip tampering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Secure Memory can mitigate these concerns by adding another layer of protection for off-chip devices 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RISC-V TEEs (e. g. Keystone</a:t>
            </a:r>
            <a:r>
              <a:rPr b="0" lang="en" sz="2100" strike="noStrike" u="none" baseline="33000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[1]</a:t>
            </a: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) provides an open-source, configurable platform for developing TEEs to specific applications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Trusted Execution Environments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61" name="Google Shape;114;p 1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262" name="PlaceHolder 2"/>
          <p:cNvSpPr>
            <a:spLocks noGrp="1"/>
          </p:cNvSpPr>
          <p:nvPr>
            <p:ph type="sldNum" idx="61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E78499A-2FC4-4D52-B8C4-D5BC3E87BEB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5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343080" y="462600"/>
            <a:ext cx="8384760" cy="45604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 TEE implements different </a:t>
            </a:r>
            <a:r>
              <a:rPr b="0" i="1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privelege modes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with separate </a:t>
            </a:r>
            <a:r>
              <a:rPr b="0" i="1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address spaces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, enforcing a set of rules dictating which components can access what regions of memory: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User mode, Supervisor mode, Machine mode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Almost all major CPU vendors have their own flavor of TEE: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Intel SGX/TDX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ARM Confidential Computer Architecture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6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AMD SEV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These implementations leverage proprietary hardware, opening the door for a configurable &amp; open-source TEE, keystone</a:t>
            </a:r>
            <a:r>
              <a:rPr b="0" lang="en" sz="2100" strike="noStrike" u="none" baseline="33000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[1]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Trusted Execution Environments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65" name="Google Shape;114;p 2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266" name="PlaceHolder 2"/>
          <p:cNvSpPr>
            <a:spLocks noGrp="1"/>
          </p:cNvSpPr>
          <p:nvPr>
            <p:ph type="sldNum" idx="62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63CC60E-A310-492A-B253-CCF69E1F36A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6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343080" y="462600"/>
            <a:ext cx="3399120" cy="45604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TEEs protect the processor: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Attempts to avoid malicious activity from the application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marL="457200" indent="-3618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Still vulnerable to side-channel &amp; replay attacks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Application mode is checked on memory request: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marL="457200" indent="-3618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Memory regions are assigned to modes with permissions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marL="457200" indent="-3618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 region in which the mode does not have access is denied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</p:txBody>
      </p:sp>
      <p:pic>
        <p:nvPicPr>
          <p:cNvPr id="268" name="" descr=""/>
          <p:cNvPicPr/>
          <p:nvPr/>
        </p:nvPicPr>
        <p:blipFill>
          <a:blip r:embed="rId1"/>
          <a:stretch/>
        </p:blipFill>
        <p:spPr>
          <a:xfrm>
            <a:off x="3742920" y="1371600"/>
            <a:ext cx="4907160" cy="3669840"/>
          </a:xfrm>
          <a:prstGeom prst="rect">
            <a:avLst/>
          </a:prstGeom>
          <a:ln w="0">
            <a:noFill/>
          </a:ln>
        </p:spPr>
      </p:pic>
      <p:sp>
        <p:nvSpPr>
          <p:cNvPr id="269" name=""/>
          <p:cNvSpPr/>
          <p:nvPr/>
        </p:nvSpPr>
        <p:spPr>
          <a:xfrm>
            <a:off x="4728600" y="1900800"/>
            <a:ext cx="444240" cy="45684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4781160" y="2031480"/>
            <a:ext cx="333000" cy="9720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3200" bIns="432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1" name=""/>
          <p:cNvSpPr/>
          <p:nvPr/>
        </p:nvSpPr>
        <p:spPr>
          <a:xfrm>
            <a:off x="4781160" y="2139840"/>
            <a:ext cx="333000" cy="9684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2840" bIns="428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4781160" y="2247840"/>
            <a:ext cx="333000" cy="972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3200" bIns="432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5916600" y="1901160"/>
            <a:ext cx="444240" cy="45684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4" name=""/>
          <p:cNvSpPr/>
          <p:nvPr/>
        </p:nvSpPr>
        <p:spPr>
          <a:xfrm>
            <a:off x="5969160" y="2031840"/>
            <a:ext cx="333000" cy="9720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3200" bIns="432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5969160" y="2140200"/>
            <a:ext cx="333000" cy="9684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2840" bIns="4284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6" name=""/>
          <p:cNvSpPr/>
          <p:nvPr/>
        </p:nvSpPr>
        <p:spPr>
          <a:xfrm>
            <a:off x="5969160" y="2248200"/>
            <a:ext cx="333000" cy="972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3200" bIns="432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 flipH="1">
            <a:off x="6361200" y="2057400"/>
            <a:ext cx="496800" cy="3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8" name=""/>
          <p:cNvSpPr/>
          <p:nvPr/>
        </p:nvSpPr>
        <p:spPr>
          <a:xfrm>
            <a:off x="6906600" y="1949400"/>
            <a:ext cx="456840" cy="23184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000" strike="noStrike" u="none">
                <a:solidFill>
                  <a:srgbClr val="000000"/>
                </a:solidFill>
                <a:uFillTx/>
                <a:latin typeface="Arial"/>
              </a:rPr>
              <a:t>PMP</a:t>
            </a:r>
            <a:endParaRPr b="0" lang="en-US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Physical Memory Protection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80" name="Google Shape;114;p 4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281" name="PlaceHolder 2"/>
          <p:cNvSpPr>
            <a:spLocks noGrp="1"/>
          </p:cNvSpPr>
          <p:nvPr>
            <p:ph type="sldNum" idx="63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10CEEB-B551-4068-A452-99D15CC4EB2A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7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43080" y="842400"/>
            <a:ext cx="3399120" cy="41806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Each core has a PMP table: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Stores the address range along with the pmpCfg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pmpCfg determines: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Permissions, address matching, &amp; locking with space for extra bits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PMP checks walk the table &amp; match the request address with each stored entries A field &amp; respective address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83" name="" descr=""/>
          <p:cNvPicPr/>
          <p:nvPr/>
        </p:nvPicPr>
        <p:blipFill>
          <a:blip r:embed="rId1"/>
          <a:stretch/>
        </p:blipFill>
        <p:spPr>
          <a:xfrm>
            <a:off x="4146480" y="4123800"/>
            <a:ext cx="4539600" cy="685800"/>
          </a:xfrm>
          <a:prstGeom prst="rect">
            <a:avLst/>
          </a:prstGeom>
          <a:ln w="0">
            <a:noFill/>
          </a:ln>
        </p:spPr>
      </p:pic>
      <p:sp>
        <p:nvSpPr>
          <p:cNvPr id="284" name=""/>
          <p:cNvSpPr/>
          <p:nvPr/>
        </p:nvSpPr>
        <p:spPr>
          <a:xfrm flipH="1" flipV="1">
            <a:off x="4114800" y="3429000"/>
            <a:ext cx="1600200" cy="829800"/>
          </a:xfrm>
          <a:prstGeom prst="line">
            <a:avLst/>
          </a:prstGeom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 flipV="1">
            <a:off x="6543000" y="3429000"/>
            <a:ext cx="543600" cy="830160"/>
          </a:xfrm>
          <a:prstGeom prst="line">
            <a:avLst/>
          </a:prstGeom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 flipV="1">
            <a:off x="5607000" y="2057400"/>
            <a:ext cx="360" cy="797760"/>
          </a:xfrm>
          <a:prstGeom prst="line">
            <a:avLst/>
          </a:prstGeom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87" name="" descr=""/>
          <p:cNvPicPr/>
          <p:nvPr/>
        </p:nvPicPr>
        <p:blipFill>
          <a:blip r:embed="rId2"/>
          <a:stretch/>
        </p:blipFill>
        <p:spPr>
          <a:xfrm>
            <a:off x="4124520" y="2658600"/>
            <a:ext cx="3035160" cy="913680"/>
          </a:xfrm>
          <a:prstGeom prst="rect">
            <a:avLst/>
          </a:prstGeom>
          <a:ln w="0">
            <a:noFill/>
          </a:ln>
        </p:spPr>
      </p:pic>
      <p:pic>
        <p:nvPicPr>
          <p:cNvPr id="288" name="" descr=""/>
          <p:cNvPicPr/>
          <p:nvPr/>
        </p:nvPicPr>
        <p:blipFill>
          <a:blip r:embed="rId3"/>
          <a:stretch/>
        </p:blipFill>
        <p:spPr>
          <a:xfrm>
            <a:off x="4188600" y="924840"/>
            <a:ext cx="3199680" cy="1403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290" name="Google Shape;114;p19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291" name="PlaceHolder 2"/>
          <p:cNvSpPr>
            <a:spLocks noGrp="1"/>
          </p:cNvSpPr>
          <p:nvPr>
            <p:ph type="sldNum" idx="64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CF23297-D2C1-4200-95E2-D016FA1B07DB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8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/>
          </p:nvPr>
        </p:nvSpPr>
        <p:spPr>
          <a:xfrm>
            <a:off x="343080" y="606600"/>
            <a:ext cx="4685760" cy="43257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Base Assumption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: off-chip data is untrusted &amp; requires verification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protects data / memory devices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marL="457200" indent="-3618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Builds a hash (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merkle</a:t>
            </a:r>
            <a:r>
              <a:rPr b="0" lang="en" sz="2100" strike="noStrike" u="none" baseline="33000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[2]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) tree, the root of which is always stored on-chip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Built over data &amp; metadata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Nodes can be stored in a metadata cache to reduce fetch latency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</p:txBody>
      </p:sp>
      <p:sp>
        <p:nvSpPr>
          <p:cNvPr id="293" name=""/>
          <p:cNvSpPr/>
          <p:nvPr/>
        </p:nvSpPr>
        <p:spPr>
          <a:xfrm flipV="1">
            <a:off x="5970960" y="4090680"/>
            <a:ext cx="36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94" name=""/>
          <p:cNvSpPr/>
          <p:nvPr/>
        </p:nvSpPr>
        <p:spPr>
          <a:xfrm flipV="1">
            <a:off x="6418440" y="4105800"/>
            <a:ext cx="72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95" name=""/>
          <p:cNvSpPr/>
          <p:nvPr/>
        </p:nvSpPr>
        <p:spPr>
          <a:xfrm flipV="1">
            <a:off x="6865560" y="4105800"/>
            <a:ext cx="72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96" name=""/>
          <p:cNvSpPr/>
          <p:nvPr/>
        </p:nvSpPr>
        <p:spPr>
          <a:xfrm flipV="1">
            <a:off x="7256880" y="4105800"/>
            <a:ext cx="36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97" name=""/>
          <p:cNvSpPr/>
          <p:nvPr/>
        </p:nvSpPr>
        <p:spPr>
          <a:xfrm flipV="1">
            <a:off x="7983360" y="4105800"/>
            <a:ext cx="360" cy="50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298" name=""/>
          <p:cNvSpPr/>
          <p:nvPr/>
        </p:nvSpPr>
        <p:spPr>
          <a:xfrm rot="5400000">
            <a:off x="5639040" y="4544280"/>
            <a:ext cx="691560" cy="3445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 rot="5400000">
            <a:off x="6076440" y="4544280"/>
            <a:ext cx="691560" cy="3445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 rot="5400000">
            <a:off x="6514560" y="4544280"/>
            <a:ext cx="691560" cy="3441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 rot="5400000">
            <a:off x="6897600" y="4544280"/>
            <a:ext cx="691560" cy="3445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 rot="5400000">
            <a:off x="7661880" y="4544280"/>
            <a:ext cx="691560" cy="3441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7031520" y="1406160"/>
            <a:ext cx="720" cy="6505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7031520" y="1406160"/>
            <a:ext cx="654120" cy="315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 flipH="1">
            <a:off x="6266160" y="1406160"/>
            <a:ext cx="765360" cy="31500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6" name=""/>
          <p:cNvSpPr/>
          <p:nvPr/>
        </p:nvSpPr>
        <p:spPr>
          <a:xfrm flipH="1">
            <a:off x="6921360" y="2028240"/>
            <a:ext cx="106200" cy="5464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6732720" y="2448000"/>
            <a:ext cx="352080" cy="3520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8" name=""/>
          <p:cNvSpPr/>
          <p:nvPr/>
        </p:nvSpPr>
        <p:spPr>
          <a:xfrm rot="5400000">
            <a:off x="5573880" y="3417120"/>
            <a:ext cx="822960" cy="3441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9" name=""/>
          <p:cNvSpPr/>
          <p:nvPr/>
        </p:nvSpPr>
        <p:spPr>
          <a:xfrm rot="5400000">
            <a:off x="6021360" y="3416760"/>
            <a:ext cx="822960" cy="3445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0" name=""/>
          <p:cNvSpPr/>
          <p:nvPr/>
        </p:nvSpPr>
        <p:spPr>
          <a:xfrm rot="5400000">
            <a:off x="6468480" y="3416760"/>
            <a:ext cx="822960" cy="34452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 rot="5400000">
            <a:off x="6859800" y="3417120"/>
            <a:ext cx="822960" cy="3441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 rot="5400000">
            <a:off x="7586280" y="3417120"/>
            <a:ext cx="822960" cy="3441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3" name=""/>
          <p:cNvSpPr/>
          <p:nvPr/>
        </p:nvSpPr>
        <p:spPr>
          <a:xfrm>
            <a:off x="7027560" y="2028240"/>
            <a:ext cx="303120" cy="5515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4" name=""/>
          <p:cNvSpPr/>
          <p:nvPr/>
        </p:nvSpPr>
        <p:spPr>
          <a:xfrm>
            <a:off x="7123680" y="2448000"/>
            <a:ext cx="352440" cy="3520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5" name=""/>
          <p:cNvSpPr/>
          <p:nvPr/>
        </p:nvSpPr>
        <p:spPr>
          <a:xfrm flipH="1">
            <a:off x="6027480" y="1869840"/>
            <a:ext cx="238680" cy="6339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6216120" y="1844280"/>
            <a:ext cx="232200" cy="75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>
            <a:off x="7685640" y="1869840"/>
            <a:ext cx="327960" cy="5781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7515000" y="1721160"/>
            <a:ext cx="352440" cy="3524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6285600" y="2448000"/>
            <a:ext cx="352080" cy="3520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0" name=""/>
          <p:cNvSpPr/>
          <p:nvPr/>
        </p:nvSpPr>
        <p:spPr>
          <a:xfrm>
            <a:off x="7850160" y="2448000"/>
            <a:ext cx="352440" cy="3520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5838480" y="2448000"/>
            <a:ext cx="352440" cy="35208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2" name=""/>
          <p:cNvSpPr/>
          <p:nvPr/>
        </p:nvSpPr>
        <p:spPr>
          <a:xfrm>
            <a:off x="6062040" y="1721160"/>
            <a:ext cx="352080" cy="3524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6844320" y="1721160"/>
            <a:ext cx="352440" cy="35244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4" name=""/>
          <p:cNvSpPr/>
          <p:nvPr/>
        </p:nvSpPr>
        <p:spPr>
          <a:xfrm flipV="1">
            <a:off x="5967000" y="2802600"/>
            <a:ext cx="720" cy="3751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5" name=""/>
          <p:cNvSpPr/>
          <p:nvPr/>
        </p:nvSpPr>
        <p:spPr>
          <a:xfrm flipV="1">
            <a:off x="6469920" y="2803320"/>
            <a:ext cx="720" cy="37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6" name=""/>
          <p:cNvSpPr/>
          <p:nvPr/>
        </p:nvSpPr>
        <p:spPr>
          <a:xfrm flipV="1">
            <a:off x="6861240" y="2803320"/>
            <a:ext cx="360" cy="37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7" name=""/>
          <p:cNvSpPr/>
          <p:nvPr/>
        </p:nvSpPr>
        <p:spPr>
          <a:xfrm flipV="1">
            <a:off x="7308360" y="2803320"/>
            <a:ext cx="360" cy="37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8" name=""/>
          <p:cNvSpPr/>
          <p:nvPr/>
        </p:nvSpPr>
        <p:spPr>
          <a:xfrm flipV="1">
            <a:off x="8034840" y="2803320"/>
            <a:ext cx="360" cy="3747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9" name=""/>
          <p:cNvSpPr/>
          <p:nvPr/>
        </p:nvSpPr>
        <p:spPr>
          <a:xfrm>
            <a:off x="6700320" y="981000"/>
            <a:ext cx="650520" cy="52992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uFillTx/>
                <a:latin typeface="Arial"/>
              </a:rPr>
              <a:t>root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434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Counter-Mode based Encryption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31" name="Google Shape;114;p 16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32" name="PlaceHolder 2"/>
          <p:cNvSpPr>
            <a:spLocks noGrp="1"/>
          </p:cNvSpPr>
          <p:nvPr>
            <p:ph type="sldNum" idx="65"/>
          </p:nvPr>
        </p:nvSpPr>
        <p:spPr>
          <a:xfrm>
            <a:off x="8364600" y="4561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3F84409-3B52-4633-A0A7-08DB8B9B9F5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9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33" name="PlaceHolder 3"/>
          <p:cNvSpPr>
            <a:spLocks noGrp="1"/>
          </p:cNvSpPr>
          <p:nvPr>
            <p:ph/>
          </p:nvPr>
        </p:nvSpPr>
        <p:spPr>
          <a:xfrm>
            <a:off x="379080" y="750600"/>
            <a:ext cx="4228920" cy="26784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HMACs are produced through the xor of a one-time pad &amp; the plaintext:</a:t>
            </a:r>
            <a:endParaRPr b="0" lang="en-US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One-time pad is generated with a hardware key and a write-incremented counter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Tree must be re-hashed when counters overflow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Counter incrementing methods reduce the frequency of rehashing the tree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4" name=""/>
          <p:cNvSpPr/>
          <p:nvPr/>
        </p:nvSpPr>
        <p:spPr>
          <a:xfrm>
            <a:off x="6220800" y="1769400"/>
            <a:ext cx="914400" cy="68580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</a:rPr>
              <a:t>AES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4776840" y="1998000"/>
            <a:ext cx="914760" cy="288720"/>
          </a:xfrm>
          <a:prstGeom prst="rect">
            <a:avLst/>
          </a:prstGeom>
          <a:noFill/>
          <a:ln w="1836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HW key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6" name=""/>
          <p:cNvSpPr/>
          <p:nvPr/>
        </p:nvSpPr>
        <p:spPr>
          <a:xfrm>
            <a:off x="5607000" y="2154600"/>
            <a:ext cx="457200" cy="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6396840" y="1026000"/>
            <a:ext cx="617760" cy="288720"/>
          </a:xfrm>
          <a:prstGeom prst="rect">
            <a:avLst/>
          </a:prstGeom>
          <a:noFill/>
          <a:ln w="1836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seed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8" name=""/>
          <p:cNvSpPr/>
          <p:nvPr/>
        </p:nvSpPr>
        <p:spPr>
          <a:xfrm>
            <a:off x="6678000" y="1278720"/>
            <a:ext cx="0" cy="45468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39" name=""/>
          <p:cNvSpPr/>
          <p:nvPr/>
        </p:nvSpPr>
        <p:spPr>
          <a:xfrm>
            <a:off x="6341400" y="3717000"/>
            <a:ext cx="685800" cy="685800"/>
          </a:xfrm>
          <a:prstGeom prst="ellipse">
            <a:avLst/>
          </a:prstGeom>
          <a:solidFill>
            <a:srgbClr val="ffffff"/>
          </a:solidFill>
          <a:ln w="183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/>
            <a:r>
              <a:rPr b="0" lang="en-US" sz="1100" strike="noStrike" u="none">
                <a:solidFill>
                  <a:srgbClr val="000000"/>
                </a:solidFill>
                <a:uFillTx/>
                <a:latin typeface="Arial"/>
              </a:rPr>
              <a:t>XOR</a:t>
            </a:r>
            <a:endParaRPr b="0" lang="en-US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6180840" y="2826360"/>
            <a:ext cx="966960" cy="685440"/>
          </a:xfrm>
          <a:prstGeom prst="rect">
            <a:avLst/>
          </a:prstGeom>
          <a:noFill/>
          <a:ln w="18360">
            <a:noFill/>
          </a:ln>
        </p:spPr>
        <p:txBody>
          <a:bodyPr lIns="90000" rIns="90000" tIns="45000" bIns="45000" anchor="t">
            <a:noAutofit/>
          </a:bodyPr>
          <a:p>
            <a:pPr algn="ctr"/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One-time pad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1" name=""/>
          <p:cNvSpPr/>
          <p:nvPr/>
        </p:nvSpPr>
        <p:spPr>
          <a:xfrm>
            <a:off x="6678000" y="3321000"/>
            <a:ext cx="0" cy="3567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2" name=""/>
          <p:cNvSpPr/>
          <p:nvPr/>
        </p:nvSpPr>
        <p:spPr>
          <a:xfrm>
            <a:off x="6678000" y="2488680"/>
            <a:ext cx="0" cy="35676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4776840" y="3870000"/>
            <a:ext cx="914760" cy="288720"/>
          </a:xfrm>
          <a:prstGeom prst="rect">
            <a:avLst/>
          </a:prstGeom>
          <a:noFill/>
          <a:ln w="1836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plaintext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4" name=""/>
          <p:cNvSpPr/>
          <p:nvPr/>
        </p:nvSpPr>
        <p:spPr>
          <a:xfrm>
            <a:off x="5607000" y="4026600"/>
            <a:ext cx="457200" cy="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7656840" y="3870000"/>
            <a:ext cx="1019160" cy="487080"/>
          </a:xfrm>
          <a:prstGeom prst="rect">
            <a:avLst/>
          </a:prstGeom>
          <a:noFill/>
          <a:ln w="1836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Encrypted data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46" name=""/>
          <p:cNvSpPr/>
          <p:nvPr/>
        </p:nvSpPr>
        <p:spPr>
          <a:xfrm>
            <a:off x="7155000" y="4026600"/>
            <a:ext cx="457200" cy="0"/>
          </a:xfrm>
          <a:prstGeom prst="line">
            <a:avLst/>
          </a:prstGeom>
          <a:ln w="18360">
            <a:solidFill>
              <a:srgbClr val="000000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48" name="Google Shape;114;p 15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49" name="PlaceHolder 2"/>
          <p:cNvSpPr>
            <a:spLocks noGrp="1"/>
          </p:cNvSpPr>
          <p:nvPr>
            <p:ph type="sldNum" idx="66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F61CF07-4BCD-4DA3-B6E4-8B64A952F719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10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/>
          </p:nvPr>
        </p:nvSpPr>
        <p:spPr>
          <a:xfrm>
            <a:off x="343080" y="606600"/>
            <a:ext cx="3999960" cy="43257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Process: 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Off-chip data is signed with a counter, cryptographically hashed and stored in a merkle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Memory blocks are fetched, hashed and compared against each successive parent node from the data leaves up to the secure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</p:txBody>
      </p:sp>
      <p:sp>
        <p:nvSpPr>
          <p:cNvPr id="351" name=""/>
          <p:cNvSpPr/>
          <p:nvPr/>
        </p:nvSpPr>
        <p:spPr>
          <a:xfrm flipV="1">
            <a:off x="7133400" y="372600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52" name=""/>
          <p:cNvSpPr/>
          <p:nvPr/>
        </p:nvSpPr>
        <p:spPr>
          <a:xfrm flipV="1">
            <a:off x="7421760" y="37357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53" name=""/>
          <p:cNvSpPr/>
          <p:nvPr/>
        </p:nvSpPr>
        <p:spPr>
          <a:xfrm flipV="1">
            <a:off x="7709760" y="37357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54" name=""/>
          <p:cNvSpPr/>
          <p:nvPr/>
        </p:nvSpPr>
        <p:spPr>
          <a:xfrm flipV="1">
            <a:off x="7961760" y="37357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55" name=""/>
          <p:cNvSpPr/>
          <p:nvPr/>
        </p:nvSpPr>
        <p:spPr>
          <a:xfrm flipV="1">
            <a:off x="8429760" y="37357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5712480" y="1368000"/>
            <a:ext cx="2749320" cy="10789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7" name=""/>
          <p:cNvSpPr/>
          <p:nvPr/>
        </p:nvSpPr>
        <p:spPr>
          <a:xfrm>
            <a:off x="5487120" y="1049040"/>
            <a:ext cx="77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SOC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8" name=""/>
          <p:cNvSpPr/>
          <p:nvPr/>
        </p:nvSpPr>
        <p:spPr>
          <a:xfrm>
            <a:off x="7696080" y="176760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9" name=""/>
          <p:cNvSpPr/>
          <p:nvPr/>
        </p:nvSpPr>
        <p:spPr>
          <a:xfrm rot="5400000">
            <a:off x="6919560" y="401796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 rot="5400000">
            <a:off x="7201440" y="401796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 rot="5400000">
            <a:off x="7483680" y="401796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 rot="5400000">
            <a:off x="7730280" y="401796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 rot="5400000">
            <a:off x="8222760" y="401796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7816680" y="199656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5" name=""/>
          <p:cNvSpPr/>
          <p:nvPr/>
        </p:nvSpPr>
        <p:spPr>
          <a:xfrm>
            <a:off x="7816680" y="199656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 flipH="1">
            <a:off x="7323480" y="199656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7" name=""/>
          <p:cNvSpPr/>
          <p:nvPr/>
        </p:nvSpPr>
        <p:spPr>
          <a:xfrm flipH="1">
            <a:off x="7745760" y="239724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7624080" y="266760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9" name=""/>
          <p:cNvSpPr/>
          <p:nvPr/>
        </p:nvSpPr>
        <p:spPr>
          <a:xfrm rot="5400000">
            <a:off x="6877800" y="3291840"/>
            <a:ext cx="529920" cy="22176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 rot="5400000">
            <a:off x="7166160" y="329184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1" name=""/>
          <p:cNvSpPr/>
          <p:nvPr/>
        </p:nvSpPr>
        <p:spPr>
          <a:xfrm rot="5400000">
            <a:off x="7454160" y="329184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2" name=""/>
          <p:cNvSpPr/>
          <p:nvPr/>
        </p:nvSpPr>
        <p:spPr>
          <a:xfrm rot="5400000">
            <a:off x="7706160" y="329184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3" name=""/>
          <p:cNvSpPr/>
          <p:nvPr/>
        </p:nvSpPr>
        <p:spPr>
          <a:xfrm rot="5400000">
            <a:off x="8174160" y="329184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4" name=""/>
          <p:cNvSpPr/>
          <p:nvPr/>
        </p:nvSpPr>
        <p:spPr>
          <a:xfrm>
            <a:off x="7814160" y="239724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7876080" y="266760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6" name=""/>
          <p:cNvSpPr/>
          <p:nvPr/>
        </p:nvSpPr>
        <p:spPr>
          <a:xfrm flipH="1">
            <a:off x="7169760" y="229536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7" name=""/>
          <p:cNvSpPr/>
          <p:nvPr/>
        </p:nvSpPr>
        <p:spPr>
          <a:xfrm>
            <a:off x="7291440" y="227880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8" name=""/>
          <p:cNvSpPr/>
          <p:nvPr/>
        </p:nvSpPr>
        <p:spPr>
          <a:xfrm>
            <a:off x="8237880" y="229536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8128080" y="219960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7336080" y="2667600"/>
            <a:ext cx="226800" cy="226800"/>
          </a:xfrm>
          <a:prstGeom prst="ellipse">
            <a:avLst/>
          </a:prstGeom>
          <a:solidFill>
            <a:srgbClr val="5983b0"/>
          </a:solidFill>
          <a:ln w="0">
            <a:solidFill>
              <a:srgbClr val="5983b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381" name=""/>
          <p:cNvSpPr/>
          <p:nvPr/>
        </p:nvSpPr>
        <p:spPr>
          <a:xfrm>
            <a:off x="8344080" y="266760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7048080" y="266760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3" name=""/>
          <p:cNvSpPr/>
          <p:nvPr/>
        </p:nvSpPr>
        <p:spPr>
          <a:xfrm>
            <a:off x="7192080" y="219960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7696080" y="219960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5" name=""/>
          <p:cNvSpPr/>
          <p:nvPr/>
        </p:nvSpPr>
        <p:spPr>
          <a:xfrm flipV="1">
            <a:off x="7130880" y="2896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 flipV="1">
            <a:off x="7454880" y="289656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7" name=""/>
          <p:cNvSpPr/>
          <p:nvPr/>
        </p:nvSpPr>
        <p:spPr>
          <a:xfrm flipV="1">
            <a:off x="7706880" y="289656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 flipV="1">
            <a:off x="7994880" y="289656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89" name=""/>
          <p:cNvSpPr/>
          <p:nvPr/>
        </p:nvSpPr>
        <p:spPr>
          <a:xfrm flipV="1">
            <a:off x="8462880" y="289656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0" name=""/>
          <p:cNvSpPr/>
          <p:nvPr/>
        </p:nvSpPr>
        <p:spPr>
          <a:xfrm>
            <a:off x="5494320" y="1103760"/>
            <a:ext cx="3200040" cy="137124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1682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>
            <a:off x="5494680" y="2523960"/>
            <a:ext cx="3200040" cy="205704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5983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5659560" y="1376280"/>
            <a:ext cx="1828440" cy="54144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Metadata-Cache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394" name="Google Shape;114;p 3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395" name="PlaceHolder 2"/>
          <p:cNvSpPr>
            <a:spLocks noGrp="1"/>
          </p:cNvSpPr>
          <p:nvPr>
            <p:ph type="sldNum" idx="67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DEF6A3B-02F3-4E8B-B903-3FD114EA559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/>
          </p:nvPr>
        </p:nvSpPr>
        <p:spPr>
          <a:xfrm>
            <a:off x="343080" y="606600"/>
            <a:ext cx="3999960" cy="43257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Process: 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Off-chip data is signed with a counter, cryptographically hashed and stored in a merkle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Memory blocks are fetched, hashed and compared against each successive parent node from the data leaves up to the secure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This incurs peripheral node fetch latencies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</p:txBody>
      </p:sp>
      <p:sp>
        <p:nvSpPr>
          <p:cNvPr id="397" name=""/>
          <p:cNvSpPr/>
          <p:nvPr/>
        </p:nvSpPr>
        <p:spPr>
          <a:xfrm flipV="1">
            <a:off x="7129440" y="372132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98" name=""/>
          <p:cNvSpPr/>
          <p:nvPr/>
        </p:nvSpPr>
        <p:spPr>
          <a:xfrm flipV="1">
            <a:off x="7417800" y="3731040"/>
            <a:ext cx="360" cy="325800"/>
          </a:xfrm>
          <a:prstGeom prst="line">
            <a:avLst/>
          </a:prstGeom>
          <a:ln w="38160">
            <a:solidFill>
              <a:srgbClr val="ff383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399" name=""/>
          <p:cNvSpPr/>
          <p:nvPr/>
        </p:nvSpPr>
        <p:spPr>
          <a:xfrm flipV="1">
            <a:off x="7705800" y="373104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00" name=""/>
          <p:cNvSpPr/>
          <p:nvPr/>
        </p:nvSpPr>
        <p:spPr>
          <a:xfrm flipV="1">
            <a:off x="7957800" y="373104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01" name=""/>
          <p:cNvSpPr/>
          <p:nvPr/>
        </p:nvSpPr>
        <p:spPr>
          <a:xfrm flipV="1">
            <a:off x="8425800" y="373104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5708520" y="1363320"/>
            <a:ext cx="2749320" cy="10789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3" name=""/>
          <p:cNvSpPr/>
          <p:nvPr/>
        </p:nvSpPr>
        <p:spPr>
          <a:xfrm>
            <a:off x="5483160" y="1044360"/>
            <a:ext cx="77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SOC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4" name=""/>
          <p:cNvSpPr/>
          <p:nvPr/>
        </p:nvSpPr>
        <p:spPr>
          <a:xfrm>
            <a:off x="7692120" y="176292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5" name=""/>
          <p:cNvSpPr/>
          <p:nvPr/>
        </p:nvSpPr>
        <p:spPr>
          <a:xfrm rot="5400000">
            <a:off x="6915600" y="401328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 rot="5400000">
            <a:off x="7197480" y="401328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 rot="5400000">
            <a:off x="7479720" y="401328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 rot="5400000">
            <a:off x="7726320" y="401328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09" name=""/>
          <p:cNvSpPr/>
          <p:nvPr/>
        </p:nvSpPr>
        <p:spPr>
          <a:xfrm rot="5400000">
            <a:off x="8218800" y="401328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0" name=""/>
          <p:cNvSpPr/>
          <p:nvPr/>
        </p:nvSpPr>
        <p:spPr>
          <a:xfrm>
            <a:off x="7812720" y="199188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1" name=""/>
          <p:cNvSpPr/>
          <p:nvPr/>
        </p:nvSpPr>
        <p:spPr>
          <a:xfrm>
            <a:off x="7812720" y="199188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 flipH="1">
            <a:off x="7319520" y="199188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3" name=""/>
          <p:cNvSpPr/>
          <p:nvPr/>
        </p:nvSpPr>
        <p:spPr>
          <a:xfrm flipH="1">
            <a:off x="7741800" y="239256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>
            <a:off x="7620120" y="266292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5" name=""/>
          <p:cNvSpPr/>
          <p:nvPr/>
        </p:nvSpPr>
        <p:spPr>
          <a:xfrm rot="5400000">
            <a:off x="6873840" y="3287160"/>
            <a:ext cx="529920" cy="22176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6" name=""/>
          <p:cNvSpPr/>
          <p:nvPr/>
        </p:nvSpPr>
        <p:spPr>
          <a:xfrm rot="5400000">
            <a:off x="7162200" y="3287160"/>
            <a:ext cx="529920" cy="221760"/>
          </a:xfrm>
          <a:prstGeom prst="rect">
            <a:avLst/>
          </a:prstGeom>
          <a:solidFill>
            <a:srgbClr val="ff3838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17" name=""/>
          <p:cNvSpPr/>
          <p:nvPr/>
        </p:nvSpPr>
        <p:spPr>
          <a:xfrm rot="5400000">
            <a:off x="7450200" y="328716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 rot="5400000">
            <a:off x="7702200" y="328716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19" name=""/>
          <p:cNvSpPr/>
          <p:nvPr/>
        </p:nvSpPr>
        <p:spPr>
          <a:xfrm rot="5400000">
            <a:off x="8170200" y="328716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hmac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>
            <a:off x="7810200" y="239256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1" name=""/>
          <p:cNvSpPr/>
          <p:nvPr/>
        </p:nvSpPr>
        <p:spPr>
          <a:xfrm>
            <a:off x="7872120" y="266292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 flipH="1">
            <a:off x="7165800" y="229068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7287480" y="227412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4" name=""/>
          <p:cNvSpPr/>
          <p:nvPr/>
        </p:nvSpPr>
        <p:spPr>
          <a:xfrm>
            <a:off x="8233920" y="229068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8124120" y="219492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6" name=""/>
          <p:cNvSpPr/>
          <p:nvPr/>
        </p:nvSpPr>
        <p:spPr>
          <a:xfrm>
            <a:off x="7332120" y="2662920"/>
            <a:ext cx="226800" cy="226800"/>
          </a:xfrm>
          <a:prstGeom prst="ellipse">
            <a:avLst/>
          </a:prstGeom>
          <a:solidFill>
            <a:srgbClr val="ff3838"/>
          </a:solidFill>
          <a:ln w="0">
            <a:solidFill>
              <a:srgbClr val="5983b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>
            <a:off x="8340120" y="266292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8" name=""/>
          <p:cNvSpPr/>
          <p:nvPr/>
        </p:nvSpPr>
        <p:spPr>
          <a:xfrm>
            <a:off x="7044120" y="266292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29" name=""/>
          <p:cNvSpPr/>
          <p:nvPr/>
        </p:nvSpPr>
        <p:spPr>
          <a:xfrm>
            <a:off x="7188120" y="219492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0" name=""/>
          <p:cNvSpPr/>
          <p:nvPr/>
        </p:nvSpPr>
        <p:spPr>
          <a:xfrm>
            <a:off x="7692120" y="219492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1" name=""/>
          <p:cNvSpPr/>
          <p:nvPr/>
        </p:nvSpPr>
        <p:spPr>
          <a:xfrm flipV="1">
            <a:off x="7126920" y="289152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2" name=""/>
          <p:cNvSpPr/>
          <p:nvPr/>
        </p:nvSpPr>
        <p:spPr>
          <a:xfrm flipV="1">
            <a:off x="7450920" y="289188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3" name=""/>
          <p:cNvSpPr/>
          <p:nvPr/>
        </p:nvSpPr>
        <p:spPr>
          <a:xfrm flipV="1">
            <a:off x="7702920" y="289188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4" name=""/>
          <p:cNvSpPr/>
          <p:nvPr/>
        </p:nvSpPr>
        <p:spPr>
          <a:xfrm flipV="1">
            <a:off x="7990920" y="289188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 flipV="1">
            <a:off x="8458920" y="289188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5490360" y="1099080"/>
            <a:ext cx="3200040" cy="137124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1682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5490720" y="2519280"/>
            <a:ext cx="3200040" cy="205704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5983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38" name=""/>
          <p:cNvSpPr/>
          <p:nvPr/>
        </p:nvSpPr>
        <p:spPr>
          <a:xfrm>
            <a:off x="5655600" y="1371600"/>
            <a:ext cx="1828440" cy="54144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Metadata-Cache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440" name="Google Shape;114;p 7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441" name="PlaceHolder 2"/>
          <p:cNvSpPr>
            <a:spLocks noGrp="1"/>
          </p:cNvSpPr>
          <p:nvPr>
            <p:ph type="sldNum" idx="68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CBBAA7-BE6A-492F-92AD-0CD3DBDA8FFC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12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/>
          </p:nvPr>
        </p:nvSpPr>
        <p:spPr>
          <a:xfrm>
            <a:off x="343080" y="606600"/>
            <a:ext cx="3999960" cy="43257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1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Bonsai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merkle trees</a:t>
            </a:r>
            <a:r>
              <a:rPr b="0" lang="en" sz="2100" strike="noStrike" u="none" baseline="33000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[3]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 are built solely over the counters: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Reduces metadata storage requirements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lvl="1" marL="432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</p:txBody>
      </p:sp>
      <p:sp>
        <p:nvSpPr>
          <p:cNvPr id="443" name=""/>
          <p:cNvSpPr/>
          <p:nvPr/>
        </p:nvSpPr>
        <p:spPr>
          <a:xfrm flipV="1">
            <a:off x="7125480" y="371664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44" name=""/>
          <p:cNvSpPr/>
          <p:nvPr/>
        </p:nvSpPr>
        <p:spPr>
          <a:xfrm flipV="1">
            <a:off x="7413840" y="3726360"/>
            <a:ext cx="360" cy="325800"/>
          </a:xfrm>
          <a:prstGeom prst="line">
            <a:avLst/>
          </a:prstGeom>
          <a:ln w="38160">
            <a:solidFill>
              <a:srgbClr val="ff383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45" name=""/>
          <p:cNvSpPr/>
          <p:nvPr/>
        </p:nvSpPr>
        <p:spPr>
          <a:xfrm flipV="1">
            <a:off x="770184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46" name=""/>
          <p:cNvSpPr/>
          <p:nvPr/>
        </p:nvSpPr>
        <p:spPr>
          <a:xfrm flipV="1">
            <a:off x="795384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47" name=""/>
          <p:cNvSpPr/>
          <p:nvPr/>
        </p:nvSpPr>
        <p:spPr>
          <a:xfrm flipV="1">
            <a:off x="842184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448" name=""/>
          <p:cNvSpPr/>
          <p:nvPr/>
        </p:nvSpPr>
        <p:spPr>
          <a:xfrm rot="5400000">
            <a:off x="691164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 rot="5400000">
            <a:off x="719352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 rot="5400000">
            <a:off x="747576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 rot="5400000">
            <a:off x="772236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2" name=""/>
          <p:cNvSpPr/>
          <p:nvPr/>
        </p:nvSpPr>
        <p:spPr>
          <a:xfrm rot="5400000">
            <a:off x="821484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 rot="5400000">
            <a:off x="6869880" y="3282480"/>
            <a:ext cx="529920" cy="22176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4" name=""/>
          <p:cNvSpPr/>
          <p:nvPr/>
        </p:nvSpPr>
        <p:spPr>
          <a:xfrm rot="5400000">
            <a:off x="7158240" y="3282480"/>
            <a:ext cx="529920" cy="221760"/>
          </a:xfrm>
          <a:prstGeom prst="rect">
            <a:avLst/>
          </a:prstGeom>
          <a:solidFill>
            <a:srgbClr val="ff3838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 rot="5400000">
            <a:off x="744624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6" name=""/>
          <p:cNvSpPr/>
          <p:nvPr/>
        </p:nvSpPr>
        <p:spPr>
          <a:xfrm rot="5400000">
            <a:off x="769824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 rot="5400000">
            <a:off x="816624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cntr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8" name=""/>
          <p:cNvSpPr/>
          <p:nvPr/>
        </p:nvSpPr>
        <p:spPr>
          <a:xfrm>
            <a:off x="833616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59" name=""/>
          <p:cNvSpPr/>
          <p:nvPr/>
        </p:nvSpPr>
        <p:spPr>
          <a:xfrm flipV="1">
            <a:off x="7122960" y="288684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0" name=""/>
          <p:cNvSpPr/>
          <p:nvPr/>
        </p:nvSpPr>
        <p:spPr>
          <a:xfrm flipV="1">
            <a:off x="744696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 flipV="1">
            <a:off x="769896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 flipV="1">
            <a:off x="798696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3" name=""/>
          <p:cNvSpPr/>
          <p:nvPr/>
        </p:nvSpPr>
        <p:spPr>
          <a:xfrm flipV="1">
            <a:off x="845496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5486760" y="2514600"/>
            <a:ext cx="3200040" cy="205704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5983b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5" name=""/>
          <p:cNvSpPr/>
          <p:nvPr/>
        </p:nvSpPr>
        <p:spPr>
          <a:xfrm>
            <a:off x="5712480" y="1368000"/>
            <a:ext cx="2749320" cy="107892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5487120" y="1049040"/>
            <a:ext cx="7758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SOC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7696080" y="176760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8" name=""/>
          <p:cNvSpPr/>
          <p:nvPr/>
        </p:nvSpPr>
        <p:spPr>
          <a:xfrm>
            <a:off x="7816680" y="199656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>
            <a:off x="7816680" y="199656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0" name=""/>
          <p:cNvSpPr/>
          <p:nvPr/>
        </p:nvSpPr>
        <p:spPr>
          <a:xfrm flipH="1">
            <a:off x="7323480" y="199656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1" name=""/>
          <p:cNvSpPr/>
          <p:nvPr/>
        </p:nvSpPr>
        <p:spPr>
          <a:xfrm>
            <a:off x="5494320" y="1103760"/>
            <a:ext cx="3200040" cy="1371240"/>
          </a:xfrm>
          <a:prstGeom prst="roundRect">
            <a:avLst>
              <a:gd name="adj" fmla="val 16667"/>
            </a:avLst>
          </a:prstGeom>
          <a:noFill/>
          <a:ln w="18360">
            <a:solidFill>
              <a:srgbClr val="1682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2" name=""/>
          <p:cNvSpPr/>
          <p:nvPr/>
        </p:nvSpPr>
        <p:spPr>
          <a:xfrm>
            <a:off x="5659560" y="1376280"/>
            <a:ext cx="1828440" cy="541440"/>
          </a:xfrm>
          <a:prstGeom prst="rect">
            <a:avLst/>
          </a:prstGeom>
          <a:noFill/>
          <a:ln w="18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Metadata-Cache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 flipH="1">
            <a:off x="7737840" y="238788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4" name=""/>
          <p:cNvSpPr/>
          <p:nvPr/>
        </p:nvSpPr>
        <p:spPr>
          <a:xfrm>
            <a:off x="7806240" y="238788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 flipH="1">
            <a:off x="7161840" y="228600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6" name=""/>
          <p:cNvSpPr/>
          <p:nvPr/>
        </p:nvSpPr>
        <p:spPr>
          <a:xfrm>
            <a:off x="7283520" y="226944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7" name=""/>
          <p:cNvSpPr/>
          <p:nvPr/>
        </p:nvSpPr>
        <p:spPr>
          <a:xfrm>
            <a:off x="8229960" y="228600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8" name=""/>
          <p:cNvSpPr/>
          <p:nvPr/>
        </p:nvSpPr>
        <p:spPr>
          <a:xfrm>
            <a:off x="8128080" y="219960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7192080" y="219960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7696080" y="219960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>
            <a:off x="761616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2" name=""/>
          <p:cNvSpPr/>
          <p:nvPr/>
        </p:nvSpPr>
        <p:spPr>
          <a:xfrm>
            <a:off x="786816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7328160" y="2658240"/>
            <a:ext cx="226800" cy="226800"/>
          </a:xfrm>
          <a:prstGeom prst="ellipse">
            <a:avLst/>
          </a:prstGeom>
          <a:solidFill>
            <a:srgbClr val="ff4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484" name=""/>
          <p:cNvSpPr/>
          <p:nvPr/>
        </p:nvSpPr>
        <p:spPr>
          <a:xfrm>
            <a:off x="7040160" y="265824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6" name="PlaceHolder 2"/>
          <p:cNvSpPr>
            <a:spLocks noGrp="1"/>
          </p:cNvSpPr>
          <p:nvPr>
            <p:ph/>
          </p:nvPr>
        </p:nvSpPr>
        <p:spPr>
          <a:xfrm>
            <a:off x="343080" y="966600"/>
            <a:ext cx="5600160" cy="34869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is one of, if not the only, architecture simulator that supports RISC-V &amp; multi-core simulation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Keystone including PMP tables &amp; checker implementations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Memory encryption engine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implementation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PingFang SC"/>
            </a:endParaRPr>
          </a:p>
        </p:txBody>
      </p:sp>
      <p:cxnSp>
        <p:nvCxnSpPr>
          <p:cNvPr id="487" name="Google Shape;140;p21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488" name="PlaceHolder 3"/>
          <p:cNvSpPr>
            <a:spLocks noGrp="1"/>
          </p:cNvSpPr>
          <p:nvPr>
            <p:ph type="sldNum" idx="69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B1C0E8D-CB3E-442A-8B6C-6DE570FF3E1F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13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5969160" y="3214080"/>
            <a:ext cx="2028960" cy="1218240"/>
          </a:xfrm>
          <a:prstGeom prst="roundRect">
            <a:avLst>
              <a:gd name="adj" fmla="val 16667"/>
            </a:avLst>
          </a:prstGeom>
          <a:solidFill>
            <a:srgbClr val="3faf46"/>
          </a:solidFill>
          <a:ln w="38160">
            <a:solidFill>
              <a:srgbClr val="3fa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490" name=""/>
          <p:cNvSpPr/>
          <p:nvPr/>
        </p:nvSpPr>
        <p:spPr>
          <a:xfrm>
            <a:off x="6166800" y="3620880"/>
            <a:ext cx="1620000" cy="63792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cpp Implementation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1" name=""/>
          <p:cNvSpPr/>
          <p:nvPr/>
        </p:nvSpPr>
        <p:spPr>
          <a:xfrm>
            <a:off x="6221520" y="3283200"/>
            <a:ext cx="1634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Python Wrapper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2" name=""/>
          <p:cNvSpPr/>
          <p:nvPr/>
        </p:nvSpPr>
        <p:spPr>
          <a:xfrm>
            <a:off x="5949720" y="2873880"/>
            <a:ext cx="208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Hardware Description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6112080" y="1034280"/>
            <a:ext cx="1761480" cy="135612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494" name=""/>
          <p:cNvSpPr/>
          <p:nvPr/>
        </p:nvSpPr>
        <p:spPr>
          <a:xfrm>
            <a:off x="6241680" y="1366920"/>
            <a:ext cx="1479240" cy="910440"/>
          </a:xfrm>
          <a:prstGeom prst="roundRect">
            <a:avLst>
              <a:gd name="adj" fmla="val 16667"/>
            </a:avLst>
          </a:prstGeom>
          <a:solidFill>
            <a:srgbClr val="808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Open Sans"/>
              <a:ea typeface="DejaVu Sans"/>
            </a:endParaRPr>
          </a:p>
        </p:txBody>
      </p:sp>
      <p:sp>
        <p:nvSpPr>
          <p:cNvPr id="495" name=""/>
          <p:cNvSpPr/>
          <p:nvPr/>
        </p:nvSpPr>
        <p:spPr>
          <a:xfrm>
            <a:off x="6307920" y="1383120"/>
            <a:ext cx="1173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Config Files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6" name=""/>
          <p:cNvSpPr/>
          <p:nvPr/>
        </p:nvSpPr>
        <p:spPr>
          <a:xfrm>
            <a:off x="6209280" y="1019160"/>
            <a:ext cx="1173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User Space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7" name=""/>
          <p:cNvSpPr/>
          <p:nvPr/>
        </p:nvSpPr>
        <p:spPr>
          <a:xfrm>
            <a:off x="6434280" y="1778040"/>
            <a:ext cx="1126080" cy="41868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Program Binary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8" name=""/>
          <p:cNvSpPr/>
          <p:nvPr/>
        </p:nvSpPr>
        <p:spPr>
          <a:xfrm>
            <a:off x="6986880" y="2394000"/>
            <a:ext cx="360" cy="48276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499" name=""/>
          <p:cNvSpPr/>
          <p:nvPr/>
        </p:nvSpPr>
        <p:spPr>
          <a:xfrm>
            <a:off x="5848200" y="2874240"/>
            <a:ext cx="2298960" cy="163368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Sources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1" name="PlaceHolder 2"/>
          <p:cNvSpPr>
            <a:spLocks noGrp="1"/>
          </p:cNvSpPr>
          <p:nvPr>
            <p:ph/>
          </p:nvPr>
        </p:nvSpPr>
        <p:spPr>
          <a:xfrm>
            <a:off x="343080" y="606600"/>
            <a:ext cx="8307360" cy="441288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[1]</a:t>
            </a: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 Dayeol Lee (2022) Building Trusted Execution Environments. In: </a:t>
            </a:r>
            <a:r>
              <a:rPr b="0" i="1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 dissertation submitted in partial satisfaction of the requirements for the degree of Doctor of Philosophy in Computer Science in the Graduate Division of the University of California, Berkeley</a:t>
            </a: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. 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[2] Chenyu Yan, Brian Rogers, Daniel Englender, et. al. (2006) Improving Cost, Performance, and Security of Memory Encryption and Authentication. In: </a:t>
            </a:r>
            <a:r>
              <a:rPr b="0" i="1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Proceedings of the 33rd International Symposium on Computer Architecture (ISCA’06)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[3] Brian Rogers &amp; Milos Prvulovic (2007) Using address independent seed encryption and bonsai merkle trees to make secure processors OS-and performance-friendly. In: </a:t>
            </a:r>
            <a:r>
              <a:rPr b="0" i="1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40th IEEE/ACM International Symposium on Microarchitecture (MICRO’07)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[4] Zach Moolman &amp; Tamara Silbergleit Lehman (2024) Extending RISC-V Keystone to Include Efficient Secure Memory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r>
              <a:rPr b="0" lang="en" sz="14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[5] The RISC-V Instruction Set Manual: Volume II Privileged Architecture. Version 20240411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502" name="Google Shape;207;p28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503" name="PlaceHolder 3"/>
          <p:cNvSpPr>
            <a:spLocks noGrp="1"/>
          </p:cNvSpPr>
          <p:nvPr>
            <p:ph type="sldNum" idx="70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EAC5004-BD65-485D-A52C-0FA7CC7EBAC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14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4" name="Google Shape;114;p 5"/>
          <p:cNvCxnSpPr/>
          <p:nvPr/>
        </p:nvCxnSpPr>
        <p:spPr>
          <a:xfrm>
            <a:off x="204480" y="721440"/>
            <a:ext cx="8749440" cy="147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505" name="PlaceHolder 1"/>
          <p:cNvSpPr>
            <a:spLocks noGrp="1"/>
          </p:cNvSpPr>
          <p:nvPr>
            <p:ph type="sldNum" idx="71"/>
          </p:nvPr>
        </p:nvSpPr>
        <p:spPr>
          <a:xfrm>
            <a:off x="8472600" y="4633560"/>
            <a:ext cx="534240" cy="37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71AD7C2-4D54-4C3A-A96D-C176D0816C58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15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3720" cy="9086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Where does Secure Memory fit in?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07" name=""/>
          <p:cNvSpPr/>
          <p:nvPr/>
        </p:nvSpPr>
        <p:spPr>
          <a:xfrm>
            <a:off x="5409720" y="2128320"/>
            <a:ext cx="62388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08" name=""/>
          <p:cNvSpPr/>
          <p:nvPr/>
        </p:nvSpPr>
        <p:spPr>
          <a:xfrm>
            <a:off x="5532480" y="2490120"/>
            <a:ext cx="2435760" cy="112032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509" name=""/>
          <p:cNvSpPr/>
          <p:nvPr/>
        </p:nvSpPr>
        <p:spPr>
          <a:xfrm>
            <a:off x="6728040" y="21283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10" name=""/>
          <p:cNvSpPr/>
          <p:nvPr/>
        </p:nvSpPr>
        <p:spPr>
          <a:xfrm flipH="1">
            <a:off x="7405200" y="2128320"/>
            <a:ext cx="77472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11" name=""/>
          <p:cNvSpPr/>
          <p:nvPr/>
        </p:nvSpPr>
        <p:spPr>
          <a:xfrm>
            <a:off x="5884200" y="2978640"/>
            <a:ext cx="2051640" cy="5544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Secure Memory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2" name=""/>
          <p:cNvSpPr/>
          <p:nvPr/>
        </p:nvSpPr>
        <p:spPr>
          <a:xfrm>
            <a:off x="5532480" y="2515680"/>
            <a:ext cx="20095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>
            <a:off x="4566600" y="1049400"/>
            <a:ext cx="4330440" cy="110016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4" name=""/>
          <p:cNvSpPr/>
          <p:nvPr/>
        </p:nvSpPr>
        <p:spPr>
          <a:xfrm>
            <a:off x="4695840" y="1400760"/>
            <a:ext cx="1162080" cy="5472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Application Thread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6175800" y="1400760"/>
            <a:ext cx="1122480" cy="5472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Operating System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6" name=""/>
          <p:cNvSpPr/>
          <p:nvPr/>
        </p:nvSpPr>
        <p:spPr>
          <a:xfrm>
            <a:off x="7586640" y="1400760"/>
            <a:ext cx="1184040" cy="5472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Remote or Cloud User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4720320" y="1051200"/>
            <a:ext cx="4027680" cy="34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Potentially Malicious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18" name=""/>
          <p:cNvSpPr/>
          <p:nvPr/>
        </p:nvSpPr>
        <p:spPr>
          <a:xfrm flipV="1">
            <a:off x="6728760" y="363492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19" name=""/>
          <p:cNvSpPr/>
          <p:nvPr/>
        </p:nvSpPr>
        <p:spPr>
          <a:xfrm>
            <a:off x="5119200" y="3888000"/>
            <a:ext cx="3198240" cy="45432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Storage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0" name="PlaceHolder 9"/>
          <p:cNvSpPr/>
          <p:nvPr/>
        </p:nvSpPr>
        <p:spPr>
          <a:xfrm>
            <a:off x="685800" y="4932000"/>
            <a:ext cx="799848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9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Chenyu Yan, Brian Rogers, Daniel Englender, et al. (2006) Improving Cost, Performance, and Security of Memory Encryption and Authentication. </a:t>
            </a:r>
            <a:r>
              <a:rPr b="0" i="1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(ISCA’06)</a:t>
            </a:r>
            <a:endParaRPr b="0" lang="en-US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21" name="PlaceHolder 10"/>
          <p:cNvSpPr/>
          <p:nvPr/>
        </p:nvSpPr>
        <p:spPr>
          <a:xfrm>
            <a:off x="343080" y="830160"/>
            <a:ext cx="4226400" cy="37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100000"/>
              </a:lnSpc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Secure memory methods protect SoCs against off-chip memory corruption by additionally: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Encrypting / Decrypting protected memory 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Storing and checking an integrity tree to verify data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These checks result in latencies both in encryption and memory 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"/>
          <p:cNvSpPr/>
          <p:nvPr/>
        </p:nvSpPr>
        <p:spPr>
          <a:xfrm flipV="1">
            <a:off x="7125120" y="371664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23" name=""/>
          <p:cNvSpPr/>
          <p:nvPr/>
        </p:nvSpPr>
        <p:spPr>
          <a:xfrm flipV="1">
            <a:off x="741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24" name=""/>
          <p:cNvSpPr/>
          <p:nvPr/>
        </p:nvSpPr>
        <p:spPr>
          <a:xfrm flipV="1">
            <a:off x="770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25" name=""/>
          <p:cNvSpPr/>
          <p:nvPr/>
        </p:nvSpPr>
        <p:spPr>
          <a:xfrm flipV="1">
            <a:off x="795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26" name=""/>
          <p:cNvSpPr/>
          <p:nvPr/>
        </p:nvSpPr>
        <p:spPr>
          <a:xfrm flipV="1">
            <a:off x="842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cxnSp>
        <p:nvCxnSpPr>
          <p:cNvPr id="527" name="Google Shape;114;p 9"/>
          <p:cNvCxnSpPr/>
          <p:nvPr/>
        </p:nvCxnSpPr>
        <p:spPr>
          <a:xfrm>
            <a:off x="204480" y="721440"/>
            <a:ext cx="8749440" cy="147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528" name="PlaceHolder 1"/>
          <p:cNvSpPr>
            <a:spLocks noGrp="1"/>
          </p:cNvSpPr>
          <p:nvPr>
            <p:ph type="sldNum" idx="72"/>
          </p:nvPr>
        </p:nvSpPr>
        <p:spPr>
          <a:xfrm>
            <a:off x="8472600" y="4633560"/>
            <a:ext cx="534240" cy="37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2EE465E-6671-41C2-BE6F-E8AA9D4AF69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16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29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3720" cy="9086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Incurs Latency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0" name=""/>
          <p:cNvSpPr/>
          <p:nvPr/>
        </p:nvSpPr>
        <p:spPr>
          <a:xfrm>
            <a:off x="5532480" y="942120"/>
            <a:ext cx="2435760" cy="112032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531" name=""/>
          <p:cNvSpPr/>
          <p:nvPr/>
        </p:nvSpPr>
        <p:spPr>
          <a:xfrm>
            <a:off x="5884200" y="1430640"/>
            <a:ext cx="2051640" cy="5544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Secure Memory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2" name=""/>
          <p:cNvSpPr/>
          <p:nvPr/>
        </p:nvSpPr>
        <p:spPr>
          <a:xfrm>
            <a:off x="4927320" y="1039680"/>
            <a:ext cx="3163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3" name=""/>
          <p:cNvSpPr/>
          <p:nvPr/>
        </p:nvSpPr>
        <p:spPr>
          <a:xfrm>
            <a:off x="5407200" y="3888000"/>
            <a:ext cx="3198240" cy="45432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4" name="PlaceHolder 15"/>
          <p:cNvSpPr/>
          <p:nvPr/>
        </p:nvSpPr>
        <p:spPr>
          <a:xfrm>
            <a:off x="685800" y="4932000"/>
            <a:ext cx="799848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9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Chenyu Yan, Brian Rogers, Daniel Englender, et al. (2006) Improving Cost, Performance, and Security of Memory Encryption and Authentication. </a:t>
            </a:r>
            <a:r>
              <a:rPr b="0" i="1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(ISCA’06)</a:t>
            </a:r>
            <a:endParaRPr b="0" lang="en-US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5" name=""/>
          <p:cNvSpPr/>
          <p:nvPr/>
        </p:nvSpPr>
        <p:spPr>
          <a:xfrm>
            <a:off x="7687800" y="175824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6" name="PlaceHolder 16"/>
          <p:cNvSpPr/>
          <p:nvPr/>
        </p:nvSpPr>
        <p:spPr>
          <a:xfrm>
            <a:off x="343080" y="830160"/>
            <a:ext cx="4912920" cy="37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An integrity tree, or Merkle tree, is simply a hash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Each parent is the hash of its children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Root is kept on-chip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On a memory fetch, the core must additionally: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Check that the data hash matches a leaf and the parent has not been tampered with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Recursively check each node up to the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7" name=""/>
          <p:cNvSpPr/>
          <p:nvPr/>
        </p:nvSpPr>
        <p:spPr>
          <a:xfrm rot="5400000">
            <a:off x="691128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8" name=""/>
          <p:cNvSpPr/>
          <p:nvPr/>
        </p:nvSpPr>
        <p:spPr>
          <a:xfrm rot="5400000">
            <a:off x="719316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 rot="5400000">
            <a:off x="747540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0" name=""/>
          <p:cNvSpPr/>
          <p:nvPr/>
        </p:nvSpPr>
        <p:spPr>
          <a:xfrm rot="5400000">
            <a:off x="772200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1" name=""/>
          <p:cNvSpPr/>
          <p:nvPr/>
        </p:nvSpPr>
        <p:spPr>
          <a:xfrm rot="5400000">
            <a:off x="821448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2" name=""/>
          <p:cNvSpPr/>
          <p:nvPr/>
        </p:nvSpPr>
        <p:spPr>
          <a:xfrm>
            <a:off x="7808400" y="198720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3" name=""/>
          <p:cNvSpPr/>
          <p:nvPr/>
        </p:nvSpPr>
        <p:spPr>
          <a:xfrm>
            <a:off x="7808400" y="198720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4" name=""/>
          <p:cNvSpPr/>
          <p:nvPr/>
        </p:nvSpPr>
        <p:spPr>
          <a:xfrm flipH="1">
            <a:off x="7315200" y="198720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5" name=""/>
          <p:cNvSpPr/>
          <p:nvPr/>
        </p:nvSpPr>
        <p:spPr>
          <a:xfrm flipH="1">
            <a:off x="7737480" y="238788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6" name=""/>
          <p:cNvSpPr/>
          <p:nvPr/>
        </p:nvSpPr>
        <p:spPr>
          <a:xfrm>
            <a:off x="761580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7" name=""/>
          <p:cNvSpPr/>
          <p:nvPr/>
        </p:nvSpPr>
        <p:spPr>
          <a:xfrm rot="5400000">
            <a:off x="686952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8" name=""/>
          <p:cNvSpPr/>
          <p:nvPr/>
        </p:nvSpPr>
        <p:spPr>
          <a:xfrm rot="5400000">
            <a:off x="715788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9" name=""/>
          <p:cNvSpPr/>
          <p:nvPr/>
        </p:nvSpPr>
        <p:spPr>
          <a:xfrm rot="5400000">
            <a:off x="744588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0" name=""/>
          <p:cNvSpPr/>
          <p:nvPr/>
        </p:nvSpPr>
        <p:spPr>
          <a:xfrm rot="5400000">
            <a:off x="769788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1" name=""/>
          <p:cNvSpPr/>
          <p:nvPr/>
        </p:nvSpPr>
        <p:spPr>
          <a:xfrm rot="5400000">
            <a:off x="816588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2" name=""/>
          <p:cNvSpPr/>
          <p:nvPr/>
        </p:nvSpPr>
        <p:spPr>
          <a:xfrm>
            <a:off x="7805880" y="238788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3" name=""/>
          <p:cNvSpPr/>
          <p:nvPr/>
        </p:nvSpPr>
        <p:spPr>
          <a:xfrm>
            <a:off x="786780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4" name=""/>
          <p:cNvSpPr/>
          <p:nvPr/>
        </p:nvSpPr>
        <p:spPr>
          <a:xfrm flipH="1">
            <a:off x="7161480" y="228600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5" name=""/>
          <p:cNvSpPr/>
          <p:nvPr/>
        </p:nvSpPr>
        <p:spPr>
          <a:xfrm>
            <a:off x="7283160" y="226944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6" name=""/>
          <p:cNvSpPr/>
          <p:nvPr/>
        </p:nvSpPr>
        <p:spPr>
          <a:xfrm>
            <a:off x="8229600" y="228600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8119800" y="2190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8" name=""/>
          <p:cNvSpPr/>
          <p:nvPr/>
        </p:nvSpPr>
        <p:spPr>
          <a:xfrm>
            <a:off x="732780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59" name=""/>
          <p:cNvSpPr/>
          <p:nvPr/>
        </p:nvSpPr>
        <p:spPr>
          <a:xfrm>
            <a:off x="833580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0" name=""/>
          <p:cNvSpPr/>
          <p:nvPr/>
        </p:nvSpPr>
        <p:spPr>
          <a:xfrm>
            <a:off x="703980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1" name=""/>
          <p:cNvSpPr/>
          <p:nvPr/>
        </p:nvSpPr>
        <p:spPr>
          <a:xfrm>
            <a:off x="7183800" y="2190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2" name=""/>
          <p:cNvSpPr/>
          <p:nvPr/>
        </p:nvSpPr>
        <p:spPr>
          <a:xfrm>
            <a:off x="7687800" y="2190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3" name=""/>
          <p:cNvSpPr/>
          <p:nvPr/>
        </p:nvSpPr>
        <p:spPr>
          <a:xfrm flipV="1">
            <a:off x="7122600" y="288684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4" name=""/>
          <p:cNvSpPr/>
          <p:nvPr/>
        </p:nvSpPr>
        <p:spPr>
          <a:xfrm flipV="1">
            <a:off x="744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5" name=""/>
          <p:cNvSpPr/>
          <p:nvPr/>
        </p:nvSpPr>
        <p:spPr>
          <a:xfrm flipV="1">
            <a:off x="7698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6" name=""/>
          <p:cNvSpPr/>
          <p:nvPr/>
        </p:nvSpPr>
        <p:spPr>
          <a:xfrm flipV="1">
            <a:off x="798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67" name=""/>
          <p:cNvSpPr/>
          <p:nvPr/>
        </p:nvSpPr>
        <p:spPr>
          <a:xfrm flipV="1">
            <a:off x="8454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"/>
          <p:cNvSpPr/>
          <p:nvPr/>
        </p:nvSpPr>
        <p:spPr>
          <a:xfrm flipV="1">
            <a:off x="7125120" y="371664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69" name=""/>
          <p:cNvSpPr/>
          <p:nvPr/>
        </p:nvSpPr>
        <p:spPr>
          <a:xfrm flipV="1">
            <a:off x="741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70" name=""/>
          <p:cNvSpPr/>
          <p:nvPr/>
        </p:nvSpPr>
        <p:spPr>
          <a:xfrm flipV="1">
            <a:off x="770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71" name=""/>
          <p:cNvSpPr/>
          <p:nvPr/>
        </p:nvSpPr>
        <p:spPr>
          <a:xfrm flipV="1">
            <a:off x="795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572" name=""/>
          <p:cNvSpPr/>
          <p:nvPr/>
        </p:nvSpPr>
        <p:spPr>
          <a:xfrm flipV="1">
            <a:off x="842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cxnSp>
        <p:nvCxnSpPr>
          <p:cNvPr id="573" name="Google Shape;114;p 10"/>
          <p:cNvCxnSpPr/>
          <p:nvPr/>
        </p:nvCxnSpPr>
        <p:spPr>
          <a:xfrm>
            <a:off x="204480" y="721440"/>
            <a:ext cx="8749440" cy="147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574" name="PlaceHolder 1"/>
          <p:cNvSpPr>
            <a:spLocks noGrp="1"/>
          </p:cNvSpPr>
          <p:nvPr>
            <p:ph type="sldNum" idx="73"/>
          </p:nvPr>
        </p:nvSpPr>
        <p:spPr>
          <a:xfrm>
            <a:off x="8472600" y="4633560"/>
            <a:ext cx="534240" cy="37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F74FBE-E427-42FC-BBA7-6BBF82865FD2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17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75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3720" cy="9086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Incurs Latency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6" name=""/>
          <p:cNvSpPr/>
          <p:nvPr/>
        </p:nvSpPr>
        <p:spPr>
          <a:xfrm>
            <a:off x="5532480" y="942120"/>
            <a:ext cx="2435760" cy="112032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577" name=""/>
          <p:cNvSpPr/>
          <p:nvPr/>
        </p:nvSpPr>
        <p:spPr>
          <a:xfrm>
            <a:off x="5884200" y="1430640"/>
            <a:ext cx="2051640" cy="5544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Secure Memory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8" name=""/>
          <p:cNvSpPr/>
          <p:nvPr/>
        </p:nvSpPr>
        <p:spPr>
          <a:xfrm>
            <a:off x="4927320" y="1039680"/>
            <a:ext cx="3163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79" name=""/>
          <p:cNvSpPr/>
          <p:nvPr/>
        </p:nvSpPr>
        <p:spPr>
          <a:xfrm>
            <a:off x="5407200" y="3888000"/>
            <a:ext cx="3198240" cy="45432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0" name="PlaceHolder 22"/>
          <p:cNvSpPr/>
          <p:nvPr/>
        </p:nvSpPr>
        <p:spPr>
          <a:xfrm>
            <a:off x="685800" y="4932000"/>
            <a:ext cx="799848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9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Chenyu Yan, Brian Rogers, Daniel Englender, et al. (2006) Improving Cost, Performance, and Security of Memory Encryption and Authentication. </a:t>
            </a:r>
            <a:r>
              <a:rPr b="0" i="1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(ISCA’06)</a:t>
            </a:r>
            <a:endParaRPr b="0" lang="en-US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1" name=""/>
          <p:cNvSpPr/>
          <p:nvPr/>
        </p:nvSpPr>
        <p:spPr>
          <a:xfrm>
            <a:off x="7687800" y="175824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2" name="PlaceHolder 23"/>
          <p:cNvSpPr/>
          <p:nvPr/>
        </p:nvSpPr>
        <p:spPr>
          <a:xfrm>
            <a:off x="343080" y="830160"/>
            <a:ext cx="4912920" cy="37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An integrity tree, or Merkle tree, is simply a hash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Each parent is the hash of its children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Root is kept on-chip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On a memory fetch, the core must additionally: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Check that the data hash matches a leaf and the parent has not been tampered with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Recursively check each node up to the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3" name=""/>
          <p:cNvSpPr/>
          <p:nvPr/>
        </p:nvSpPr>
        <p:spPr>
          <a:xfrm rot="5400000">
            <a:off x="691128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4" name=""/>
          <p:cNvSpPr/>
          <p:nvPr/>
        </p:nvSpPr>
        <p:spPr>
          <a:xfrm rot="5400000">
            <a:off x="719316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5" name=""/>
          <p:cNvSpPr/>
          <p:nvPr/>
        </p:nvSpPr>
        <p:spPr>
          <a:xfrm rot="5400000">
            <a:off x="747540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6" name=""/>
          <p:cNvSpPr/>
          <p:nvPr/>
        </p:nvSpPr>
        <p:spPr>
          <a:xfrm rot="5400000">
            <a:off x="772200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7" name=""/>
          <p:cNvSpPr/>
          <p:nvPr/>
        </p:nvSpPr>
        <p:spPr>
          <a:xfrm rot="5400000">
            <a:off x="821448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8" name=""/>
          <p:cNvSpPr/>
          <p:nvPr/>
        </p:nvSpPr>
        <p:spPr>
          <a:xfrm>
            <a:off x="7808400" y="198720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89" name=""/>
          <p:cNvSpPr/>
          <p:nvPr/>
        </p:nvSpPr>
        <p:spPr>
          <a:xfrm>
            <a:off x="7808400" y="198720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0" name=""/>
          <p:cNvSpPr/>
          <p:nvPr/>
        </p:nvSpPr>
        <p:spPr>
          <a:xfrm flipH="1">
            <a:off x="7315200" y="198720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1" name=""/>
          <p:cNvSpPr/>
          <p:nvPr/>
        </p:nvSpPr>
        <p:spPr>
          <a:xfrm flipH="1">
            <a:off x="7737480" y="238788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2" name=""/>
          <p:cNvSpPr/>
          <p:nvPr/>
        </p:nvSpPr>
        <p:spPr>
          <a:xfrm>
            <a:off x="761580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3" name=""/>
          <p:cNvSpPr/>
          <p:nvPr/>
        </p:nvSpPr>
        <p:spPr>
          <a:xfrm rot="5400000">
            <a:off x="6869520" y="3282480"/>
            <a:ext cx="529920" cy="22176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4" name=""/>
          <p:cNvSpPr/>
          <p:nvPr/>
        </p:nvSpPr>
        <p:spPr>
          <a:xfrm rot="5400000">
            <a:off x="715788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5" name=""/>
          <p:cNvSpPr/>
          <p:nvPr/>
        </p:nvSpPr>
        <p:spPr>
          <a:xfrm rot="5400000">
            <a:off x="744588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6" name=""/>
          <p:cNvSpPr/>
          <p:nvPr/>
        </p:nvSpPr>
        <p:spPr>
          <a:xfrm rot="5400000">
            <a:off x="769788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7" name=""/>
          <p:cNvSpPr/>
          <p:nvPr/>
        </p:nvSpPr>
        <p:spPr>
          <a:xfrm rot="5400000">
            <a:off x="816588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8" name=""/>
          <p:cNvSpPr/>
          <p:nvPr/>
        </p:nvSpPr>
        <p:spPr>
          <a:xfrm>
            <a:off x="7805880" y="238788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99" name=""/>
          <p:cNvSpPr/>
          <p:nvPr/>
        </p:nvSpPr>
        <p:spPr>
          <a:xfrm>
            <a:off x="786780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0" name=""/>
          <p:cNvSpPr/>
          <p:nvPr/>
        </p:nvSpPr>
        <p:spPr>
          <a:xfrm flipH="1">
            <a:off x="7161480" y="228600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1" name=""/>
          <p:cNvSpPr/>
          <p:nvPr/>
        </p:nvSpPr>
        <p:spPr>
          <a:xfrm>
            <a:off x="7283160" y="226944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2" name=""/>
          <p:cNvSpPr/>
          <p:nvPr/>
        </p:nvSpPr>
        <p:spPr>
          <a:xfrm>
            <a:off x="8229600" y="228600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3" name=""/>
          <p:cNvSpPr/>
          <p:nvPr/>
        </p:nvSpPr>
        <p:spPr>
          <a:xfrm>
            <a:off x="8119800" y="2190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4" name=""/>
          <p:cNvSpPr/>
          <p:nvPr/>
        </p:nvSpPr>
        <p:spPr>
          <a:xfrm>
            <a:off x="732780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5" name=""/>
          <p:cNvSpPr/>
          <p:nvPr/>
        </p:nvSpPr>
        <p:spPr>
          <a:xfrm>
            <a:off x="833580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6" name=""/>
          <p:cNvSpPr/>
          <p:nvPr/>
        </p:nvSpPr>
        <p:spPr>
          <a:xfrm>
            <a:off x="7039800" y="265824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7" name=""/>
          <p:cNvSpPr/>
          <p:nvPr/>
        </p:nvSpPr>
        <p:spPr>
          <a:xfrm>
            <a:off x="7183800" y="2190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8" name=""/>
          <p:cNvSpPr/>
          <p:nvPr/>
        </p:nvSpPr>
        <p:spPr>
          <a:xfrm>
            <a:off x="7687800" y="2190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09" name=""/>
          <p:cNvSpPr/>
          <p:nvPr/>
        </p:nvSpPr>
        <p:spPr>
          <a:xfrm flipV="1">
            <a:off x="7122600" y="288684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0" name=""/>
          <p:cNvSpPr/>
          <p:nvPr/>
        </p:nvSpPr>
        <p:spPr>
          <a:xfrm flipV="1">
            <a:off x="744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1" name=""/>
          <p:cNvSpPr/>
          <p:nvPr/>
        </p:nvSpPr>
        <p:spPr>
          <a:xfrm flipV="1">
            <a:off x="7698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2" name=""/>
          <p:cNvSpPr/>
          <p:nvPr/>
        </p:nvSpPr>
        <p:spPr>
          <a:xfrm flipV="1">
            <a:off x="798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13" name=""/>
          <p:cNvSpPr/>
          <p:nvPr/>
        </p:nvSpPr>
        <p:spPr>
          <a:xfrm flipV="1">
            <a:off x="8454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"/>
          <p:cNvSpPr/>
          <p:nvPr/>
        </p:nvSpPr>
        <p:spPr>
          <a:xfrm flipV="1">
            <a:off x="7125120" y="3716640"/>
            <a:ext cx="360" cy="325800"/>
          </a:xfrm>
          <a:prstGeom prst="line">
            <a:avLst/>
          </a:prstGeom>
          <a:ln w="38160">
            <a:solidFill>
              <a:srgbClr val="77bc6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15" name=""/>
          <p:cNvSpPr/>
          <p:nvPr/>
        </p:nvSpPr>
        <p:spPr>
          <a:xfrm flipV="1">
            <a:off x="741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16" name=""/>
          <p:cNvSpPr/>
          <p:nvPr/>
        </p:nvSpPr>
        <p:spPr>
          <a:xfrm flipV="1">
            <a:off x="770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17" name=""/>
          <p:cNvSpPr/>
          <p:nvPr/>
        </p:nvSpPr>
        <p:spPr>
          <a:xfrm flipV="1">
            <a:off x="7953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18" name=""/>
          <p:cNvSpPr/>
          <p:nvPr/>
        </p:nvSpPr>
        <p:spPr>
          <a:xfrm flipV="1">
            <a:off x="8421480" y="3726360"/>
            <a:ext cx="360" cy="32580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cxnSp>
        <p:nvCxnSpPr>
          <p:cNvPr id="619" name="Google Shape;114;p 11"/>
          <p:cNvCxnSpPr/>
          <p:nvPr/>
        </p:nvCxnSpPr>
        <p:spPr>
          <a:xfrm>
            <a:off x="204480" y="721440"/>
            <a:ext cx="8749440" cy="147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20" name="PlaceHolder 1"/>
          <p:cNvSpPr>
            <a:spLocks noGrp="1"/>
          </p:cNvSpPr>
          <p:nvPr>
            <p:ph type="sldNum" idx="74"/>
          </p:nvPr>
        </p:nvSpPr>
        <p:spPr>
          <a:xfrm>
            <a:off x="8472600" y="4633560"/>
            <a:ext cx="534240" cy="37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01FD228-7FA5-4543-B8F6-96068CF1B571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18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21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3720" cy="9086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Incurs Latency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2" name=""/>
          <p:cNvSpPr/>
          <p:nvPr/>
        </p:nvSpPr>
        <p:spPr>
          <a:xfrm>
            <a:off x="5532480" y="942120"/>
            <a:ext cx="2435760" cy="112032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623" name=""/>
          <p:cNvSpPr/>
          <p:nvPr/>
        </p:nvSpPr>
        <p:spPr>
          <a:xfrm>
            <a:off x="5884200" y="1430640"/>
            <a:ext cx="2051640" cy="5544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Secure Memory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4" name=""/>
          <p:cNvSpPr/>
          <p:nvPr/>
        </p:nvSpPr>
        <p:spPr>
          <a:xfrm>
            <a:off x="4927320" y="1039680"/>
            <a:ext cx="3163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5" name=""/>
          <p:cNvSpPr/>
          <p:nvPr/>
        </p:nvSpPr>
        <p:spPr>
          <a:xfrm>
            <a:off x="5407200" y="3888000"/>
            <a:ext cx="3198240" cy="45432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6" name="PlaceHolder 29"/>
          <p:cNvSpPr/>
          <p:nvPr/>
        </p:nvSpPr>
        <p:spPr>
          <a:xfrm>
            <a:off x="685800" y="4932000"/>
            <a:ext cx="799848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177840">
              <a:lnSpc>
                <a:spcPct val="90000"/>
              </a:lnSpc>
              <a:spcBef>
                <a:spcPts val="1199"/>
              </a:spcBef>
              <a:tabLst>
                <a:tab algn="l" pos="0"/>
              </a:tabLst>
            </a:pPr>
            <a:r>
              <a:rPr b="0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Chenyu Yan, Brian Rogers, Daniel Englender, et al. (2006) Improving Cost, Performance, and Security of Memory Encryption and Authentication. </a:t>
            </a:r>
            <a:r>
              <a:rPr b="0" i="1" lang="en" sz="9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(ISCA’06)</a:t>
            </a:r>
            <a:endParaRPr b="0" lang="en-US" sz="9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7" name=""/>
          <p:cNvSpPr/>
          <p:nvPr/>
        </p:nvSpPr>
        <p:spPr>
          <a:xfrm>
            <a:off x="7687800" y="175824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8" name="PlaceHolder 30"/>
          <p:cNvSpPr/>
          <p:nvPr/>
        </p:nvSpPr>
        <p:spPr>
          <a:xfrm>
            <a:off x="343080" y="830160"/>
            <a:ext cx="4912920" cy="37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An integrity tree, or Merkle tree, is simply a hash tree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Each parent is the hash of its children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Root is kept on-chip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On a memory fetch, the core must additionally: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Check that the data hash matches a leaf and the parent has not been tampered with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Recursively check each node up to the root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29" name=""/>
          <p:cNvSpPr/>
          <p:nvPr/>
        </p:nvSpPr>
        <p:spPr>
          <a:xfrm rot="5400000">
            <a:off x="691128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0" name=""/>
          <p:cNvSpPr/>
          <p:nvPr/>
        </p:nvSpPr>
        <p:spPr>
          <a:xfrm rot="5400000">
            <a:off x="719316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1" name=""/>
          <p:cNvSpPr/>
          <p:nvPr/>
        </p:nvSpPr>
        <p:spPr>
          <a:xfrm rot="5400000">
            <a:off x="747540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2" name=""/>
          <p:cNvSpPr/>
          <p:nvPr/>
        </p:nvSpPr>
        <p:spPr>
          <a:xfrm rot="5400000">
            <a:off x="772200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3" name=""/>
          <p:cNvSpPr/>
          <p:nvPr/>
        </p:nvSpPr>
        <p:spPr>
          <a:xfrm rot="5400000">
            <a:off x="8214480" y="4008600"/>
            <a:ext cx="4453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data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4" name=""/>
          <p:cNvSpPr/>
          <p:nvPr/>
        </p:nvSpPr>
        <p:spPr>
          <a:xfrm>
            <a:off x="7808400" y="1987200"/>
            <a:ext cx="360" cy="419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5" name=""/>
          <p:cNvSpPr/>
          <p:nvPr/>
        </p:nvSpPr>
        <p:spPr>
          <a:xfrm>
            <a:off x="7808400" y="1987200"/>
            <a:ext cx="421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6" name=""/>
          <p:cNvSpPr/>
          <p:nvPr/>
        </p:nvSpPr>
        <p:spPr>
          <a:xfrm flipH="1">
            <a:off x="7315200" y="1987200"/>
            <a:ext cx="493200" cy="2030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7" name=""/>
          <p:cNvSpPr/>
          <p:nvPr/>
        </p:nvSpPr>
        <p:spPr>
          <a:xfrm flipH="1">
            <a:off x="7737480" y="2387880"/>
            <a:ext cx="68400" cy="3520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8" name=""/>
          <p:cNvSpPr/>
          <p:nvPr/>
        </p:nvSpPr>
        <p:spPr>
          <a:xfrm>
            <a:off x="761580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39" name=""/>
          <p:cNvSpPr/>
          <p:nvPr/>
        </p:nvSpPr>
        <p:spPr>
          <a:xfrm rot="5400000">
            <a:off x="6869520" y="3282480"/>
            <a:ext cx="529920" cy="22176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0" name=""/>
          <p:cNvSpPr/>
          <p:nvPr/>
        </p:nvSpPr>
        <p:spPr>
          <a:xfrm rot="5400000">
            <a:off x="715788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1" name=""/>
          <p:cNvSpPr/>
          <p:nvPr/>
        </p:nvSpPr>
        <p:spPr>
          <a:xfrm rot="5400000">
            <a:off x="744588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2" name=""/>
          <p:cNvSpPr/>
          <p:nvPr/>
        </p:nvSpPr>
        <p:spPr>
          <a:xfrm rot="5400000">
            <a:off x="769788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3" name=""/>
          <p:cNvSpPr/>
          <p:nvPr/>
        </p:nvSpPr>
        <p:spPr>
          <a:xfrm rot="5400000">
            <a:off x="8165880" y="3282480"/>
            <a:ext cx="529920" cy="221760"/>
          </a:xfrm>
          <a:prstGeom prst="rect">
            <a:avLst/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trike="noStrike" u="none">
                <a:solidFill>
                  <a:srgbClr val="000000"/>
                </a:solidFill>
                <a:uFillTx/>
                <a:latin typeface="Arial"/>
              </a:rPr>
              <a:t>hash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4" name=""/>
          <p:cNvSpPr/>
          <p:nvPr/>
        </p:nvSpPr>
        <p:spPr>
          <a:xfrm>
            <a:off x="7805880" y="2387880"/>
            <a:ext cx="195120" cy="35532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5" name=""/>
          <p:cNvSpPr/>
          <p:nvPr/>
        </p:nvSpPr>
        <p:spPr>
          <a:xfrm>
            <a:off x="786780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6" name=""/>
          <p:cNvSpPr/>
          <p:nvPr/>
        </p:nvSpPr>
        <p:spPr>
          <a:xfrm flipH="1">
            <a:off x="7161480" y="2286000"/>
            <a:ext cx="153720" cy="408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7" name=""/>
          <p:cNvSpPr/>
          <p:nvPr/>
        </p:nvSpPr>
        <p:spPr>
          <a:xfrm>
            <a:off x="7283160" y="2269440"/>
            <a:ext cx="149400" cy="48888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8" name=""/>
          <p:cNvSpPr/>
          <p:nvPr/>
        </p:nvSpPr>
        <p:spPr>
          <a:xfrm>
            <a:off x="8229600" y="2286000"/>
            <a:ext cx="211320" cy="37224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49" name=""/>
          <p:cNvSpPr/>
          <p:nvPr/>
        </p:nvSpPr>
        <p:spPr>
          <a:xfrm>
            <a:off x="8119800" y="2190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0" name=""/>
          <p:cNvSpPr/>
          <p:nvPr/>
        </p:nvSpPr>
        <p:spPr>
          <a:xfrm>
            <a:off x="7327800" y="2658240"/>
            <a:ext cx="226800" cy="226800"/>
          </a:xfrm>
          <a:prstGeom prst="ellipse">
            <a:avLst/>
          </a:prstGeom>
          <a:solidFill>
            <a:srgbClr val="ff400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651" name=""/>
          <p:cNvSpPr/>
          <p:nvPr/>
        </p:nvSpPr>
        <p:spPr>
          <a:xfrm>
            <a:off x="8335800" y="2658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2" name=""/>
          <p:cNvSpPr/>
          <p:nvPr/>
        </p:nvSpPr>
        <p:spPr>
          <a:xfrm>
            <a:off x="7039800" y="265824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3" name=""/>
          <p:cNvSpPr/>
          <p:nvPr/>
        </p:nvSpPr>
        <p:spPr>
          <a:xfrm>
            <a:off x="7183800" y="2190240"/>
            <a:ext cx="226800" cy="226800"/>
          </a:xfrm>
          <a:prstGeom prst="ellipse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4" name=""/>
          <p:cNvSpPr/>
          <p:nvPr/>
        </p:nvSpPr>
        <p:spPr>
          <a:xfrm>
            <a:off x="7687800" y="2190240"/>
            <a:ext cx="226800" cy="226800"/>
          </a:xfrm>
          <a:prstGeom prst="ellipse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5" name=""/>
          <p:cNvSpPr/>
          <p:nvPr/>
        </p:nvSpPr>
        <p:spPr>
          <a:xfrm flipV="1">
            <a:off x="7122600" y="288684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6" name=""/>
          <p:cNvSpPr/>
          <p:nvPr/>
        </p:nvSpPr>
        <p:spPr>
          <a:xfrm flipV="1">
            <a:off x="744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7" name=""/>
          <p:cNvSpPr/>
          <p:nvPr/>
        </p:nvSpPr>
        <p:spPr>
          <a:xfrm flipV="1">
            <a:off x="7698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8" name=""/>
          <p:cNvSpPr/>
          <p:nvPr/>
        </p:nvSpPr>
        <p:spPr>
          <a:xfrm flipV="1">
            <a:off x="7986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9" name=""/>
          <p:cNvSpPr/>
          <p:nvPr/>
        </p:nvSpPr>
        <p:spPr>
          <a:xfrm flipV="1">
            <a:off x="8454600" y="2887200"/>
            <a:ext cx="360" cy="2415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0" name="Google Shape;114;p 12"/>
          <p:cNvCxnSpPr/>
          <p:nvPr/>
        </p:nvCxnSpPr>
        <p:spPr>
          <a:xfrm>
            <a:off x="204480" y="721440"/>
            <a:ext cx="8749440" cy="147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61" name="PlaceHolder 1"/>
          <p:cNvSpPr>
            <a:spLocks noGrp="1"/>
          </p:cNvSpPr>
          <p:nvPr>
            <p:ph type="sldNum" idx="75"/>
          </p:nvPr>
        </p:nvSpPr>
        <p:spPr>
          <a:xfrm>
            <a:off x="8472600" y="4633560"/>
            <a:ext cx="534240" cy="37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1D46439-95FE-467A-B4BD-5189308AFDB4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19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62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3720" cy="9086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Keystone Memory Isolation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3" name="PlaceHolder 36"/>
          <p:cNvSpPr/>
          <p:nvPr/>
        </p:nvSpPr>
        <p:spPr>
          <a:xfrm>
            <a:off x="343080" y="830160"/>
            <a:ext cx="4912920" cy="37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On boot, the Security Monitor (SM) sets up a component called the Physical Memory Protections (PMP) Table: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Divides memory and assigns to modes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Resides in each core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If a memory request from an application does not have access, it is denied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4" name=""/>
          <p:cNvSpPr/>
          <p:nvPr/>
        </p:nvSpPr>
        <p:spPr>
          <a:xfrm>
            <a:off x="6001560" y="2021400"/>
            <a:ext cx="550080" cy="32544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65" name=""/>
          <p:cNvSpPr/>
          <p:nvPr/>
        </p:nvSpPr>
        <p:spPr>
          <a:xfrm>
            <a:off x="6109920" y="2382840"/>
            <a:ext cx="2148120" cy="127296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666" name=""/>
          <p:cNvSpPr/>
          <p:nvPr/>
        </p:nvSpPr>
        <p:spPr>
          <a:xfrm>
            <a:off x="7164360" y="2021400"/>
            <a:ext cx="360" cy="32544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67" name=""/>
          <p:cNvSpPr/>
          <p:nvPr/>
        </p:nvSpPr>
        <p:spPr>
          <a:xfrm flipH="1">
            <a:off x="7761600" y="2021400"/>
            <a:ext cx="683280" cy="32544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668" name=""/>
          <p:cNvSpPr/>
          <p:nvPr/>
        </p:nvSpPr>
        <p:spPr>
          <a:xfrm>
            <a:off x="6109920" y="2408400"/>
            <a:ext cx="17722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69" name=""/>
          <p:cNvSpPr/>
          <p:nvPr/>
        </p:nvSpPr>
        <p:spPr>
          <a:xfrm>
            <a:off x="5257800" y="943200"/>
            <a:ext cx="3819600" cy="108900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0" name=""/>
          <p:cNvSpPr/>
          <p:nvPr/>
        </p:nvSpPr>
        <p:spPr>
          <a:xfrm>
            <a:off x="5371920" y="1294200"/>
            <a:ext cx="1024560" cy="5468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Application Thread</a:t>
            </a:r>
            <a:endParaRPr b="0" lang="en-U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1" name=""/>
          <p:cNvSpPr/>
          <p:nvPr/>
        </p:nvSpPr>
        <p:spPr>
          <a:xfrm>
            <a:off x="6677280" y="1294200"/>
            <a:ext cx="990000" cy="5468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Operating System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2" name=""/>
          <p:cNvSpPr/>
          <p:nvPr/>
        </p:nvSpPr>
        <p:spPr>
          <a:xfrm>
            <a:off x="7921800" y="1294200"/>
            <a:ext cx="1044000" cy="54684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Remote or Cloud User</a:t>
            </a:r>
            <a:endParaRPr b="0" lang="en-U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3" name=""/>
          <p:cNvSpPr/>
          <p:nvPr/>
        </p:nvSpPr>
        <p:spPr>
          <a:xfrm>
            <a:off x="5393520" y="945000"/>
            <a:ext cx="3552480" cy="34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Potentially Malicious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4" name="PlaceHolder 37"/>
          <p:cNvSpPr/>
          <p:nvPr/>
        </p:nvSpPr>
        <p:spPr>
          <a:xfrm>
            <a:off x="228960" y="4932000"/>
            <a:ext cx="868428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 algn="ctr">
              <a:lnSpc>
                <a:spcPct val="110000"/>
              </a:lnSpc>
              <a:tabLst>
                <a:tab algn="l" pos="0"/>
              </a:tabLst>
            </a:pPr>
            <a:r>
              <a:rPr b="0" lang="en-US" sz="800" strike="noStrike" u="none">
                <a:solidFill>
                  <a:schemeClr val="dk1"/>
                </a:solidFill>
                <a:uFillTx/>
                <a:latin typeface="Open Sans"/>
                <a:ea typeface="Open Sans"/>
              </a:rPr>
              <a:t>Dayeol Lee, David Kohlbrenner, Shweta Shinde, Krste Asanovic, and Dawn Song, Keystone: An Open Framework for Architecting Trusted Execution Environments, EuroSys 2020.</a:t>
            </a:r>
            <a:endParaRPr b="0" lang="en-US" sz="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5" name=""/>
          <p:cNvSpPr/>
          <p:nvPr/>
        </p:nvSpPr>
        <p:spPr>
          <a:xfrm>
            <a:off x="7099200" y="2707200"/>
            <a:ext cx="912600" cy="91260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6" name=""/>
          <p:cNvSpPr/>
          <p:nvPr/>
        </p:nvSpPr>
        <p:spPr>
          <a:xfrm>
            <a:off x="7086600" y="2671200"/>
            <a:ext cx="91260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uFillTx/>
                <a:latin typeface="Arial"/>
              </a:rPr>
              <a:t>PMP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7" name=""/>
          <p:cNvSpPr/>
          <p:nvPr/>
        </p:nvSpPr>
        <p:spPr>
          <a:xfrm>
            <a:off x="7207200" y="2968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8" name=""/>
          <p:cNvSpPr/>
          <p:nvPr/>
        </p:nvSpPr>
        <p:spPr>
          <a:xfrm>
            <a:off x="7207200" y="3184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79" name=""/>
          <p:cNvSpPr/>
          <p:nvPr/>
        </p:nvSpPr>
        <p:spPr>
          <a:xfrm>
            <a:off x="7207200" y="3400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0" name=""/>
          <p:cNvSpPr/>
          <p:nvPr/>
        </p:nvSpPr>
        <p:spPr>
          <a:xfrm>
            <a:off x="5787000" y="3814200"/>
            <a:ext cx="2741400" cy="9126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DRAM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1" name=""/>
          <p:cNvSpPr/>
          <p:nvPr/>
        </p:nvSpPr>
        <p:spPr>
          <a:xfrm>
            <a:off x="5839200" y="3868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2" name=""/>
          <p:cNvSpPr/>
          <p:nvPr/>
        </p:nvSpPr>
        <p:spPr>
          <a:xfrm>
            <a:off x="5839200" y="4084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3" name=""/>
          <p:cNvSpPr/>
          <p:nvPr/>
        </p:nvSpPr>
        <p:spPr>
          <a:xfrm>
            <a:off x="5839200" y="4300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4" name="Google Shape;114;p 8"/>
          <p:cNvCxnSpPr/>
          <p:nvPr/>
        </p:nvCxnSpPr>
        <p:spPr>
          <a:xfrm>
            <a:off x="204480" y="721440"/>
            <a:ext cx="8749440" cy="147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685" name="PlaceHolder 1"/>
          <p:cNvSpPr>
            <a:spLocks noGrp="1"/>
          </p:cNvSpPr>
          <p:nvPr>
            <p:ph type="sldNum" idx="76"/>
          </p:nvPr>
        </p:nvSpPr>
        <p:spPr>
          <a:xfrm>
            <a:off x="8472600" y="4633560"/>
            <a:ext cx="534240" cy="37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BD91AE8-F371-4D22-B04A-608E3FB991B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20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86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3720" cy="5130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Extending Keystone to include Efficient 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7" name="PlaceHolder 42"/>
          <p:cNvSpPr/>
          <p:nvPr/>
        </p:nvSpPr>
        <p:spPr>
          <a:xfrm>
            <a:off x="343080" y="830160"/>
            <a:ext cx="4912920" cy="37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To mitigate latency concerns, our work proposes to store metadata on-chip, greatly reducing memory access overhead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This structure is called the Aggregated Extended PMP</a:t>
            </a: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 (ePMP) 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table: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Tracks requests through the Memory Encryption Engine (MEE)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Updates metadata entries corresponding to their PMP status 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8" name=""/>
          <p:cNvSpPr/>
          <p:nvPr/>
        </p:nvSpPr>
        <p:spPr>
          <a:xfrm>
            <a:off x="5787000" y="3814200"/>
            <a:ext cx="2741400" cy="9126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DRAM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89" name=""/>
          <p:cNvSpPr/>
          <p:nvPr/>
        </p:nvSpPr>
        <p:spPr>
          <a:xfrm>
            <a:off x="5839200" y="3868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0" name=""/>
          <p:cNvSpPr/>
          <p:nvPr/>
        </p:nvSpPr>
        <p:spPr>
          <a:xfrm>
            <a:off x="5839200" y="4084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1" name=""/>
          <p:cNvSpPr/>
          <p:nvPr/>
        </p:nvSpPr>
        <p:spPr>
          <a:xfrm>
            <a:off x="5839200" y="4300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2" name=""/>
          <p:cNvSpPr/>
          <p:nvPr/>
        </p:nvSpPr>
        <p:spPr>
          <a:xfrm>
            <a:off x="290880" y="4800600"/>
            <a:ext cx="870012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" sz="12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Zach Moolman &amp; Tamara Silbergleit Lehman,  Extending RISC-V Keystone to Include Efficient Secure Memory CARRV 2024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3" name=""/>
          <p:cNvSpPr/>
          <p:nvPr/>
        </p:nvSpPr>
        <p:spPr>
          <a:xfrm>
            <a:off x="6172200" y="2635200"/>
            <a:ext cx="2055600" cy="9126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4" name=""/>
          <p:cNvSpPr/>
          <p:nvPr/>
        </p:nvSpPr>
        <p:spPr>
          <a:xfrm>
            <a:off x="6109920" y="2624400"/>
            <a:ext cx="21178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Memory Encryption Engine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5" name=""/>
          <p:cNvSpPr/>
          <p:nvPr/>
        </p:nvSpPr>
        <p:spPr>
          <a:xfrm>
            <a:off x="6894000" y="3135240"/>
            <a:ext cx="1141200" cy="37656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ePMP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6" name=""/>
          <p:cNvSpPr/>
          <p:nvPr/>
        </p:nvSpPr>
        <p:spPr>
          <a:xfrm>
            <a:off x="6109920" y="1158840"/>
            <a:ext cx="2148120" cy="127296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697" name=""/>
          <p:cNvSpPr/>
          <p:nvPr/>
        </p:nvSpPr>
        <p:spPr>
          <a:xfrm>
            <a:off x="6109920" y="1184400"/>
            <a:ext cx="17722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8" name=""/>
          <p:cNvSpPr/>
          <p:nvPr/>
        </p:nvSpPr>
        <p:spPr>
          <a:xfrm>
            <a:off x="7099200" y="1483200"/>
            <a:ext cx="912600" cy="91260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99" name=""/>
          <p:cNvSpPr/>
          <p:nvPr/>
        </p:nvSpPr>
        <p:spPr>
          <a:xfrm>
            <a:off x="7207200" y="1744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0" name=""/>
          <p:cNvSpPr/>
          <p:nvPr/>
        </p:nvSpPr>
        <p:spPr>
          <a:xfrm>
            <a:off x="7207200" y="1960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1" name=""/>
          <p:cNvSpPr/>
          <p:nvPr/>
        </p:nvSpPr>
        <p:spPr>
          <a:xfrm>
            <a:off x="7207200" y="2176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02" name="Google Shape;114;p 13"/>
          <p:cNvCxnSpPr/>
          <p:nvPr/>
        </p:nvCxnSpPr>
        <p:spPr>
          <a:xfrm>
            <a:off x="204480" y="721440"/>
            <a:ext cx="8749440" cy="147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03" name="PlaceHolder 1"/>
          <p:cNvSpPr>
            <a:spLocks noGrp="1"/>
          </p:cNvSpPr>
          <p:nvPr>
            <p:ph type="sldNum" idx="77"/>
          </p:nvPr>
        </p:nvSpPr>
        <p:spPr>
          <a:xfrm>
            <a:off x="8472600" y="4633560"/>
            <a:ext cx="534240" cy="37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81AD937-E363-4B94-9933-91EBDCE52840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21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3720" cy="9086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Extending Keystone to include Efficient Secure Memory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5" name="PlaceHolder 48"/>
          <p:cNvSpPr/>
          <p:nvPr/>
        </p:nvSpPr>
        <p:spPr>
          <a:xfrm>
            <a:off x="343080" y="830160"/>
            <a:ext cx="4912920" cy="37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To mitigate latency concerns, our work proposes to store metadata on-chip, greatly reducing memory access overhead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This structure is called the Aggregated Extended PMP</a:t>
            </a: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 (ePMP) </a:t>
            </a: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table: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Tracks requests through the Memory Encryption Engine (MEE)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6180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PingFang SC"/>
              </a:rPr>
              <a:t>Updates metadata entries corresponding to their PMP status 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417"/>
              </a:spcBef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6" name=""/>
          <p:cNvSpPr/>
          <p:nvPr/>
        </p:nvSpPr>
        <p:spPr>
          <a:xfrm>
            <a:off x="5787000" y="3814200"/>
            <a:ext cx="2741400" cy="9126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Arial"/>
              </a:rPr>
              <a:t>DRAM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7" name=""/>
          <p:cNvSpPr/>
          <p:nvPr/>
        </p:nvSpPr>
        <p:spPr>
          <a:xfrm>
            <a:off x="5839200" y="3868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8" name=""/>
          <p:cNvSpPr/>
          <p:nvPr/>
        </p:nvSpPr>
        <p:spPr>
          <a:xfrm>
            <a:off x="5839200" y="4084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9" name=""/>
          <p:cNvSpPr/>
          <p:nvPr/>
        </p:nvSpPr>
        <p:spPr>
          <a:xfrm>
            <a:off x="5839200" y="4300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0" name=""/>
          <p:cNvSpPr/>
          <p:nvPr/>
        </p:nvSpPr>
        <p:spPr>
          <a:xfrm>
            <a:off x="290880" y="4800600"/>
            <a:ext cx="8700120" cy="28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" sz="105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Zach Moolman &amp; Tamara Silbergleit Lehman,  Extending RISC-V Keystone to Include Efficient Secure Memory CARRV 2024</a:t>
            </a:r>
            <a:endParaRPr b="0" lang="en-US" sz="10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1" name=""/>
          <p:cNvSpPr/>
          <p:nvPr/>
        </p:nvSpPr>
        <p:spPr>
          <a:xfrm>
            <a:off x="5715000" y="837720"/>
            <a:ext cx="2898000" cy="2890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12" name=""/>
          <p:cNvSpPr/>
          <p:nvPr/>
        </p:nvSpPr>
        <p:spPr>
          <a:xfrm>
            <a:off x="6172200" y="2635200"/>
            <a:ext cx="2055600" cy="9126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3" name=""/>
          <p:cNvSpPr/>
          <p:nvPr/>
        </p:nvSpPr>
        <p:spPr>
          <a:xfrm>
            <a:off x="6109920" y="2624400"/>
            <a:ext cx="2117880" cy="5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Memory Encryption Engine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4" name=""/>
          <p:cNvSpPr/>
          <p:nvPr/>
        </p:nvSpPr>
        <p:spPr>
          <a:xfrm>
            <a:off x="6894000" y="3135240"/>
            <a:ext cx="1141200" cy="37656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Arial"/>
              </a:rPr>
              <a:t>ePMP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5" name=""/>
          <p:cNvSpPr/>
          <p:nvPr/>
        </p:nvSpPr>
        <p:spPr>
          <a:xfrm>
            <a:off x="5922720" y="1086120"/>
            <a:ext cx="2497680" cy="141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60">
            <a:solidFill>
              <a:srgbClr val="acb2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Arial"/>
            </a:endParaRPr>
          </a:p>
        </p:txBody>
      </p:sp>
      <p:sp>
        <p:nvSpPr>
          <p:cNvPr id="716" name=""/>
          <p:cNvSpPr/>
          <p:nvPr/>
        </p:nvSpPr>
        <p:spPr>
          <a:xfrm>
            <a:off x="6109920" y="1158840"/>
            <a:ext cx="2148120" cy="127296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717" name=""/>
          <p:cNvSpPr/>
          <p:nvPr/>
        </p:nvSpPr>
        <p:spPr>
          <a:xfrm>
            <a:off x="6109920" y="1184400"/>
            <a:ext cx="17722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Arial"/>
                <a:ea typeface="Arial"/>
              </a:rPr>
              <a:t>RISC-V Keystone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8" name=""/>
          <p:cNvSpPr/>
          <p:nvPr/>
        </p:nvSpPr>
        <p:spPr>
          <a:xfrm>
            <a:off x="7099200" y="1483200"/>
            <a:ext cx="912600" cy="91260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9" name=""/>
          <p:cNvSpPr/>
          <p:nvPr/>
        </p:nvSpPr>
        <p:spPr>
          <a:xfrm>
            <a:off x="6078600" y="835200"/>
            <a:ext cx="91260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uFillTx/>
                <a:latin typeface="Arial"/>
              </a:rPr>
              <a:t>CPU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0" name=""/>
          <p:cNvSpPr/>
          <p:nvPr/>
        </p:nvSpPr>
        <p:spPr>
          <a:xfrm>
            <a:off x="7207200" y="1744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ffff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1" name=""/>
          <p:cNvSpPr/>
          <p:nvPr/>
        </p:nvSpPr>
        <p:spPr>
          <a:xfrm>
            <a:off x="7207200" y="1960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2" name=""/>
          <p:cNvSpPr/>
          <p:nvPr/>
        </p:nvSpPr>
        <p:spPr>
          <a:xfrm>
            <a:off x="7207200" y="2176200"/>
            <a:ext cx="684000" cy="19440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3" name=""/>
          <p:cNvSpPr/>
          <p:nvPr/>
        </p:nvSpPr>
        <p:spPr>
          <a:xfrm>
            <a:off x="5250600" y="835560"/>
            <a:ext cx="912600" cy="25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200" strike="noStrike" u="none">
                <a:solidFill>
                  <a:srgbClr val="000000"/>
                </a:solidFill>
                <a:uFillTx/>
                <a:latin typeface="Arial"/>
              </a:rPr>
              <a:t>SoC</a:t>
            </a:r>
            <a:endParaRPr b="0" lang="en-US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4" name="Google Shape;114;p 6"/>
          <p:cNvCxnSpPr/>
          <p:nvPr/>
        </p:nvCxnSpPr>
        <p:spPr>
          <a:xfrm>
            <a:off x="204480" y="721440"/>
            <a:ext cx="8749440" cy="147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25" name="PlaceHolder 1"/>
          <p:cNvSpPr>
            <a:spLocks noGrp="1"/>
          </p:cNvSpPr>
          <p:nvPr>
            <p:ph type="sldNum" idx="78"/>
          </p:nvPr>
        </p:nvSpPr>
        <p:spPr>
          <a:xfrm>
            <a:off x="8472600" y="4633560"/>
            <a:ext cx="534240" cy="37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380DBF7-0699-41AE-86B1-FB1423CA1783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22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26" name="PlaceHolder 2"/>
          <p:cNvSpPr>
            <a:spLocks noGrp="1"/>
          </p:cNvSpPr>
          <p:nvPr>
            <p:ph/>
          </p:nvPr>
        </p:nvSpPr>
        <p:spPr>
          <a:xfrm>
            <a:off x="343080" y="786600"/>
            <a:ext cx="5599080" cy="42397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is an open-source, cycle-accurate architecture emulation platform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-324000">
              <a:lnSpc>
                <a:spcPct val="9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Allows end-to-end development including full-system simulation &amp; benchmarks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-324000">
              <a:lnSpc>
                <a:spcPct val="90000"/>
              </a:lnSpc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Breaks hardware description into different layers, enabling researchers to edit any aspect of an implementation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This is helpful, but also results in a colossal codebase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7" name="PlaceHolder 3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3720" cy="51300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The gem5 Simulation Suite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8" name=""/>
          <p:cNvSpPr/>
          <p:nvPr/>
        </p:nvSpPr>
        <p:spPr>
          <a:xfrm>
            <a:off x="11880" y="4896000"/>
            <a:ext cx="91188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" sz="10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Jason Lowe-Power, Abdul Mutaal Ahmad, Ayaz Akram, Mohammad Alian, et al. (2007), The gem5 Simulator: Version 20.0+ (arXiv)</a:t>
            </a:r>
            <a:endParaRPr b="0" lang="en-US" sz="1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9" name=""/>
          <p:cNvSpPr/>
          <p:nvPr/>
        </p:nvSpPr>
        <p:spPr>
          <a:xfrm>
            <a:off x="6293160" y="3026520"/>
            <a:ext cx="2028960" cy="1218240"/>
          </a:xfrm>
          <a:prstGeom prst="roundRect">
            <a:avLst>
              <a:gd name="adj" fmla="val 16667"/>
            </a:avLst>
          </a:prstGeom>
          <a:solidFill>
            <a:srgbClr val="3faf46"/>
          </a:solidFill>
          <a:ln w="38160">
            <a:solidFill>
              <a:srgbClr val="3faf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730" name=""/>
          <p:cNvSpPr/>
          <p:nvPr/>
        </p:nvSpPr>
        <p:spPr>
          <a:xfrm>
            <a:off x="6490800" y="3433320"/>
            <a:ext cx="1620000" cy="63792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cpp Implementation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1" name=""/>
          <p:cNvSpPr/>
          <p:nvPr/>
        </p:nvSpPr>
        <p:spPr>
          <a:xfrm>
            <a:off x="6545520" y="3095640"/>
            <a:ext cx="16344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Python Wrapper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2" name=""/>
          <p:cNvSpPr/>
          <p:nvPr/>
        </p:nvSpPr>
        <p:spPr>
          <a:xfrm>
            <a:off x="6273720" y="2686320"/>
            <a:ext cx="2082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Hardware Description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3" name=""/>
          <p:cNvSpPr/>
          <p:nvPr/>
        </p:nvSpPr>
        <p:spPr>
          <a:xfrm>
            <a:off x="6436080" y="846720"/>
            <a:ext cx="1761480" cy="135612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734" name=""/>
          <p:cNvSpPr/>
          <p:nvPr/>
        </p:nvSpPr>
        <p:spPr>
          <a:xfrm>
            <a:off x="6565680" y="1179360"/>
            <a:ext cx="1479240" cy="910440"/>
          </a:xfrm>
          <a:prstGeom prst="roundRect">
            <a:avLst>
              <a:gd name="adj" fmla="val 16667"/>
            </a:avLst>
          </a:prstGeom>
          <a:solidFill>
            <a:srgbClr val="808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3200" strike="noStrike" u="none">
              <a:solidFill>
                <a:srgbClr val="000000"/>
              </a:solidFill>
              <a:uFillTx/>
              <a:latin typeface="Open Sans"/>
              <a:ea typeface="DejaVu Sans"/>
            </a:endParaRPr>
          </a:p>
        </p:txBody>
      </p:sp>
      <p:sp>
        <p:nvSpPr>
          <p:cNvPr id="735" name=""/>
          <p:cNvSpPr/>
          <p:nvPr/>
        </p:nvSpPr>
        <p:spPr>
          <a:xfrm>
            <a:off x="6631920" y="1195560"/>
            <a:ext cx="1173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Config Files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6" name=""/>
          <p:cNvSpPr/>
          <p:nvPr/>
        </p:nvSpPr>
        <p:spPr>
          <a:xfrm>
            <a:off x="6533280" y="831600"/>
            <a:ext cx="11732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User Space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7" name=""/>
          <p:cNvSpPr/>
          <p:nvPr/>
        </p:nvSpPr>
        <p:spPr>
          <a:xfrm>
            <a:off x="6758280" y="1590480"/>
            <a:ext cx="1126080" cy="41868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Program Binary</a:t>
            </a:r>
            <a:endParaRPr b="0" lang="en-US" sz="15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38" name=""/>
          <p:cNvSpPr/>
          <p:nvPr/>
        </p:nvSpPr>
        <p:spPr>
          <a:xfrm>
            <a:off x="7310880" y="2206440"/>
            <a:ext cx="360" cy="482760"/>
          </a:xfrm>
          <a:prstGeom prst="line">
            <a:avLst/>
          </a:prstGeom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  <p:sp>
        <p:nvSpPr>
          <p:cNvPr id="739" name=""/>
          <p:cNvSpPr/>
          <p:nvPr/>
        </p:nvSpPr>
        <p:spPr>
          <a:xfrm>
            <a:off x="6172200" y="2686680"/>
            <a:ext cx="2298960" cy="163368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0" name="Google Shape;114;p 14"/>
          <p:cNvCxnSpPr/>
          <p:nvPr/>
        </p:nvCxnSpPr>
        <p:spPr>
          <a:xfrm>
            <a:off x="204480" y="721440"/>
            <a:ext cx="8749440" cy="1476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41" name="PlaceHolder 1"/>
          <p:cNvSpPr>
            <a:spLocks noGrp="1"/>
          </p:cNvSpPr>
          <p:nvPr>
            <p:ph type="sldNum" idx="79"/>
          </p:nvPr>
        </p:nvSpPr>
        <p:spPr>
          <a:xfrm>
            <a:off x="8472600" y="4633560"/>
            <a:ext cx="534240" cy="37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9CBC9F-A7BF-4620-9D90-8F2FCE66FFA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23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42" name="PlaceHolder 2"/>
          <p:cNvSpPr>
            <a:spLocks noGrp="1"/>
          </p:cNvSpPr>
          <p:nvPr>
            <p:ph type="title"/>
          </p:nvPr>
        </p:nvSpPr>
        <p:spPr>
          <a:xfrm>
            <a:off x="1028880" y="171360"/>
            <a:ext cx="7083720" cy="90864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Challenges with gem5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3" name=""/>
          <p:cNvSpPr/>
          <p:nvPr/>
        </p:nvSpPr>
        <p:spPr>
          <a:xfrm>
            <a:off x="3180600" y="3184200"/>
            <a:ext cx="2741760" cy="1681560"/>
          </a:xfrm>
          <a:prstGeom prst="roundRect">
            <a:avLst>
              <a:gd name="adj" fmla="val 16667"/>
            </a:avLst>
          </a:prstGeom>
          <a:solidFill>
            <a:srgbClr val="808080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uFillTx/>
              <a:latin typeface="Arial"/>
            </a:endParaRPr>
          </a:p>
        </p:txBody>
      </p:sp>
      <p:sp>
        <p:nvSpPr>
          <p:cNvPr id="744" name=""/>
          <p:cNvSpPr/>
          <p:nvPr/>
        </p:nvSpPr>
        <p:spPr>
          <a:xfrm>
            <a:off x="4095000" y="4026600"/>
            <a:ext cx="912960" cy="610560"/>
          </a:xfrm>
          <a:prstGeom prst="roundRect">
            <a:avLst>
              <a:gd name="adj" fmla="val 16667"/>
            </a:avLst>
          </a:prstGeom>
          <a:solidFill>
            <a:srgbClr val="ffb66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Linux Kernel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5" name=""/>
          <p:cNvSpPr/>
          <p:nvPr/>
        </p:nvSpPr>
        <p:spPr>
          <a:xfrm>
            <a:off x="5009400" y="4026600"/>
            <a:ext cx="912960" cy="610560"/>
          </a:xfrm>
          <a:prstGeom prst="roundRect">
            <a:avLst>
              <a:gd name="adj" fmla="val 16667"/>
            </a:avLst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Disk Image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6" name=""/>
          <p:cNvSpPr/>
          <p:nvPr/>
        </p:nvSpPr>
        <p:spPr>
          <a:xfrm>
            <a:off x="3409200" y="3267000"/>
            <a:ext cx="228456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gem5 Pre-compiled Resources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7" name=""/>
          <p:cNvSpPr/>
          <p:nvPr/>
        </p:nvSpPr>
        <p:spPr>
          <a:xfrm>
            <a:off x="3180600" y="4026600"/>
            <a:ext cx="912960" cy="610560"/>
          </a:xfrm>
          <a:prstGeom prst="roundRect">
            <a:avLst>
              <a:gd name="adj" fmla="val 16667"/>
            </a:avLst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Open Sans"/>
                <a:ea typeface="DejaVu Sans"/>
              </a:rPr>
              <a:t>Boot-loader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48" name="PlaceHolder 66"/>
          <p:cNvSpPr/>
          <p:nvPr/>
        </p:nvSpPr>
        <p:spPr>
          <a:xfrm>
            <a:off x="343080" y="830160"/>
            <a:ext cx="8342280" cy="373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7680" rIns="67680" tIns="33840" bIns="33840" anchor="t">
            <a:noAutofit/>
          </a:bodyPr>
          <a:p>
            <a:pPr>
              <a:lnSpc>
                <a:spcPct val="90000"/>
              </a:lnSpc>
              <a:spcBef>
                <a:spcPts val="1199"/>
              </a:spcBef>
            </a:pPr>
            <a:r>
              <a:rPr b="0" lang="en" sz="21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This work requires the use of gem5 full-system emulation, while many aspects of gem5 enable research, some also hinder progress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Scattered source files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Lots of detail, making high-level understanding non-trivial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chemeClr val="dk1"/>
                </a:solidFill>
                <a:uFillTx/>
                <a:latin typeface="Times New Roman"/>
                <a:ea typeface="Times New Roman"/>
              </a:rPr>
              <a:t>FS requires gem5 resources and pre-compiled binaries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sldNum" idx="80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D9CEFF6-83AC-482B-BD81-33E72867CD16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24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50" name="PlaceHolder 2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Direction / Future Work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751" name="Google Shape;106;p 3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52" name="PlaceHolder 3"/>
          <p:cNvSpPr>
            <a:spLocks noGrp="1"/>
          </p:cNvSpPr>
          <p:nvPr>
            <p:ph/>
          </p:nvPr>
        </p:nvSpPr>
        <p:spPr>
          <a:xfrm>
            <a:off x="343080" y="829800"/>
            <a:ext cx="5364720" cy="41925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</a:rPr>
              <a:t>Implementing a RISC-V TEE in gem5: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Currently adding cache hierarchy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Incorporating caches into secure memory through “board” hierarchy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Entirely different way of connecting things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PMP is included in any RISCV cpu in gem5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What is my contribution?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Until now, I have been just trying to implement Zach’s work in gem5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Deeper understanding of attack methods (winter break project?)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753" name="" descr=""/>
          <p:cNvPicPr/>
          <p:nvPr/>
        </p:nvPicPr>
        <p:blipFill>
          <a:blip r:embed="rId1"/>
          <a:stretch/>
        </p:blipFill>
        <p:spPr>
          <a:xfrm>
            <a:off x="5734440" y="1238400"/>
            <a:ext cx="3173760" cy="3079440"/>
          </a:xfrm>
          <a:prstGeom prst="rect">
            <a:avLst/>
          </a:prstGeom>
          <a:ln w="0">
            <a:noFill/>
          </a:ln>
        </p:spPr>
      </p:pic>
      <p:sp>
        <p:nvSpPr>
          <p:cNvPr id="754" name=""/>
          <p:cNvSpPr/>
          <p:nvPr/>
        </p:nvSpPr>
        <p:spPr>
          <a:xfrm>
            <a:off x="5943600" y="4572000"/>
            <a:ext cx="2279520" cy="45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808080"/>
                </a:solidFill>
                <a:uFillTx/>
                <a:latin typeface="Times New Roman"/>
              </a:rPr>
              <a:t>Moolman, Z. &amp; Lehman T.</a:t>
            </a:r>
            <a:endParaRPr b="0" lang="en-US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sldNum" idx="81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C6130D3-8933-47AB-92AE-42B550C5B6B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25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Gap &amp; Contribution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757" name="Google Shape;106;p 1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58" name="PlaceHolder 3"/>
          <p:cNvSpPr>
            <a:spLocks noGrp="1"/>
          </p:cNvSpPr>
          <p:nvPr>
            <p:ph/>
          </p:nvPr>
        </p:nvSpPr>
        <p:spPr>
          <a:xfrm>
            <a:off x="343080" y="829800"/>
            <a:ext cx="8336880" cy="41925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A Midsummer Nights Tree (AMNT) by Sam Thomas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Crash consistent secure memory protocol by defining write-back protocols that sync the on-chip BMT root &amp; stored leaf counters in off-chip memory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 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Limitations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343080" y="606600"/>
            <a:ext cx="8384760" cy="34869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Computational and memory overhead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761" name="Google Shape;180;p25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62" name="PlaceHolder 3"/>
          <p:cNvSpPr>
            <a:spLocks noGrp="1"/>
          </p:cNvSpPr>
          <p:nvPr>
            <p:ph type="sldNum" idx="82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E5CCB0A-0C66-4FB2-A27E-04806E2D988D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26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sldNum" idx="83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A257CF-D0C2-47C9-AA3B-C2FCF67E8C47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27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64" name="PlaceHolder 2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PMP Sensitivity Analysis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765" name="Google Shape;106;p 2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66" name="PlaceHolder 3"/>
          <p:cNvSpPr>
            <a:spLocks noGrp="1"/>
          </p:cNvSpPr>
          <p:nvPr>
            <p:ph/>
          </p:nvPr>
        </p:nvSpPr>
        <p:spPr>
          <a:xfrm>
            <a:off x="343080" y="829800"/>
            <a:ext cx="7885080" cy="419256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</a:rPr>
              <a:t>How does a variable PMP size affect performance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200" strike="noStrike" u="none">
                <a:solidFill>
                  <a:srgbClr val="000000"/>
                </a:solidFill>
                <a:uFillTx/>
                <a:latin typeface="Times New Roman"/>
              </a:rPr>
              <a:t>Efficient PMP packing:</a:t>
            </a:r>
            <a:endParaRPr b="0" lang="en-US" sz="2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  <a:ea typeface="Noto Sans CJK SC"/>
              </a:rPr>
              <a:t>Currently, gem5 implements Naturally Aligned Power of Two (NAPOT) packing, which requires the base address to be aligned by a power of two.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Simple Sanity Check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8" name="PlaceHolder 2"/>
          <p:cNvSpPr>
            <a:spLocks noGrp="1"/>
          </p:cNvSpPr>
          <p:nvPr>
            <p:ph/>
          </p:nvPr>
        </p:nvSpPr>
        <p:spPr>
          <a:xfrm>
            <a:off x="343080" y="606600"/>
            <a:ext cx="8384760" cy="44215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marL="177840" indent="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Base gem5 vs. Secure Memory implementation (</a:t>
            </a:r>
            <a:r>
              <a:rPr b="0" lang="en" sz="20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version 24.0.0.1</a:t>
            </a: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)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864000" indent="0">
              <a:lnSpc>
                <a:spcPct val="9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en" sz="21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Benchmark:</a:t>
            </a:r>
            <a:endParaRPr b="0" lang="en-US" sz="21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1,000 accesses on 1GB array of memory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lang="en" sz="18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No caches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457200" indent="-380880">
              <a:lnSpc>
                <a:spcPct val="90000"/>
              </a:lnSpc>
              <a:spcBef>
                <a:spcPts val="1199"/>
              </a:spcBef>
              <a:buClr>
                <a:srgbClr val="000000"/>
              </a:buClr>
              <a:buFont typeface="Times New Roman"/>
              <a:buChar char="•"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Secure memory implementation requires an increase in both runtime and memory overhead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769" name="Google Shape;140;p 1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70" name="PlaceHolder 3"/>
          <p:cNvSpPr>
            <a:spLocks noGrp="1"/>
          </p:cNvSpPr>
          <p:nvPr>
            <p:ph type="sldNum" idx="84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27D493D-2E39-406F-A544-4DB9C05859FE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28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graphicFrame>
        <p:nvGraphicFramePr>
          <p:cNvPr id="771" name=""/>
          <p:cNvGraphicFramePr/>
          <p:nvPr/>
        </p:nvGraphicFramePr>
        <p:xfrm>
          <a:off x="2039400" y="2683440"/>
          <a:ext cx="5075280" cy="1397160"/>
        </p:xfrm>
        <a:graphic>
          <a:graphicData uri="http://schemas.openxmlformats.org/drawingml/2006/table">
            <a:tbl>
              <a:tblPr/>
              <a:tblGrid>
                <a:gridCol w="1268640"/>
                <a:gridCol w="1268640"/>
                <a:gridCol w="1268640"/>
                <a:gridCol w="1269720"/>
              </a:tblGrid>
              <a:tr h="364680">
                <a:tc>
                  <a:txBody>
                    <a:bodyPr lIns="36000" rIns="36000" anchor="t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Simulated Time </a:t>
                      </a: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(Seconds)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Host Memory </a:t>
                      </a: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(MB)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5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Number of Instructions </a:t>
                      </a:r>
                      <a:r>
                        <a:rPr b="0" lang="en-US" sz="11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(thousands)</a:t>
                      </a:r>
                      <a:endParaRPr b="0" lang="en-US" sz="11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Base gem5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.00388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1.18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55,966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64680"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Secure gem5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.014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3.43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1800" strike="noStrike" u="none">
                          <a:solidFill>
                            <a:srgbClr val="000000"/>
                          </a:solidFill>
                          <a:uFillTx/>
                          <a:latin typeface="Times New Roman"/>
                        </a:rPr>
                        <a:t>55,966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72" name=""/>
          <p:cNvSpPr/>
          <p:nvPr/>
        </p:nvSpPr>
        <p:spPr>
          <a:xfrm>
            <a:off x="1480680" y="2561400"/>
            <a:ext cx="1821600" cy="75420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PlaceHolder 1"/>
          <p:cNvSpPr>
            <a:spLocks noGrp="1"/>
          </p:cNvSpPr>
          <p:nvPr>
            <p:ph type="title"/>
          </p:nvPr>
        </p:nvSpPr>
        <p:spPr>
          <a:xfrm>
            <a:off x="1487160" y="171360"/>
            <a:ext cx="6159600" cy="915120"/>
          </a:xfrm>
          <a:prstGeom prst="rect">
            <a:avLst/>
          </a:prstGeom>
          <a:noFill/>
          <a:ln w="0">
            <a:noFill/>
          </a:ln>
        </p:spPr>
        <p:txBody>
          <a:bodyPr lIns="67680" rIns="67680" tIns="33840" bIns="33840" anchor="t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2400" strike="noStrike" u="none">
                <a:solidFill>
                  <a:srgbClr val="000000"/>
                </a:solidFill>
                <a:uFillTx/>
                <a:latin typeface="Times New Roman"/>
                <a:ea typeface="Times New Roman"/>
              </a:rPr>
              <a:t>gem5 Cache Sanity Check</a:t>
            </a:r>
            <a:endParaRPr b="0" lang="en-US" sz="2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cxnSp>
        <p:nvCxnSpPr>
          <p:cNvPr id="774" name="Google Shape;140;p 3"/>
          <p:cNvCxnSpPr/>
          <p:nvPr/>
        </p:nvCxnSpPr>
        <p:spPr>
          <a:xfrm>
            <a:off x="204480" y="721440"/>
            <a:ext cx="8742960" cy="8280"/>
          </a:xfrm>
          <a:prstGeom prst="straightConnector1">
            <a:avLst/>
          </a:prstGeom>
          <a:ln w="57225">
            <a:solidFill>
              <a:srgbClr val="0b5394"/>
            </a:solidFill>
            <a:miter/>
          </a:ln>
        </p:spPr>
      </p:cxnSp>
      <p:sp>
        <p:nvSpPr>
          <p:cNvPr id="775" name="PlaceHolder 2"/>
          <p:cNvSpPr>
            <a:spLocks noGrp="1"/>
          </p:cNvSpPr>
          <p:nvPr>
            <p:ph type="sldNum" idx="85"/>
          </p:nvPr>
        </p:nvSpPr>
        <p:spPr>
          <a:xfrm>
            <a:off x="8472600" y="463356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1113DD-DEB3-4C69-909D-3BA4EEBC98E5}" type="slidenum">
              <a:rPr b="0" lang="en" sz="1000" strike="noStrike" u="none">
                <a:solidFill>
                  <a:schemeClr val="dk2"/>
                </a:solidFill>
                <a:uFillTx/>
                <a:latin typeface="Arial"/>
                <a:ea typeface="Arial"/>
              </a:rPr>
              <a:t>29</a:t>
            </a:fld>
            <a:endParaRPr b="0" lang="en-US" sz="10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613800" y="1636200"/>
            <a:ext cx="2005560" cy="151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Base gem5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7" name=""/>
          <p:cNvSpPr/>
          <p:nvPr/>
        </p:nvSpPr>
        <p:spPr>
          <a:xfrm>
            <a:off x="613800" y="3231720"/>
            <a:ext cx="2005560" cy="1518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Secure gem5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8" name=""/>
          <p:cNvSpPr/>
          <p:nvPr/>
        </p:nvSpPr>
        <p:spPr>
          <a:xfrm>
            <a:off x="2625480" y="1645200"/>
            <a:ext cx="1639800" cy="756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False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9" name=""/>
          <p:cNvSpPr/>
          <p:nvPr/>
        </p:nvSpPr>
        <p:spPr>
          <a:xfrm>
            <a:off x="2625480" y="2395440"/>
            <a:ext cx="1639800" cy="756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True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0" name=""/>
          <p:cNvSpPr/>
          <p:nvPr/>
        </p:nvSpPr>
        <p:spPr>
          <a:xfrm>
            <a:off x="2625840" y="3229200"/>
            <a:ext cx="1639800" cy="756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False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1" name=""/>
          <p:cNvSpPr/>
          <p:nvPr/>
        </p:nvSpPr>
        <p:spPr>
          <a:xfrm>
            <a:off x="2625840" y="3979440"/>
            <a:ext cx="1639800" cy="756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True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2" name=""/>
          <p:cNvSpPr/>
          <p:nvPr/>
        </p:nvSpPr>
        <p:spPr>
          <a:xfrm>
            <a:off x="4262400" y="1182960"/>
            <a:ext cx="1365480" cy="451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solidFill>
              <a:srgbClr val="33333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Times New Roman"/>
              </a:rPr>
              <a:t>Simulated Time </a:t>
            </a:r>
            <a:r>
              <a:rPr b="0" lang="en-US" sz="1100" strike="noStrike" u="none">
                <a:solidFill>
                  <a:srgbClr val="000000"/>
                </a:solidFill>
                <a:uFillTx/>
                <a:latin typeface="Times New Roman"/>
              </a:rPr>
              <a:t>(seconds)</a:t>
            </a:r>
            <a:endParaRPr b="0" lang="en-US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3" name=""/>
          <p:cNvSpPr/>
          <p:nvPr/>
        </p:nvSpPr>
        <p:spPr>
          <a:xfrm>
            <a:off x="5630760" y="1183320"/>
            <a:ext cx="1365480" cy="451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solidFill>
              <a:srgbClr val="33333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trike="noStrike" u="none">
                <a:solidFill>
                  <a:srgbClr val="000000"/>
                </a:solidFill>
                <a:uFillTx/>
                <a:latin typeface="Times New Roman"/>
              </a:rPr>
              <a:t>Host Memory </a:t>
            </a:r>
            <a:r>
              <a:rPr b="0" lang="en-US" sz="1100" strike="noStrike" u="none">
                <a:solidFill>
                  <a:srgbClr val="000000"/>
                </a:solidFill>
                <a:uFillTx/>
                <a:latin typeface="Times New Roman"/>
              </a:rPr>
              <a:t>(MB)</a:t>
            </a:r>
            <a:endParaRPr b="0" lang="en-US" sz="11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4" name=""/>
          <p:cNvSpPr/>
          <p:nvPr/>
        </p:nvSpPr>
        <p:spPr>
          <a:xfrm>
            <a:off x="6999120" y="1183680"/>
            <a:ext cx="1365480" cy="451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solidFill>
              <a:srgbClr val="33333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trike="noStrike" u="none">
                <a:solidFill>
                  <a:srgbClr val="000000"/>
                </a:solidFill>
                <a:uFillTx/>
                <a:latin typeface="Times New Roman"/>
              </a:rPr>
              <a:t>Number of Instructions</a:t>
            </a:r>
            <a:endParaRPr b="0" lang="en-US" sz="13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5" name=""/>
          <p:cNvSpPr/>
          <p:nvPr/>
        </p:nvSpPr>
        <p:spPr>
          <a:xfrm>
            <a:off x="4262760" y="1641960"/>
            <a:ext cx="1374120" cy="75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.003880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6" name=""/>
          <p:cNvSpPr/>
          <p:nvPr/>
        </p:nvSpPr>
        <p:spPr>
          <a:xfrm>
            <a:off x="5631120" y="1642320"/>
            <a:ext cx="1374120" cy="75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1.18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7" name=""/>
          <p:cNvSpPr/>
          <p:nvPr/>
        </p:nvSpPr>
        <p:spPr>
          <a:xfrm>
            <a:off x="6999480" y="1642680"/>
            <a:ext cx="1374120" cy="75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55,966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8" name=""/>
          <p:cNvSpPr/>
          <p:nvPr/>
        </p:nvSpPr>
        <p:spPr>
          <a:xfrm>
            <a:off x="4263120" y="2398320"/>
            <a:ext cx="1374120" cy="75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.000069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89" name=""/>
          <p:cNvSpPr/>
          <p:nvPr/>
        </p:nvSpPr>
        <p:spPr>
          <a:xfrm>
            <a:off x="5631480" y="2398680"/>
            <a:ext cx="1374120" cy="75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1.18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0" name=""/>
          <p:cNvSpPr/>
          <p:nvPr/>
        </p:nvSpPr>
        <p:spPr>
          <a:xfrm>
            <a:off x="6999840" y="2399040"/>
            <a:ext cx="1374120" cy="75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55,966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1" name=""/>
          <p:cNvSpPr/>
          <p:nvPr/>
        </p:nvSpPr>
        <p:spPr>
          <a:xfrm>
            <a:off x="4263120" y="3226320"/>
            <a:ext cx="1374120" cy="75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.014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2" name=""/>
          <p:cNvSpPr/>
          <p:nvPr/>
        </p:nvSpPr>
        <p:spPr>
          <a:xfrm>
            <a:off x="5631480" y="3226680"/>
            <a:ext cx="1374120" cy="75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3.43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3" name=""/>
          <p:cNvSpPr/>
          <p:nvPr/>
        </p:nvSpPr>
        <p:spPr>
          <a:xfrm>
            <a:off x="6999840" y="3227040"/>
            <a:ext cx="1374120" cy="75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</a:rPr>
              <a:t>55,966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4" name=""/>
          <p:cNvSpPr/>
          <p:nvPr/>
        </p:nvSpPr>
        <p:spPr>
          <a:xfrm>
            <a:off x="4263480" y="3982680"/>
            <a:ext cx="1374120" cy="75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.000531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5" name=""/>
          <p:cNvSpPr/>
          <p:nvPr/>
        </p:nvSpPr>
        <p:spPr>
          <a:xfrm>
            <a:off x="5631840" y="3983040"/>
            <a:ext cx="1374120" cy="75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3.44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6" name=""/>
          <p:cNvSpPr/>
          <p:nvPr/>
        </p:nvSpPr>
        <p:spPr>
          <a:xfrm>
            <a:off x="7000200" y="3983400"/>
            <a:ext cx="1374120" cy="752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60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trike="noStrike" u="none">
                <a:solidFill>
                  <a:srgbClr val="000000"/>
                </a:solidFill>
                <a:uFillTx/>
                <a:latin typeface="Times New Roman"/>
              </a:rPr>
              <a:t>55,966</a:t>
            </a:r>
            <a:endParaRPr b="0" lang="en-US" sz="16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7" name=""/>
          <p:cNvSpPr/>
          <p:nvPr/>
        </p:nvSpPr>
        <p:spPr>
          <a:xfrm>
            <a:off x="2642760" y="1183320"/>
            <a:ext cx="1621440" cy="451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0">
            <a:solidFill>
              <a:srgbClr val="33333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uFillTx/>
                <a:latin typeface="Times New Roman"/>
              </a:rPr>
              <a:t>Cache</a:t>
            </a:r>
            <a:endParaRPr b="0" lang="en-US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454</TotalTime>
  <Application>LibreOffice/24.8.2.1$MacOSX_AARCH64 LibreOffice_project/0f794b6e29741098670a3b95d60478a65d05ef13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2026-02-17T15:21:44Z</dcterms:modified>
  <cp:revision>63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