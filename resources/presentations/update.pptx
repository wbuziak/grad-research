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55.xml" ContentType="application/vnd.openxmlformats-officedocument.theme+xml"/>
  <Override PartName="/ppt/theme/theme28.xml" ContentType="application/vnd.openxmlformats-officedocument.theme+xml"/>
  <Override PartName="/ppt/theme/theme2.xml" ContentType="application/vnd.openxmlformats-officedocument.theme+xml"/>
  <Override PartName="/ppt/theme/theme56.xml" ContentType="application/vnd.openxmlformats-officedocument.theme+xml"/>
  <Override PartName="/ppt/theme/theme29.xml" ContentType="application/vnd.openxmlformats-officedocument.theme+xml"/>
  <Override PartName="/ppt/theme/theme17.xml" ContentType="application/vnd.openxmlformats-officedocument.theme+xml"/>
  <Override PartName="/ppt/theme/theme6.xml" ContentType="application/vnd.openxmlformats-officedocument.theme+xml"/>
  <Override PartName="/ppt/theme/theme13.xml" ContentType="application/vnd.openxmlformats-officedocument.theme+xml"/>
  <Override PartName="/ppt/theme/theme18.xml" ContentType="application/vnd.openxmlformats-officedocument.theme+xml"/>
  <Override PartName="/ppt/theme/theme7.xml" ContentType="application/vnd.openxmlformats-officedocument.theme+xml"/>
  <Override PartName="/ppt/theme/theme14.xml" ContentType="application/vnd.openxmlformats-officedocument.theme+xml"/>
  <Override PartName="/ppt/theme/theme19.xml" ContentType="application/vnd.openxmlformats-officedocument.theme+xml"/>
  <Override PartName="/ppt/theme/theme10.xml" ContentType="application/vnd.openxmlformats-officedocument.theme+xml"/>
  <Override PartName="/ppt/theme/theme3.xml" ContentType="application/vnd.openxmlformats-officedocument.theme+xml"/>
  <Override PartName="/ppt/theme/theme57.xml" ContentType="application/vnd.openxmlformats-officedocument.theme+xml"/>
  <Override PartName="/ppt/theme/theme8.xml" ContentType="application/vnd.openxmlformats-officedocument.theme+xml"/>
  <Override PartName="/ppt/theme/theme15.xml" ContentType="application/vnd.openxmlformats-officedocument.theme+xml"/>
  <Override PartName="/ppt/theme/theme11.xml" ContentType="application/vnd.openxmlformats-officedocument.theme+xml"/>
  <Override PartName="/ppt/theme/theme4.xml" ContentType="application/vnd.openxmlformats-officedocument.theme+xml"/>
  <Override PartName="/ppt/theme/theme58.xml" ContentType="application/vnd.openxmlformats-officedocument.theme+xml"/>
  <Override PartName="/ppt/theme/theme9.xml" ContentType="application/vnd.openxmlformats-officedocument.theme+xml"/>
  <Override PartName="/ppt/theme/theme16.xml" ContentType="application/vnd.openxmlformats-officedocument.theme+xml"/>
  <Override PartName="/ppt/theme/theme5.xml" ContentType="application/vnd.openxmlformats-officedocument.theme+xml"/>
  <Override PartName="/ppt/theme/theme5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0.xml" ContentType="application/vnd.openxmlformats-officedocument.theme+xml"/>
  <Override PartName="/ppt/theme/theme41.xml" ContentType="application/vnd.openxmlformats-officedocument.theme+xml"/>
  <Override PartName="/ppt/theme/theme42.xml" ContentType="application/vnd.openxmlformats-officedocument.theme+xml"/>
  <Override PartName="/ppt/theme/theme43.xml" ContentType="application/vnd.openxmlformats-officedocument.theme+xml"/>
  <Override PartName="/ppt/theme/theme44.xml" ContentType="application/vnd.openxmlformats-officedocument.theme+xml"/>
  <Override PartName="/ppt/theme/theme50.xml" ContentType="application/vnd.openxmlformats-officedocument.theme+xml"/>
  <Override PartName="/ppt/theme/theme51.xml" ContentType="application/vnd.openxmlformats-officedocument.theme+xml"/>
  <Override PartName="/ppt/theme/theme52.xml" ContentType="application/vnd.openxmlformats-officedocument.theme+xml"/>
  <Override PartName="/ppt/theme/theme53.xml" ContentType="application/vnd.openxmlformats-officedocument.theme+xml"/>
  <Override PartName="/ppt/theme/theme39.xml" ContentType="application/vnd.openxmlformats-officedocument.theme+xml"/>
  <Override PartName="/ppt/theme/theme54.xml" ContentType="application/vnd.openxmlformats-officedocument.theme+xml"/>
  <Override PartName="/ppt/theme/theme45.xml" ContentType="application/vnd.openxmlformats-officedocument.theme+xml"/>
  <Override PartName="/ppt/theme/theme27.xml" ContentType="application/vnd.openxmlformats-officedocument.theme+xml"/>
  <Override PartName="/ppt/theme/theme60.xml" ContentType="application/vnd.openxmlformats-officedocument.theme+xml"/>
  <Override PartName="/ppt/theme/theme46.xml" ContentType="application/vnd.openxmlformats-officedocument.theme+xml"/>
  <Override PartName="/ppt/theme/theme61.xml" ContentType="application/vnd.openxmlformats-officedocument.theme+xml"/>
  <Override PartName="/ppt/theme/theme47.xml" ContentType="application/vnd.openxmlformats-officedocument.theme+xml"/>
  <Override PartName="/ppt/theme/theme62.xml" ContentType="application/vnd.openxmlformats-officedocument.theme+xml"/>
  <Override PartName="/ppt/theme/theme48.xml" ContentType="application/vnd.openxmlformats-officedocument.theme+xml"/>
  <Override PartName="/ppt/theme/theme63.xml" ContentType="application/vnd.openxmlformats-officedocument.theme+xml"/>
  <Override PartName="/ppt/theme/theme49.xml" ContentType="application/vnd.openxmlformats-officedocument.theme+xml"/>
  <Override PartName="/ppt/theme/theme64.xml" ContentType="application/vnd.openxmlformats-officedocument.theme+xml"/>
  <Override PartName="/ppt/theme/theme12.xml" ContentType="application/vnd.openxmlformats-officedocument.theme+xml"/>
  <Override PartName="/ppt/theme/theme65.xml" ContentType="application/vnd.openxmlformats-officedocument.theme+xml"/>
  <Override PartName="/ppt/theme/theme66.xml" ContentType="application/vnd.openxmlformats-officedocument.them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Masters/_rels/slideMaster65.xml.rels" ContentType="application/vnd.openxmlformats-package.relationships+xml"/>
  <Override PartName="/ppt/slideMasters/_rels/slideMaster59.xml.rels" ContentType="application/vnd.openxmlformats-package.relationships+xml"/>
  <Override PartName="/ppt/slideMasters/_rels/slideMaster64.xml.rels" ContentType="application/vnd.openxmlformats-package.relationships+xml"/>
  <Override PartName="/ppt/slideMasters/_rels/slideMaster49.xml.rels" ContentType="application/vnd.openxmlformats-package.relationships+xml"/>
  <Override PartName="/ppt/slideMasters/_rels/slideMaster58.xml.rels" ContentType="application/vnd.openxmlformats-package.relationships+xml"/>
  <Override PartName="/ppt/slideMasters/_rels/slideMaster63.xml.rels" ContentType="application/vnd.openxmlformats-package.relationships+xml"/>
  <Override PartName="/ppt/slideMasters/_rels/slideMaster48.xml.rels" ContentType="application/vnd.openxmlformats-package.relationships+xml"/>
  <Override PartName="/ppt/slideMasters/_rels/slideMaster57.xml.rels" ContentType="application/vnd.openxmlformats-package.relationships+xml"/>
  <Override PartName="/ppt/slideMasters/_rels/slideMaster62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47.xml.rels" ContentType="application/vnd.openxmlformats-package.relationships+xml"/>
  <Override PartName="/ppt/slideMasters/_rels/slideMaster56.xml.rels" ContentType="application/vnd.openxmlformats-package.relationships+xml"/>
  <Override PartName="/ppt/slideMasters/_rels/slideMaster61.xml.rels" ContentType="application/vnd.openxmlformats-package.relationships+xml"/>
  <Override PartName="/ppt/slideMasters/_rels/slideMaster46.xml.rels" ContentType="application/vnd.openxmlformats-package.relationships+xml"/>
  <Override PartName="/ppt/slideMasters/_rels/slideMaster55.xml.rels" ContentType="application/vnd.openxmlformats-package.relationships+xml"/>
  <Override PartName="/ppt/slideMasters/_rels/slideMaster60.xml.rels" ContentType="application/vnd.openxmlformats-package.relationships+xml"/>
  <Override PartName="/ppt/slideMasters/_rels/slideMaster45.xml.rels" ContentType="application/vnd.openxmlformats-package.relationships+xml"/>
  <Override PartName="/ppt/slideMasters/_rels/slideMaster54.xml.rels" ContentType="application/vnd.openxmlformats-package.relationships+xml"/>
  <Override PartName="/ppt/slideMasters/_rels/slideMaster53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52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1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50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44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43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7.xml.rels" ContentType="application/vnd.openxmlformats-package.relationships+xml"/>
  <Override PartName="/ppt/slideMasters/slideMaster37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52.xml" ContentType="application/vnd.openxmlformats-officedocument.presentationml.slideMaster+xml"/>
  <Override PartName="/ppt/slideMasters/slideMaster53.xml" ContentType="application/vnd.openxmlformats-officedocument.presentationml.slideMaster+xml"/>
  <Override PartName="/ppt/slideMasters/slideMaster54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60.xml" ContentType="application/vnd.openxmlformats-officedocument.presentationml.slideMaster+xml"/>
  <Override PartName="/ppt/slideMasters/slideMaster55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61.xml" ContentType="application/vnd.openxmlformats-officedocument.presentationml.slideMaster+xml"/>
  <Override PartName="/ppt/slideMasters/slideMaster56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62.xml" ContentType="application/vnd.openxmlformats-officedocument.presentationml.slideMaster+xml"/>
  <Override PartName="/ppt/slideMasters/slideMaster57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63.xml" ContentType="application/vnd.openxmlformats-officedocument.presentationml.slideMaster+xml"/>
  <Override PartName="/ppt/slideMasters/slideMaster58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64.xml" ContentType="application/vnd.openxmlformats-officedocument.presentationml.slideMaster+xml"/>
  <Override PartName="/ppt/slideMasters/slideMaster59.xml" ContentType="application/vnd.openxmlformats-officedocument.presentationml.slideMaster+xml"/>
  <Override PartName="/ppt/slideMasters/slideMaster65.xml" ContentType="application/vnd.openxmlformats-officedocument.presentationml.slideMaster+xml"/>
  <Override PartName="/ppt/_rels/presentation.xml.rels" ContentType="application/vnd.openxmlformats-package.relationship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_rels/slideLayout6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4.xml.rels" ContentType="application/vnd.openxmlformats-package.relationships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5.jpeg" ContentType="image/jpeg"/>
  <Override PartName="/ppt/media/image4.png" ContentType="image/png"/>
  <Override PartName="/ppt/media/image6.jpeg" ContentType="image/jpeg"/>
  <Override PartName="/ppt/media/image7.png" ContentType="image/png"/>
  <Override PartName="/ppt/slides/_rels/slide41.xml.rels" ContentType="application/vnd.openxmlformats-package.relationships+xml"/>
  <Override PartName="/ppt/slides/_rels/slide26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25.xml.rels" ContentType="application/vnd.openxmlformats-package.relationships+xml"/>
  <Override PartName="/ppt/slides/_rels/slide34.xml.rels" ContentType="application/vnd.openxmlformats-package.relationships+xml"/>
  <Override PartName="/ppt/slides/_rels/slide9.xml.rels" ContentType="application/vnd.openxmlformats-package.relationships+xml"/>
  <Override PartName="/ppt/slides/_rels/slide37.xml.rels" ContentType="application/vnd.openxmlformats-package.relationships+xml"/>
  <Override PartName="/ppt/slides/_rels/slide1.xml.rels" ContentType="application/vnd.openxmlformats-package.relationships+xml"/>
  <Override PartName="/ppt/slides/_rels/slide39.xml.rels" ContentType="application/vnd.openxmlformats-package.relationships+xml"/>
  <Override PartName="/ppt/slides/_rels/slide36.xml.rels" ContentType="application/vnd.openxmlformats-package.relationships+xml"/>
  <Override PartName="/ppt/slides/_rels/slide33.xml.rels" ContentType="application/vnd.openxmlformats-package.relationships+xml"/>
  <Override PartName="/ppt/slides/_rels/slide8.xml.rels" ContentType="application/vnd.openxmlformats-package.relationships+xml"/>
  <Override PartName="/ppt/slides/_rels/slide32.xml.rels" ContentType="application/vnd.openxmlformats-package.relationships+xml"/>
  <Override PartName="/ppt/slides/_rels/slide7.xml.rels" ContentType="application/vnd.openxmlformats-package.relationships+xml"/>
  <Override PartName="/ppt/slides/_rels/slide31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30.xml.rels" ContentType="application/vnd.openxmlformats-package.relationships+xml"/>
  <Override PartName="/ppt/slides/_rels/slide15.xml.rels" ContentType="application/vnd.openxmlformats-package.relationships+xml"/>
  <Override PartName="/ppt/slides/_rels/slide28.xml.rels" ContentType="application/vnd.openxmlformats-package.relationships+xml"/>
  <Override PartName="/ppt/slides/_rels/slide27.xml.rels" ContentType="application/vnd.openxmlformats-package.relationships+xml"/>
  <Override PartName="/ppt/slides/_rels/slide24.xml.rels" ContentType="application/vnd.openxmlformats-package.relationships+xml"/>
  <Override PartName="/ppt/slides/_rels/slide23.xml.rels" ContentType="application/vnd.openxmlformats-package.relationships+xml"/>
  <Override PartName="/ppt/slides/_rels/slide22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29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6.xml" ContentType="application/vnd.openxmlformats-officedocument.presentationml.slide+xml"/>
  <Override PartName="/ppt/slides/slide39.xml" ContentType="application/vnd.openxmlformats-officedocument.presentationml.slide+xml"/>
  <Override PartName="/ppt/slides/slide37.xml" ContentType="application/vnd.openxmlformats-officedocument.presentationml.slide+xml"/>
  <Override PartName="/ppt/slides/slide34.xml" ContentType="application/vnd.openxmlformats-officedocument.presentationml.slide+xml"/>
  <Override PartName="/ppt/slides/slide25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5.xml" ContentType="application/vnd.openxmlformats-officedocument.presentationml.slide+xml"/>
  <Override PartName="/ppt/slides/slide26.xml" ContentType="application/vnd.openxmlformats-officedocument.presentationml.slide+xml"/>
  <Override PartName="/ppt/slides/slide4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_rels/notesSlide36.xml.rels" ContentType="application/vnd.openxmlformats-package.relationships+xml"/>
  <Override PartName="/ppt/notesSlides/_rels/notesSlide35.xml.rels" ContentType="application/vnd.openxmlformats-package.relationships+xml"/>
  <Override PartName="/ppt/notesSlides/_rels/notesSlide41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4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40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3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32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31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37.xml.rels" ContentType="application/vnd.openxmlformats-package.relationships+xml"/>
  <Override PartName="/ppt/notesSlides/notesSlide3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  <p:sldMasterId id="2147483728" r:id="rId42"/>
    <p:sldMasterId id="2147483730" r:id="rId43"/>
    <p:sldMasterId id="2147483732" r:id="rId44"/>
    <p:sldMasterId id="2147483734" r:id="rId45"/>
    <p:sldMasterId id="2147483736" r:id="rId46"/>
    <p:sldMasterId id="2147483738" r:id="rId47"/>
    <p:sldMasterId id="2147483740" r:id="rId48"/>
    <p:sldMasterId id="2147483742" r:id="rId49"/>
    <p:sldMasterId id="2147483744" r:id="rId50"/>
    <p:sldMasterId id="2147483746" r:id="rId51"/>
    <p:sldMasterId id="2147483748" r:id="rId52"/>
    <p:sldMasterId id="2147483750" r:id="rId53"/>
    <p:sldMasterId id="2147483752" r:id="rId54"/>
    <p:sldMasterId id="2147483754" r:id="rId55"/>
    <p:sldMasterId id="2147483756" r:id="rId56"/>
    <p:sldMasterId id="2147483758" r:id="rId57"/>
    <p:sldMasterId id="2147483764" r:id="rId58"/>
    <p:sldMasterId id="2147483766" r:id="rId59"/>
    <p:sldMasterId id="2147483768" r:id="rId60"/>
    <p:sldMasterId id="2147483770" r:id="rId61"/>
    <p:sldMasterId id="2147483772" r:id="rId62"/>
    <p:sldMasterId id="2147483774" r:id="rId63"/>
    <p:sldMasterId id="2147483776" r:id="rId64"/>
    <p:sldMasterId id="2147483778" r:id="rId65"/>
    <p:sldMasterId id="2147483780" r:id="rId66"/>
  </p:sldMasterIdLst>
  <p:notesMasterIdLst>
    <p:notesMasterId r:id="rId67"/>
  </p:notesMasterIdLst>
  <p:sldIdLst>
    <p:sldId id="256" r:id="rId68"/>
    <p:sldId id="257" r:id="rId69"/>
    <p:sldId id="258" r:id="rId70"/>
    <p:sldId id="259" r:id="rId71"/>
    <p:sldId id="260" r:id="rId72"/>
    <p:sldId id="261" r:id="rId73"/>
    <p:sldId id="262" r:id="rId74"/>
    <p:sldId id="263" r:id="rId75"/>
    <p:sldId id="264" r:id="rId76"/>
    <p:sldId id="265" r:id="rId77"/>
    <p:sldId id="266" r:id="rId78"/>
    <p:sldId id="267" r:id="rId79"/>
    <p:sldId id="268" r:id="rId80"/>
    <p:sldId id="269" r:id="rId81"/>
    <p:sldId id="270" r:id="rId82"/>
    <p:sldId id="271" r:id="rId83"/>
    <p:sldId id="272" r:id="rId84"/>
    <p:sldId id="273" r:id="rId85"/>
    <p:sldId id="274" r:id="rId86"/>
    <p:sldId id="275" r:id="rId87"/>
    <p:sldId id="276" r:id="rId88"/>
    <p:sldId id="277" r:id="rId89"/>
    <p:sldId id="278" r:id="rId90"/>
    <p:sldId id="279" r:id="rId91"/>
    <p:sldId id="280" r:id="rId92"/>
    <p:sldId id="281" r:id="rId93"/>
    <p:sldId id="282" r:id="rId94"/>
    <p:sldId id="283" r:id="rId95"/>
    <p:sldId id="284" r:id="rId96"/>
    <p:sldId id="285" r:id="rId97"/>
    <p:sldId id="286" r:id="rId98"/>
    <p:sldId id="287" r:id="rId99"/>
    <p:sldId id="288" r:id="rId100"/>
    <p:sldId id="289" r:id="rId101"/>
    <p:sldId id="290" r:id="rId102"/>
    <p:sldId id="291" r:id="rId103"/>
    <p:sldId id="292" r:id="rId104"/>
    <p:sldId id="293" r:id="rId105"/>
    <p:sldId id="294" r:id="rId106"/>
    <p:sldId id="295" r:id="rId107"/>
    <p:sldId id="296" r:id="rId108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slideMaster" Target="slideMasters/slideMaster47.xml"/><Relationship Id="rId49" Type="http://schemas.openxmlformats.org/officeDocument/2006/relationships/slideMaster" Target="slideMasters/slideMaster48.xml"/><Relationship Id="rId50" Type="http://schemas.openxmlformats.org/officeDocument/2006/relationships/slideMaster" Target="slideMasters/slideMaster49.xml"/><Relationship Id="rId51" Type="http://schemas.openxmlformats.org/officeDocument/2006/relationships/slideMaster" Target="slideMasters/slideMaster50.xml"/><Relationship Id="rId52" Type="http://schemas.openxmlformats.org/officeDocument/2006/relationships/slideMaster" Target="slideMasters/slideMaster51.xml"/><Relationship Id="rId53" Type="http://schemas.openxmlformats.org/officeDocument/2006/relationships/slideMaster" Target="slideMasters/slideMaster52.xml"/><Relationship Id="rId54" Type="http://schemas.openxmlformats.org/officeDocument/2006/relationships/slideMaster" Target="slideMasters/slideMaster53.xml"/><Relationship Id="rId55" Type="http://schemas.openxmlformats.org/officeDocument/2006/relationships/slideMaster" Target="slideMasters/slideMaster54.xml"/><Relationship Id="rId56" Type="http://schemas.openxmlformats.org/officeDocument/2006/relationships/slideMaster" Target="slideMasters/slideMaster55.xml"/><Relationship Id="rId57" Type="http://schemas.openxmlformats.org/officeDocument/2006/relationships/slideMaster" Target="slideMasters/slideMaster56.xml"/><Relationship Id="rId58" Type="http://schemas.openxmlformats.org/officeDocument/2006/relationships/slideMaster" Target="slideMasters/slideMaster57.xml"/><Relationship Id="rId59" Type="http://schemas.openxmlformats.org/officeDocument/2006/relationships/slideMaster" Target="slideMasters/slideMaster58.xml"/><Relationship Id="rId60" Type="http://schemas.openxmlformats.org/officeDocument/2006/relationships/slideMaster" Target="slideMasters/slideMaster59.xml"/><Relationship Id="rId61" Type="http://schemas.openxmlformats.org/officeDocument/2006/relationships/slideMaster" Target="slideMasters/slideMaster60.xml"/><Relationship Id="rId62" Type="http://schemas.openxmlformats.org/officeDocument/2006/relationships/slideMaster" Target="slideMasters/slideMaster61.xml"/><Relationship Id="rId63" Type="http://schemas.openxmlformats.org/officeDocument/2006/relationships/slideMaster" Target="slideMasters/slideMaster62.xml"/><Relationship Id="rId64" Type="http://schemas.openxmlformats.org/officeDocument/2006/relationships/slideMaster" Target="slideMasters/slideMaster63.xml"/><Relationship Id="rId65" Type="http://schemas.openxmlformats.org/officeDocument/2006/relationships/slideMaster" Target="slideMasters/slideMaster64.xml"/><Relationship Id="rId66" Type="http://schemas.openxmlformats.org/officeDocument/2006/relationships/slideMaster" Target="slideMasters/slideMaster65.xml"/><Relationship Id="rId67" Type="http://schemas.openxmlformats.org/officeDocument/2006/relationships/notesMaster" Target="notesMasters/notesMaster1.xml"/><Relationship Id="rId68" Type="http://schemas.openxmlformats.org/officeDocument/2006/relationships/slide" Target="slides/slide1.xml"/><Relationship Id="rId69" Type="http://schemas.openxmlformats.org/officeDocument/2006/relationships/slide" Target="slides/slide2.xml"/><Relationship Id="rId70" Type="http://schemas.openxmlformats.org/officeDocument/2006/relationships/slide" Target="slides/slide3.xml"/><Relationship Id="rId71" Type="http://schemas.openxmlformats.org/officeDocument/2006/relationships/slide" Target="slides/slide4.xml"/><Relationship Id="rId72" Type="http://schemas.openxmlformats.org/officeDocument/2006/relationships/slide" Target="slides/slide5.xml"/><Relationship Id="rId73" Type="http://schemas.openxmlformats.org/officeDocument/2006/relationships/slide" Target="slides/slide6.xml"/><Relationship Id="rId74" Type="http://schemas.openxmlformats.org/officeDocument/2006/relationships/slide" Target="slides/slide7.xml"/><Relationship Id="rId75" Type="http://schemas.openxmlformats.org/officeDocument/2006/relationships/slide" Target="slides/slide8.xml"/><Relationship Id="rId76" Type="http://schemas.openxmlformats.org/officeDocument/2006/relationships/slide" Target="slides/slide9.xml"/><Relationship Id="rId77" Type="http://schemas.openxmlformats.org/officeDocument/2006/relationships/slide" Target="slides/slide10.xml"/><Relationship Id="rId78" Type="http://schemas.openxmlformats.org/officeDocument/2006/relationships/slide" Target="slides/slide11.xml"/><Relationship Id="rId79" Type="http://schemas.openxmlformats.org/officeDocument/2006/relationships/slide" Target="slides/slide12.xml"/><Relationship Id="rId80" Type="http://schemas.openxmlformats.org/officeDocument/2006/relationships/slide" Target="slides/slide13.xml"/><Relationship Id="rId81" Type="http://schemas.openxmlformats.org/officeDocument/2006/relationships/slide" Target="slides/slide14.xml"/><Relationship Id="rId82" Type="http://schemas.openxmlformats.org/officeDocument/2006/relationships/slide" Target="slides/slide15.xml"/><Relationship Id="rId83" Type="http://schemas.openxmlformats.org/officeDocument/2006/relationships/slide" Target="slides/slide16.xml"/><Relationship Id="rId84" Type="http://schemas.openxmlformats.org/officeDocument/2006/relationships/slide" Target="slides/slide17.xml"/><Relationship Id="rId85" Type="http://schemas.openxmlformats.org/officeDocument/2006/relationships/slide" Target="slides/slide18.xml"/><Relationship Id="rId86" Type="http://schemas.openxmlformats.org/officeDocument/2006/relationships/slide" Target="slides/slide19.xml"/><Relationship Id="rId87" Type="http://schemas.openxmlformats.org/officeDocument/2006/relationships/slide" Target="slides/slide20.xml"/><Relationship Id="rId88" Type="http://schemas.openxmlformats.org/officeDocument/2006/relationships/slide" Target="slides/slide21.xml"/><Relationship Id="rId89" Type="http://schemas.openxmlformats.org/officeDocument/2006/relationships/slide" Target="slides/slide22.xml"/><Relationship Id="rId90" Type="http://schemas.openxmlformats.org/officeDocument/2006/relationships/slide" Target="slides/slide23.xml"/><Relationship Id="rId91" Type="http://schemas.openxmlformats.org/officeDocument/2006/relationships/slide" Target="slides/slide24.xml"/><Relationship Id="rId92" Type="http://schemas.openxmlformats.org/officeDocument/2006/relationships/slide" Target="slides/slide25.xml"/><Relationship Id="rId93" Type="http://schemas.openxmlformats.org/officeDocument/2006/relationships/slide" Target="slides/slide26.xml"/><Relationship Id="rId94" Type="http://schemas.openxmlformats.org/officeDocument/2006/relationships/slide" Target="slides/slide27.xml"/><Relationship Id="rId95" Type="http://schemas.openxmlformats.org/officeDocument/2006/relationships/slide" Target="slides/slide28.xml"/><Relationship Id="rId96" Type="http://schemas.openxmlformats.org/officeDocument/2006/relationships/slide" Target="slides/slide29.xml"/><Relationship Id="rId97" Type="http://schemas.openxmlformats.org/officeDocument/2006/relationships/slide" Target="slides/slide30.xml"/><Relationship Id="rId98" Type="http://schemas.openxmlformats.org/officeDocument/2006/relationships/slide" Target="slides/slide31.xml"/><Relationship Id="rId99" Type="http://schemas.openxmlformats.org/officeDocument/2006/relationships/slide" Target="slides/slide32.xml"/><Relationship Id="rId100" Type="http://schemas.openxmlformats.org/officeDocument/2006/relationships/slide" Target="slides/slide33.xml"/><Relationship Id="rId101" Type="http://schemas.openxmlformats.org/officeDocument/2006/relationships/slide" Target="slides/slide34.xml"/><Relationship Id="rId102" Type="http://schemas.openxmlformats.org/officeDocument/2006/relationships/slide" Target="slides/slide35.xml"/><Relationship Id="rId103" Type="http://schemas.openxmlformats.org/officeDocument/2006/relationships/slide" Target="slides/slide36.xml"/><Relationship Id="rId104" Type="http://schemas.openxmlformats.org/officeDocument/2006/relationships/slide" Target="slides/slide37.xml"/><Relationship Id="rId105" Type="http://schemas.openxmlformats.org/officeDocument/2006/relationships/slide" Target="slides/slide38.xml"/><Relationship Id="rId106" Type="http://schemas.openxmlformats.org/officeDocument/2006/relationships/slide" Target="slides/slide39.xml"/><Relationship Id="rId107" Type="http://schemas.openxmlformats.org/officeDocument/2006/relationships/slide" Target="slides/slide40.xml"/><Relationship Id="rId108" Type="http://schemas.openxmlformats.org/officeDocument/2006/relationships/slide" Target="slides/slide41.xml"/><Relationship Id="rId10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94" name="PlaceHolder 4"/>
          <p:cNvSpPr>
            <a:spLocks noGrp="1"/>
          </p:cNvSpPr>
          <p:nvPr>
            <p:ph type="dt" idx="66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95" name="PlaceHolder 5"/>
          <p:cNvSpPr>
            <a:spLocks noGrp="1"/>
          </p:cNvSpPr>
          <p:nvPr>
            <p:ph type="ftr" idx="67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96" name="PlaceHolder 6"/>
          <p:cNvSpPr>
            <a:spLocks noGrp="1"/>
          </p:cNvSpPr>
          <p:nvPr>
            <p:ph type="sldNum" idx="68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75E4D00-9983-4F35-92ED-A221209B488A}" type="slidenum"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4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634194-80F0-4357-BC48-CFE04125DE6C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41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7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46ADC5-C9BC-41B8-BD58-E13231181265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41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78EA87A-FF22-4DFB-B583-54767837C31C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41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3" name="PlaceHolder 3"/>
          <p:cNvSpPr>
            <a:spLocks noGrp="1"/>
          </p:cNvSpPr>
          <p:nvPr>
            <p:ph type="sldNum" idx="113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37ED76-C51E-45FD-9064-1B458CEB0AD8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41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6" name="PlaceHolder 3"/>
          <p:cNvSpPr>
            <a:spLocks noGrp="1"/>
          </p:cNvSpPr>
          <p:nvPr>
            <p:ph type="sldNum" idx="114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0CCAF99-7164-44C4-B37C-53CF88F909BD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41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49" name="PlaceHolder 3"/>
          <p:cNvSpPr>
            <a:spLocks noGrp="1"/>
          </p:cNvSpPr>
          <p:nvPr>
            <p:ph type="sldNum" idx="115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EEA583-65E2-4C31-B0A5-7078040F4840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41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2" name="PlaceHolder 3"/>
          <p:cNvSpPr>
            <a:spLocks noGrp="1"/>
          </p:cNvSpPr>
          <p:nvPr>
            <p:ph type="sldNum" idx="116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A313E0-F6F8-4188-BF2B-51645FB05D8B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41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5" name="PlaceHolder 3"/>
          <p:cNvSpPr>
            <a:spLocks noGrp="1"/>
          </p:cNvSpPr>
          <p:nvPr>
            <p:ph type="sldNum" idx="117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6106EA-2791-4420-A1F9-7EECD8357AF1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41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8" name="PlaceHolder 3"/>
          <p:cNvSpPr>
            <a:spLocks noGrp="1"/>
          </p:cNvSpPr>
          <p:nvPr>
            <p:ph type="sldNum" idx="118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5C580F-0064-468D-9D71-ED24D1214E19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41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1" name="PlaceHolder 3"/>
          <p:cNvSpPr>
            <a:spLocks noGrp="1"/>
          </p:cNvSpPr>
          <p:nvPr>
            <p:ph type="sldNum" idx="119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B7398A-A53F-4969-B5A0-C39FC75E8FEC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41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4" name="PlaceHolder 3"/>
          <p:cNvSpPr>
            <a:spLocks noGrp="1"/>
          </p:cNvSpPr>
          <p:nvPr>
            <p:ph type="sldNum" idx="120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B14CF7-2DB4-4A28-931C-9E1D125D4834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41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7" name="PlaceHolder 3"/>
          <p:cNvSpPr>
            <a:spLocks noGrp="1"/>
          </p:cNvSpPr>
          <p:nvPr>
            <p:ph type="sldNum" idx="121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8D032B-24F0-45F0-B994-CE24DCF734FF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0" name="PlaceHolder 3"/>
          <p:cNvSpPr>
            <a:spLocks noGrp="1"/>
          </p:cNvSpPr>
          <p:nvPr>
            <p:ph type="sldNum" idx="122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69C38A-766E-48E8-BE96-E2A38E6F3403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3" name="PlaceHolder 3"/>
          <p:cNvSpPr>
            <a:spLocks noGrp="1"/>
          </p:cNvSpPr>
          <p:nvPr>
            <p:ph type="sldNum" idx="123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EABE80-36E1-4820-8E39-6E2174AE89D1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6" name="PlaceHolder 3"/>
          <p:cNvSpPr>
            <a:spLocks noGrp="1"/>
          </p:cNvSpPr>
          <p:nvPr>
            <p:ph type="sldNum" idx="124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A85FC9-9385-4EFA-BCEB-515CF639536C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9" name="PlaceHolder 3"/>
          <p:cNvSpPr>
            <a:spLocks noGrp="1"/>
          </p:cNvSpPr>
          <p:nvPr>
            <p:ph type="sldNum" idx="125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DF5F54-8CCD-4351-8213-36F4BA33AAF8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2" name="PlaceHolder 3"/>
          <p:cNvSpPr>
            <a:spLocks noGrp="1"/>
          </p:cNvSpPr>
          <p:nvPr>
            <p:ph type="sldNum" idx="126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6328EF-0D2D-44F2-91E1-0B49DC6BE2FB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5" name="PlaceHolder 3"/>
          <p:cNvSpPr>
            <a:spLocks noGrp="1"/>
          </p:cNvSpPr>
          <p:nvPr>
            <p:ph type="sldNum" idx="127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8A818E-A3B5-449A-A192-DC16C53BE16B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8" name="PlaceHolder 3"/>
          <p:cNvSpPr>
            <a:spLocks noGrp="1"/>
          </p:cNvSpPr>
          <p:nvPr>
            <p:ph type="sldNum" idx="128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4BCCD7-BEC1-44F2-97B2-EC9FF5C57657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1" name="PlaceHolder 3"/>
          <p:cNvSpPr>
            <a:spLocks noGrp="1"/>
          </p:cNvSpPr>
          <p:nvPr>
            <p:ph type="sldNum" idx="129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071223-255F-4381-A2B9-A09FB0B1FD95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4" name="PlaceHolder 3"/>
          <p:cNvSpPr>
            <a:spLocks noGrp="1"/>
          </p:cNvSpPr>
          <p:nvPr>
            <p:ph type="sldNum" idx="130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F389ED-8279-4A4F-86B9-6E05F79892D3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97" name="PlaceHolder 3"/>
          <p:cNvSpPr>
            <a:spLocks noGrp="1"/>
          </p:cNvSpPr>
          <p:nvPr>
            <p:ph type="sldNum" idx="131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5CE43F-567F-4B4D-9DAF-6160B542AE72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9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0" name="PlaceHolder 3"/>
          <p:cNvSpPr>
            <a:spLocks noGrp="1"/>
          </p:cNvSpPr>
          <p:nvPr>
            <p:ph type="sldNum" idx="132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76C2A6-2B47-458D-BC78-8370AAEDF730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10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3" name="PlaceHolder 3"/>
          <p:cNvSpPr>
            <a:spLocks noGrp="1"/>
          </p:cNvSpPr>
          <p:nvPr>
            <p:ph type="sldNum" idx="133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3D92C2E-9608-4202-92D7-01443126E106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10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6" name="PlaceHolder 3"/>
          <p:cNvSpPr>
            <a:spLocks noGrp="1"/>
          </p:cNvSpPr>
          <p:nvPr>
            <p:ph type="sldNum" idx="134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7C023D-70C9-464F-9907-E1166E3BD6F4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10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09" name="PlaceHolder 3"/>
          <p:cNvSpPr>
            <a:spLocks noGrp="1"/>
          </p:cNvSpPr>
          <p:nvPr>
            <p:ph type="sldNum" idx="135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C9CAAB-911A-4107-AD0C-5B927B61852D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880" cy="3064320"/>
          </a:xfrm>
          <a:prstGeom prst="rect">
            <a:avLst/>
          </a:prstGeom>
          <a:ln w="0">
            <a:noFill/>
          </a:ln>
        </p:spPr>
      </p:sp>
      <p:sp>
        <p:nvSpPr>
          <p:cNvPr id="10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440" cy="357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2" name="PlaceHolder 3"/>
          <p:cNvSpPr>
            <a:spLocks noGrp="1"/>
          </p:cNvSpPr>
          <p:nvPr>
            <p:ph type="sldNum" idx="136"/>
          </p:nvPr>
        </p:nvSpPr>
        <p:spPr>
          <a:xfrm>
            <a:off x="3884760" y="8685360"/>
            <a:ext cx="2949840" cy="43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19BF5B7-21AB-4780-9451-09201AC3972B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880" cy="3064320"/>
          </a:xfrm>
          <a:prstGeom prst="rect">
            <a:avLst/>
          </a:prstGeom>
          <a:ln w="0">
            <a:noFill/>
          </a:ln>
        </p:spPr>
      </p:sp>
      <p:sp>
        <p:nvSpPr>
          <p:cNvPr id="10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440" cy="357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5" name="PlaceHolder 3"/>
          <p:cNvSpPr>
            <a:spLocks noGrp="1"/>
          </p:cNvSpPr>
          <p:nvPr>
            <p:ph type="sldNum" idx="137"/>
          </p:nvPr>
        </p:nvSpPr>
        <p:spPr>
          <a:xfrm>
            <a:off x="3884760" y="8685360"/>
            <a:ext cx="2949840" cy="43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9682DF-2712-45F1-A91A-CC9834F6F60F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880" cy="3064320"/>
          </a:xfrm>
          <a:prstGeom prst="rect">
            <a:avLst/>
          </a:prstGeom>
          <a:ln w="0">
            <a:noFill/>
          </a:ln>
        </p:spPr>
      </p:sp>
      <p:sp>
        <p:nvSpPr>
          <p:cNvPr id="10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440" cy="357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8" name="PlaceHolder 3"/>
          <p:cNvSpPr>
            <a:spLocks noGrp="1"/>
          </p:cNvSpPr>
          <p:nvPr>
            <p:ph type="sldNum" idx="138"/>
          </p:nvPr>
        </p:nvSpPr>
        <p:spPr>
          <a:xfrm>
            <a:off x="3884760" y="8685360"/>
            <a:ext cx="2949840" cy="43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7D34AC-6B9A-4887-827A-BA9C057719A9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880" cy="3064320"/>
          </a:xfrm>
          <a:prstGeom prst="rect">
            <a:avLst/>
          </a:prstGeom>
          <a:ln w="0">
            <a:noFill/>
          </a:ln>
        </p:spPr>
      </p:sp>
      <p:sp>
        <p:nvSpPr>
          <p:cNvPr id="10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440" cy="357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1" name="PlaceHolder 3"/>
          <p:cNvSpPr>
            <a:spLocks noGrp="1"/>
          </p:cNvSpPr>
          <p:nvPr>
            <p:ph type="sldNum" idx="139"/>
          </p:nvPr>
        </p:nvSpPr>
        <p:spPr>
          <a:xfrm>
            <a:off x="3884760" y="8685360"/>
            <a:ext cx="2949840" cy="43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1DB7BE-2A01-4B13-9BB1-94A3B28B1276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880" cy="3064320"/>
          </a:xfrm>
          <a:prstGeom prst="rect">
            <a:avLst/>
          </a:prstGeom>
          <a:ln w="0">
            <a:noFill/>
          </a:ln>
        </p:spPr>
      </p:sp>
      <p:sp>
        <p:nvSpPr>
          <p:cNvPr id="10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440" cy="357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4" name="PlaceHolder 3"/>
          <p:cNvSpPr>
            <a:spLocks noGrp="1"/>
          </p:cNvSpPr>
          <p:nvPr>
            <p:ph type="sldNum" idx="140"/>
          </p:nvPr>
        </p:nvSpPr>
        <p:spPr>
          <a:xfrm>
            <a:off x="3884760" y="8685360"/>
            <a:ext cx="2949840" cy="43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D97F49-2965-4DF8-8D18-6FFF492132F5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880" cy="3064320"/>
          </a:xfrm>
          <a:prstGeom prst="rect">
            <a:avLst/>
          </a:prstGeom>
          <a:ln w="0">
            <a:noFill/>
          </a:ln>
        </p:spPr>
      </p:sp>
      <p:sp>
        <p:nvSpPr>
          <p:cNvPr id="10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440" cy="357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7" name="PlaceHolder 3"/>
          <p:cNvSpPr>
            <a:spLocks noGrp="1"/>
          </p:cNvSpPr>
          <p:nvPr>
            <p:ph type="sldNum" idx="141"/>
          </p:nvPr>
        </p:nvSpPr>
        <p:spPr>
          <a:xfrm>
            <a:off x="3884760" y="8685360"/>
            <a:ext cx="2949840" cy="43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4788E5E-2C09-409A-B9B9-9AAD4A07A0B9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880" cy="3064320"/>
          </a:xfrm>
          <a:prstGeom prst="rect">
            <a:avLst/>
          </a:prstGeom>
          <a:ln w="0">
            <a:noFill/>
          </a:ln>
        </p:spPr>
      </p:sp>
      <p:sp>
        <p:nvSpPr>
          <p:cNvPr id="10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440" cy="357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0" name="PlaceHolder 3"/>
          <p:cNvSpPr>
            <a:spLocks noGrp="1"/>
          </p:cNvSpPr>
          <p:nvPr>
            <p:ph type="sldNum" idx="142"/>
          </p:nvPr>
        </p:nvSpPr>
        <p:spPr>
          <a:xfrm>
            <a:off x="3884760" y="8685360"/>
            <a:ext cx="2949840" cy="43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8871D87-6B66-46DC-A009-4BE37DDD6769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880" cy="3064320"/>
          </a:xfrm>
          <a:prstGeom prst="rect">
            <a:avLst/>
          </a:prstGeom>
          <a:ln w="0">
            <a:noFill/>
          </a:ln>
        </p:spPr>
      </p:sp>
      <p:sp>
        <p:nvSpPr>
          <p:cNvPr id="10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440" cy="357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3" name="PlaceHolder 3"/>
          <p:cNvSpPr>
            <a:spLocks noGrp="1"/>
          </p:cNvSpPr>
          <p:nvPr>
            <p:ph type="sldNum" idx="143"/>
          </p:nvPr>
        </p:nvSpPr>
        <p:spPr>
          <a:xfrm>
            <a:off x="3884760" y="8685360"/>
            <a:ext cx="2949840" cy="43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074C65-E038-4ED8-A752-29B3B7D8C704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5880" cy="3064320"/>
          </a:xfrm>
          <a:prstGeom prst="rect">
            <a:avLst/>
          </a:prstGeom>
          <a:ln w="0">
            <a:noFill/>
          </a:ln>
        </p:spPr>
      </p:sp>
      <p:sp>
        <p:nvSpPr>
          <p:cNvPr id="10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4440" cy="357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6" name="PlaceHolder 3"/>
          <p:cNvSpPr>
            <a:spLocks noGrp="1"/>
          </p:cNvSpPr>
          <p:nvPr>
            <p:ph type="sldNum" idx="144"/>
          </p:nvPr>
        </p:nvSpPr>
        <p:spPr>
          <a:xfrm>
            <a:off x="3884760" y="8685360"/>
            <a:ext cx="2949840" cy="43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CA788C5-E7F3-42A0-8D81-F8EEF4AE3CA5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10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9" name="PlaceHolder 3"/>
          <p:cNvSpPr>
            <a:spLocks noGrp="1"/>
          </p:cNvSpPr>
          <p:nvPr>
            <p:ph type="sldNum" idx="145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B05CBC-D2E7-4A5A-BD8A-2132E35B6DE2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10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2" name="PlaceHolder 3"/>
          <p:cNvSpPr>
            <a:spLocks noGrp="1"/>
          </p:cNvSpPr>
          <p:nvPr>
            <p:ph type="sldNum" idx="146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2D2CA2-9697-4EF4-A1CB-5F7360D54838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10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5" name="PlaceHolder 3"/>
          <p:cNvSpPr>
            <a:spLocks noGrp="1"/>
          </p:cNvSpPr>
          <p:nvPr>
            <p:ph type="sldNum" idx="147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905409-2395-46C7-9DBE-45CA0B31C286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10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48" name="PlaceHolder 3"/>
          <p:cNvSpPr>
            <a:spLocks noGrp="1"/>
          </p:cNvSpPr>
          <p:nvPr>
            <p:ph type="sldNum" idx="148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718AA8-FBBF-4A3F-AA24-3B2B02710265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10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1" name="PlaceHolder 3"/>
          <p:cNvSpPr>
            <a:spLocks noGrp="1"/>
          </p:cNvSpPr>
          <p:nvPr>
            <p:ph type="sldNum" idx="149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46F550-7D7E-4060-ABF1-71EE067F98D4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2360" cy="3070800"/>
          </a:xfrm>
          <a:prstGeom prst="rect">
            <a:avLst/>
          </a:prstGeom>
          <a:ln w="0">
            <a:noFill/>
          </a:ln>
        </p:spPr>
      </p:sp>
      <p:sp>
        <p:nvSpPr>
          <p:cNvPr id="10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0920" cy="358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4" name="PlaceHolder 3"/>
          <p:cNvSpPr>
            <a:spLocks noGrp="1"/>
          </p:cNvSpPr>
          <p:nvPr>
            <p:ph type="sldNum" idx="150"/>
          </p:nvPr>
        </p:nvSpPr>
        <p:spPr>
          <a:xfrm>
            <a:off x="3884760" y="8685360"/>
            <a:ext cx="2956320" cy="4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901E55-FC7E-4839-9F77-5F3F5D533DBE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3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5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6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7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8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2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3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4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6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6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6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6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6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7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8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9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0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1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2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4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682520F-87AF-484F-93CB-EB432C6D9DB9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02A25C-10F9-48B2-8B9B-F796BD4DC8DA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D229969-E076-44AA-A7E1-514309817161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C7A3D8D-C3B7-40EE-8039-A42514A22AE2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57C6215-2845-4790-BF24-55225837CD38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A6F27ED-456D-43C2-AD57-5EE769046E55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39CE8E6F-463E-48D6-A394-0318CE6843BC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9FE8FB0-17E1-4965-80E3-37B02C0DA14D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85CE235-02DF-47DD-8E77-32654EC26CEE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1780FA4D-919F-42F0-8F40-019A0FC8F8FC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D3E3C3B-8F97-4151-92BB-5D1BD06FDA2C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0351688A-3542-457F-922F-7D0FFD3B924A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8A725EB5-BE43-4148-9D5B-CB1D1DCC1930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4AB602A-955A-4DB5-9C68-AF2335D23B42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E353801-006F-423B-BA80-9E3C7037E26A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F2CB2AC2-A1E4-4A5B-80F3-62A77D5F1D6C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08D826B1-D29D-4758-800F-42C7F0B01731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BC3EB55-AB5D-4F03-A8E0-524D24EFCB0C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6892A6DE-5F48-48D8-BFBD-F2A9A0A6BAA3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7A047D4-091C-4E08-9CA9-6F3479B7ECE4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0E9CF66B-7823-4910-AA0C-AC0562FDEA22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2935877F-96D1-4A1E-BB2E-F33C539CF0E4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3084295-6984-441E-B6AB-F66892805158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4A54B50D-8CAD-4D92-8592-626FF6E31D9F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6F555ABC-C6B4-4553-ACAA-44437614B615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756DB33-5C41-49A6-877F-80CDF16F5C50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DB769C84-CE90-428B-BC4D-38187CD76FBF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366E0304-3E78-4FB9-8671-5256B83C3A33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864CC87-043A-4C47-8F62-E20DFD5B8DA2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1913A1A2-8299-4871-A806-9E7EAC2BE323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A319BDF6-64BA-4A66-98DF-3D13EB2EFD2D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CAB6FC5-0105-4CEB-B614-8D656A1859F4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F7435D2B-A75A-4034-930B-DB09E9E3956A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84A135AB-A608-4AB3-988C-FE0759839E07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7E28276-1535-404C-8122-0E625FC5F5AC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944B652D-C4C1-478D-AC20-D1BFBC595FA6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5EB1528A-3200-411E-9007-239500D2320A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E75E44D-FA48-4E24-9A16-306487E09B5B}" type="slidenum">
              <a:t>&lt;#&gt;</a:t>
            </a:fld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2EDA4F29-59AF-4FDC-80FE-8CB317204F29}" type="slidenum">
              <a:t>&lt;#&gt;</a:t>
            </a:fld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C6515647-E1A0-49A8-B315-6F03010A32EB}" type="slidenum">
              <a:t>&lt;#&gt;</a:t>
            </a:fld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40F5FDF-65B3-4002-9DBE-2741766C7885}" type="slidenum">
              <a:t>&lt;#&gt;</a:t>
            </a:fld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2"/>
          </p:nvPr>
        </p:nvSpPr>
        <p:spPr/>
        <p:txBody>
          <a:bodyPr/>
          <a:p>
            <a:fld id="{E3CFCBC1-A15C-4D61-B397-159A03E9B822}" type="slidenum">
              <a:t>&lt;#&gt;</a:t>
            </a:fld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3"/>
          </p:nvPr>
        </p:nvSpPr>
        <p:spPr/>
        <p:txBody>
          <a:bodyPr/>
          <a:p>
            <a:fld id="{6FB9B096-F2E4-4536-8C12-AC872E41740B}" type="slidenum">
              <a:t>&lt;#&gt;</a:t>
            </a:fld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9D9A84D-F00C-4AD5-B676-3FA4F25B559C}" type="slidenum">
              <a:t>&lt;#&gt;</a:t>
            </a:fld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p>
            <a:fld id="{1F97F031-BE64-4F8D-9397-112A06E0030E}" type="slidenum">
              <a:t>&lt;#&gt;</a:t>
            </a:fld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p>
            <a:fld id="{085F9C78-B65A-49F1-AF2C-CFBDD2D431BE}" type="slidenum">
              <a:t>&lt;#&gt;</a:t>
            </a:fld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DF16EC12-C193-4B69-8A99-72C6502D2CC3}" type="slidenum">
              <a:t>&lt;#&gt;</a:t>
            </a:fld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8"/>
          </p:nvPr>
        </p:nvSpPr>
        <p:spPr/>
        <p:txBody>
          <a:bodyPr/>
          <a:p>
            <a:fld id="{13AEF117-CF72-44D5-BDD9-68D53931CA34}" type="slidenum">
              <a:t>&lt;#&gt;</a:t>
            </a:fld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9"/>
          </p:nvPr>
        </p:nvSpPr>
        <p:spPr/>
        <p:txBody>
          <a:bodyPr/>
          <a:p>
            <a:fld id="{CFEE112E-BD8F-4C70-B2B2-7D9C9AC5D39C}" type="slidenum">
              <a:t>&lt;#&gt;</a:t>
            </a:fld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B548695-AC20-4D2C-9AA9-C481069CED1D}" type="slidenum">
              <a:t>&lt;#&gt;</a:t>
            </a:fld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1"/>
          </p:nvPr>
        </p:nvSpPr>
        <p:spPr/>
        <p:txBody>
          <a:bodyPr/>
          <a:p>
            <a:fld id="{F235D6DD-CA94-466E-A2B3-4BE096D5C497}" type="slidenum">
              <a:t>&lt;#&gt;</a:t>
            </a:fld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2"/>
          </p:nvPr>
        </p:nvSpPr>
        <p:spPr/>
        <p:txBody>
          <a:bodyPr/>
          <a:p>
            <a:fld id="{6170BF5F-87E8-407D-8B98-506127430BED}" type="slidenum">
              <a:t>&lt;#&gt;</a:t>
            </a:fld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0C35B6ED-4F05-4C0E-B4E8-7C8BB17A8BDA}" type="slidenum">
              <a:t>&lt;#&gt;</a:t>
            </a:fld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15B22380-B59C-4C39-A597-B7B35B5702B4}" type="slidenum">
              <a:t>&lt;#&gt;</a:t>
            </a:fld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5"/>
          </p:nvPr>
        </p:nvSpPr>
        <p:spPr/>
        <p:txBody>
          <a:bodyPr/>
          <a:p>
            <a:fld id="{EB3687EE-3F69-4EC6-91A5-4928CE85D7F4}" type="slidenum">
              <a:t>&lt;#&gt;</a:t>
            </a:fld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EBE2680A-5208-4D7E-89B7-EBE6BD6570FE}" type="slidenum">
              <a:t>&lt;#&gt;</a:t>
            </a:fld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D0FC4A7A-175A-4ED4-8B37-3861B750C1F4}" type="slidenum">
              <a:t>&lt;#&gt;</a:t>
            </a:fld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5F1C3CA4-2756-41A9-87F3-40FF90B5FB38}" type="slidenum">
              <a:t>&lt;#&gt;</a:t>
            </a:fld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7DD029C5-734C-4DEE-A8F2-8BA2D1130AB5}" type="slidenum">
              <a:t>&lt;#&gt;</a:t>
            </a:fld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FAB18063-501B-46C0-87E9-1B7722C447EF}" type="slidenum">
              <a:t>&lt;#&gt;</a:t>
            </a:fld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7"/>
          </p:nvPr>
        </p:nvSpPr>
        <p:spPr/>
        <p:txBody>
          <a:bodyPr/>
          <a:p>
            <a:fld id="{FF1B43A3-90C0-495D-BF8E-4240B192B0CE}" type="slidenum">
              <a:t>&lt;#&gt;</a:t>
            </a:fld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8"/>
          </p:nvPr>
        </p:nvSpPr>
        <p:spPr/>
        <p:txBody>
          <a:bodyPr/>
          <a:p>
            <a:fld id="{480C5A09-B6D9-43A8-A4E5-19F41D1525FB}" type="slidenum">
              <a:t>&lt;#&gt;</a:t>
            </a:fld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15EF8F82-DE3C-4351-ACEB-1CC0D7A2962D}" type="slidenum">
              <a:t>&lt;#&gt;</a:t>
            </a:fld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60"/>
          </p:nvPr>
        </p:nvSpPr>
        <p:spPr/>
        <p:txBody>
          <a:bodyPr/>
          <a:p>
            <a:fld id="{8B3CB203-5A92-4EA4-9961-3035EC3A9490}" type="slidenum">
              <a:t>&lt;#&gt;</a:t>
            </a:fld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1"/>
          </p:nvPr>
        </p:nvSpPr>
        <p:spPr/>
        <p:txBody>
          <a:bodyPr/>
          <a:p>
            <a:fld id="{281FC06E-F8C8-4EA4-9EFB-A28A5F9A7D56}" type="slidenum">
              <a:t>&lt;#&gt;</a:t>
            </a:fld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8831AE61-CDAF-46F4-9080-64FBAC47EEEB}" type="slidenum">
              <a:t>&lt;#&gt;</a:t>
            </a:fld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3"/>
          </p:nvPr>
        </p:nvSpPr>
        <p:spPr/>
        <p:txBody>
          <a:bodyPr/>
          <a:p>
            <a:fld id="{9E35A818-5534-48AB-936A-FECA94426964}" type="slidenum">
              <a:t>&lt;#&gt;</a:t>
            </a:fld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4"/>
          </p:nvPr>
        </p:nvSpPr>
        <p:spPr/>
        <p:txBody>
          <a:bodyPr/>
          <a:p>
            <a:fld id="{333FF5C5-5A5A-48E7-B78A-80753BB6E105}" type="slidenum">
              <a:t>&lt;#&gt;</a:t>
            </a:fld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D97557BC-0D58-47CD-8B96-A8AF2458A394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slideLayout" Target="../slideLayouts/slideLayout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slideLayout" Target="../slideLayouts/slideLayout42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slideLayout" Target="../slideLayouts/slideLayout43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slideLayout" Target="../slideLayouts/slideLayout44.xml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slideLayout" Target="../slideLayouts/slideLayout45.xml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slideLayout" Target="../slideLayouts/slideLayout46.xml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47.xml"/><Relationship Id="rId2" Type="http://schemas.openxmlformats.org/officeDocument/2006/relationships/slideLayout" Target="../slideLayouts/slideLayout47.xml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48.xml"/><Relationship Id="rId2" Type="http://schemas.openxmlformats.org/officeDocument/2006/relationships/slideLayout" Target="../slideLayouts/slideLayout48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49.xml"/><Relationship Id="rId2" Type="http://schemas.openxmlformats.org/officeDocument/2006/relationships/slideLayout" Target="../slideLayouts/slideLayout49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0.xml"/><Relationship Id="rId2" Type="http://schemas.openxmlformats.org/officeDocument/2006/relationships/slideLayout" Target="../slideLayouts/slideLayout50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1.xml"/><Relationship Id="rId2" Type="http://schemas.openxmlformats.org/officeDocument/2006/relationships/slideLayout" Target="../slideLayouts/slideLayout51.xml"/>
</Relationships>
</file>

<file path=ppt/slideMasters/_rels/slideMaster52.xml.rels><?xml version="1.0" encoding="UTF-8"?>
<Relationships xmlns="http://schemas.openxmlformats.org/package/2006/relationships"><Relationship Id="rId1" Type="http://schemas.openxmlformats.org/officeDocument/2006/relationships/theme" Target="../theme/theme52.xml"/><Relationship Id="rId2" Type="http://schemas.openxmlformats.org/officeDocument/2006/relationships/slideLayout" Target="../slideLayouts/slideLayout52.xml"/>
</Relationships>
</file>

<file path=ppt/slideMasters/_rels/slideMaster53.xml.rels><?xml version="1.0" encoding="UTF-8"?>
<Relationships xmlns="http://schemas.openxmlformats.org/package/2006/relationships"><Relationship Id="rId1" Type="http://schemas.openxmlformats.org/officeDocument/2006/relationships/theme" Target="../theme/theme53.xml"/><Relationship Id="rId2" Type="http://schemas.openxmlformats.org/officeDocument/2006/relationships/slideLayout" Target="../slideLayouts/slideLayout53.xml"/>
</Relationships>
</file>

<file path=ppt/slideMasters/_rels/slideMaster54.xml.rels><?xml version="1.0" encoding="UTF-8"?>
<Relationships xmlns="http://schemas.openxmlformats.org/package/2006/relationships"><Relationship Id="rId1" Type="http://schemas.openxmlformats.org/officeDocument/2006/relationships/theme" Target="../theme/theme54.xml"/><Relationship Id="rId2" Type="http://schemas.openxmlformats.org/officeDocument/2006/relationships/slideLayout" Target="../slideLayouts/slideLayout54.xml"/>
</Relationships>
</file>

<file path=ppt/slideMasters/_rels/slideMaster55.xml.rels><?xml version="1.0" encoding="UTF-8"?>
<Relationships xmlns="http://schemas.openxmlformats.org/package/2006/relationships"><Relationship Id="rId1" Type="http://schemas.openxmlformats.org/officeDocument/2006/relationships/theme" Target="../theme/theme55.xml"/><Relationship Id="rId2" Type="http://schemas.openxmlformats.org/officeDocument/2006/relationships/slideLayout" Target="../slideLayouts/slideLayout55.xml"/>
</Relationships>
</file>

<file path=ppt/slideMasters/_rels/slideMaster56.xml.rels><?xml version="1.0" encoding="UTF-8"?>
<Relationships xmlns="http://schemas.openxmlformats.org/package/2006/relationships"><Relationship Id="rId1" Type="http://schemas.openxmlformats.org/officeDocument/2006/relationships/theme" Target="../theme/theme56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
</Relationships>
</file>

<file path=ppt/slideMasters/_rels/slideMaster57.xml.rels><?xml version="1.0" encoding="UTF-8"?>
<Relationships xmlns="http://schemas.openxmlformats.org/package/2006/relationships"><Relationship Id="rId1" Type="http://schemas.openxmlformats.org/officeDocument/2006/relationships/theme" Target="../theme/theme57.xml"/><Relationship Id="rId2" Type="http://schemas.openxmlformats.org/officeDocument/2006/relationships/slideLayout" Target="../slideLayouts/slideLayout61.xml"/>
</Relationships>
</file>

<file path=ppt/slideMasters/_rels/slideMaster58.xml.rels><?xml version="1.0" encoding="UTF-8"?>
<Relationships xmlns="http://schemas.openxmlformats.org/package/2006/relationships"><Relationship Id="rId1" Type="http://schemas.openxmlformats.org/officeDocument/2006/relationships/theme" Target="../theme/theme58.xml"/><Relationship Id="rId2" Type="http://schemas.openxmlformats.org/officeDocument/2006/relationships/slideLayout" Target="../slideLayouts/slideLayout62.xml"/>
</Relationships>
</file>

<file path=ppt/slideMasters/_rels/slideMaster59.xml.rels><?xml version="1.0" encoding="UTF-8"?>
<Relationships xmlns="http://schemas.openxmlformats.org/package/2006/relationships"><Relationship Id="rId1" Type="http://schemas.openxmlformats.org/officeDocument/2006/relationships/theme" Target="../theme/theme59.xml"/><Relationship Id="rId2" Type="http://schemas.openxmlformats.org/officeDocument/2006/relationships/slideLayout" Target="../slideLayouts/slideLayout63.xml"/>
</Relationships>
</file>

<file path=ppt/slideMasters/_rels/slideMaster60.xml.rels><?xml version="1.0" encoding="UTF-8"?>
<Relationships xmlns="http://schemas.openxmlformats.org/package/2006/relationships"><Relationship Id="rId1" Type="http://schemas.openxmlformats.org/officeDocument/2006/relationships/theme" Target="../theme/theme60.xml"/><Relationship Id="rId2" Type="http://schemas.openxmlformats.org/officeDocument/2006/relationships/slideLayout" Target="../slideLayouts/slideLayout64.xml"/>
</Relationships>
</file>

<file path=ppt/slideMasters/_rels/slideMaster61.xml.rels><?xml version="1.0" encoding="UTF-8"?>
<Relationships xmlns="http://schemas.openxmlformats.org/package/2006/relationships"><Relationship Id="rId1" Type="http://schemas.openxmlformats.org/officeDocument/2006/relationships/theme" Target="../theme/theme61.xml"/><Relationship Id="rId2" Type="http://schemas.openxmlformats.org/officeDocument/2006/relationships/slideLayout" Target="../slideLayouts/slideLayout65.xml"/>
</Relationships>
</file>

<file path=ppt/slideMasters/_rels/slideMaster62.xml.rels><?xml version="1.0" encoding="UTF-8"?>
<Relationships xmlns="http://schemas.openxmlformats.org/package/2006/relationships"><Relationship Id="rId1" Type="http://schemas.openxmlformats.org/officeDocument/2006/relationships/theme" Target="../theme/theme62.xml"/><Relationship Id="rId2" Type="http://schemas.openxmlformats.org/officeDocument/2006/relationships/slideLayout" Target="../slideLayouts/slideLayout66.xml"/>
</Relationships>
</file>

<file path=ppt/slideMasters/_rels/slideMaster63.xml.rels><?xml version="1.0" encoding="UTF-8"?>
<Relationships xmlns="http://schemas.openxmlformats.org/package/2006/relationships"><Relationship Id="rId1" Type="http://schemas.openxmlformats.org/officeDocument/2006/relationships/theme" Target="../theme/theme63.xml"/><Relationship Id="rId2" Type="http://schemas.openxmlformats.org/officeDocument/2006/relationships/slideLayout" Target="../slideLayouts/slideLayout67.xml"/>
</Relationships>
</file>

<file path=ppt/slideMasters/_rels/slideMaster64.xml.rels><?xml version="1.0" encoding="UTF-8"?>
<Relationships xmlns="http://schemas.openxmlformats.org/package/2006/relationships"><Relationship Id="rId1" Type="http://schemas.openxmlformats.org/officeDocument/2006/relationships/theme" Target="../theme/theme64.xml"/><Relationship Id="rId2" Type="http://schemas.openxmlformats.org/officeDocument/2006/relationships/slideLayout" Target="../slideLayouts/slideLayout68.xml"/>
</Relationships>
</file>

<file path=ppt/slideMasters/_rels/slideMaster65.xml.rels><?xml version="1.0" encoding="UTF-8"?>
<Relationships xmlns="http://schemas.openxmlformats.org/package/2006/relationships"><Relationship Id="rId1" Type="http://schemas.openxmlformats.org/officeDocument/2006/relationships/theme" Target="../theme/theme65.xml"/><Relationship Id="rId2" Type="http://schemas.openxmlformats.org/officeDocument/2006/relationships/slideLayout" Target="../slideLayouts/slideLayout6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B70AE3E-762E-4D5D-9DD8-20DFC9DBE27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DF5AF2-61F8-4A0A-9635-E27D7948631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B0BDA3-E76E-4C71-A93E-4E9275CA8F8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2C02F2-C6BC-4B51-A39F-832165B5283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66900F-89EB-479D-A099-E7ECC26118C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8E93E1-A5E4-46C5-A8BC-B732E0A12EE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240170-75E6-4903-98BD-3DED75EB4E9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3F6812-3D06-4328-AD97-CD983802EF9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5ACCA4-4190-485C-A187-EAD13EE2F5E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69B87A-0C97-4F56-BEE2-497718BBC92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9A1DC31-A7CD-4F06-93B2-0BC79884109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150592-052F-4ED7-BB27-849CF111126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6F4F13-63A2-4120-BA16-68F8C4E37AA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BB81C9-B703-4219-8AA3-61FB106AE3C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CBB031-E90E-4882-BB36-3B960DE5BE0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B89A33-D9FE-47AE-9B1F-8B48C482036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2AA658-C74A-4CE7-B57E-79142DB9BDF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787483-CB29-4EF7-9207-5E16AC8D895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F3D5C6-9175-4503-8F44-200FC5CEA72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363FA6-9559-4C21-9ADB-A52127A9613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F93B01-CF28-4520-89F4-6D3A61E4B04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140B7B-9AC2-4FFE-BD1F-CA777A3829D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98AA4F-CA1A-4D1A-8854-BA33481255A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FACFEE-E959-40DF-B20D-39CA662D278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57D4078-5C23-463A-AFF0-D0F0732F003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07D259-CC0D-4F71-BD0C-B4E15654922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ldNum" idx="27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88E69A-AACA-4C2E-96C2-75AB1D72F0B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28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A9CA7C-4F5B-4D86-BB1F-6E30E2204CB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sldNum" idx="29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7A62589-86DA-4A9E-8741-32EDCAE03DE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sldNum" idx="30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64F4341-57C7-406B-A872-555E6EE2BA6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sldNum" idx="31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F98CA1-91C2-4000-8D92-DBA770EE7A5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32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6DD4BD-1760-4C5D-8066-1922CCBCD46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 type="sldNum" idx="33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06C05F-FB52-45D6-9A7E-4CC82B51084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ldNum" idx="34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BF7C467-D1C7-4B9A-B812-DBA6567DCC3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sldNum" idx="35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9DFE1C-E95C-4890-8F1B-3D4C31A0485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sldNum" idx="36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0FE345-D56A-4747-8C24-A33F36886DB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37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11731F-020F-404A-8001-24DC5AD66B1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ldNum" idx="38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E80733-495A-4D0C-8419-B35E154141C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9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F6C579-6DC0-4ABF-9D82-FF3D203FE3A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sldNum" idx="40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A4F04E-B3C1-4D4B-9CF2-0968549F5E6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sldNum" idx="41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88D9A3-F7C7-4668-9939-497DCAC577F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2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42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EEA104-4B06-426A-8DAF-D20E4EA0330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1" r:id="rId2"/>
  </p:sldLayoutIdLst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ldNum" idx="43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B685B8-A006-48CD-BF7A-8F3B5D7C2C6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2"/>
  </p:sldLayoutIdLst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44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7EA6EF-7040-435F-B893-4BC3FD9066B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2"/>
  </p:sldLayoutIdLst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7" name="PlaceHolder 4"/>
          <p:cNvSpPr>
            <a:spLocks noGrp="1"/>
          </p:cNvSpPr>
          <p:nvPr>
            <p:ph type="sldNum" idx="45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5E14E8D-C7CE-4BE1-B252-4293F6AA0B6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7" r:id="rId2"/>
  </p:sldLayoutIdLst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sldNum" idx="46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571276-4386-4A79-95FC-D234126EF40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9" r:id="rId2"/>
  </p:sldLayoutIdLst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sldNum" idx="47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ECA343-BCFB-476B-9C67-873D0793E9E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1" r:id="rId2"/>
  </p:sldLayoutIdLst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48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96E723-CED2-4DEE-8491-5F68D66A677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3" r:id="rId2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 type="sldNum" idx="49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77C62A5-3A91-42D2-8320-9554F4AA21D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2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9" name="PlaceHolder 4"/>
          <p:cNvSpPr>
            <a:spLocks noGrp="1"/>
          </p:cNvSpPr>
          <p:nvPr>
            <p:ph type="sldNum" idx="50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42F04B-3E9E-4FDA-8497-34E3BC0633E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7" r:id="rId2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 type="sldNum" idx="51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8DC4A2-E013-42AE-8AAC-89DA645D41F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9" r:id="rId2"/>
  </p:sldLayoutIdLst>
</p:sldMaster>
</file>

<file path=ppt/slideMasters/slideMaster5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52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2E9679-F017-4741-A6F5-5AE10DE9F4A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1" r:id="rId2"/>
  </p:sldLayoutIdLst>
</p:sldMaster>
</file>

<file path=ppt/slideMasters/slideMaster5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 type="sldNum" idx="53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4290B93-1A4B-4FCD-8FAA-FD0109384C9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2"/>
  </p:sldLayoutIdLst>
</p:sldMaster>
</file>

<file path=ppt/slideMasters/slideMaster5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8" name="PlaceHolder 4"/>
          <p:cNvSpPr>
            <a:spLocks noGrp="1"/>
          </p:cNvSpPr>
          <p:nvPr>
            <p:ph type="sldNum" idx="54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30FE15-C473-4A5F-8B99-F6C4BDB9485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5" r:id="rId2"/>
  </p:sldLayoutIdLst>
</p:sldMaster>
</file>

<file path=ppt/slideMasters/slideMaster5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 type="sldNum" idx="55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3C3FBF-F8F4-4765-8495-AEFBF84EBCE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2"/>
  </p:sldLayoutIdLst>
</p:sldMaster>
</file>

<file path=ppt/slideMasters/slideMaster5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Num" idx="56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9A61A02-1CCD-477B-BC92-AA376B4F79A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9" r:id="rId2"/>
    <p:sldLayoutId id="2147483760" r:id="rId3"/>
    <p:sldLayoutId id="2147483761" r:id="rId4"/>
    <p:sldLayoutId id="2147483762" r:id="rId5"/>
    <p:sldLayoutId id="2147483763" r:id="rId6"/>
  </p:sldLayoutIdLst>
</p:sldMaster>
</file>

<file path=ppt/slideMasters/slideMaster5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Num" idx="57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149D991-726B-4B18-8236-5DA6DB8C532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5" r:id="rId2"/>
  </p:sldLayoutIdLst>
</p:sldMaster>
</file>

<file path=ppt/slideMasters/slideMaster5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58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3A11507-BA61-4C77-BA1C-B4CC4B437C3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7" r:id="rId2"/>
  </p:sldLayoutIdLst>
</p:sldMaster>
</file>

<file path=ppt/slideMasters/slideMaster5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6" name="PlaceHolder 4"/>
          <p:cNvSpPr>
            <a:spLocks noGrp="1"/>
          </p:cNvSpPr>
          <p:nvPr>
            <p:ph type="sldNum" idx="59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F0F46BE-03FF-49C7-8C60-4F3219996A2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2"/>
  </p:sldLayoutIdLst>
</p:sldMaster>
</file>

<file path=ppt/slideMasters/slideMaster6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 type="sldNum" idx="60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85614C-A99C-46BC-AC20-DD7C3B73039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1" r:id="rId2"/>
  </p:sldLayoutIdLst>
</p:sldMaster>
</file>

<file path=ppt/slideMasters/slideMaster6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Num" idx="61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03B6407-2484-499C-B021-341C06AEE31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3" r:id="rId2"/>
  </p:sldLayoutIdLst>
</p:sldMaster>
</file>

<file path=ppt/slideMasters/slideMaster6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Num" idx="62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107B29-DF54-42E1-A9C3-E82F4E53D5F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5" r:id="rId2"/>
  </p:sldLayoutIdLst>
</p:sldMaster>
</file>

<file path=ppt/slideMasters/slideMaster6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36;p9"/>
          <p:cNvSpPr/>
          <p:nvPr/>
        </p:nvSpPr>
        <p:spPr>
          <a:xfrm>
            <a:off x="4572000" y="0"/>
            <a:ext cx="4563000" cy="51346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6" name="PlaceHolder 1"/>
          <p:cNvSpPr>
            <a:spLocks noGrp="1"/>
          </p:cNvSpPr>
          <p:nvPr>
            <p:ph type="sldNum" idx="63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7C3961-6942-4445-B26A-6DEE89EDF01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7" r:id="rId2"/>
  </p:sldLayoutIdLst>
</p:sldMaster>
</file>

<file path=ppt/slideMasters/slideMaster6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Num" idx="64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0BFBFF-0880-40E7-BE32-1AC73536D03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2"/>
  </p:sldLayoutIdLst>
</p:sldMaster>
</file>

<file path=ppt/slideMasters/slideMaster6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Num" idx="65"/>
          </p:nvPr>
        </p:nvSpPr>
        <p:spPr>
          <a:xfrm>
            <a:off x="8472600" y="4663080"/>
            <a:ext cx="533160" cy="3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453810-6ED2-4409-8E11-EFF44E75B09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0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60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jpeg"/><Relationship Id="rId2" Type="http://schemas.openxmlformats.org/officeDocument/2006/relationships/slideLayout" Target="../slideLayouts/slideLayout60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slideLayout" Target="../slideLayouts/slideLayout60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60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4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834480" y="347400"/>
            <a:ext cx="7465680" cy="17560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ctr">
            <a:noAutofit/>
          </a:bodyPr>
          <a:p>
            <a:pPr indent="0" algn="ctr">
              <a:lnSpc>
                <a:spcPct val="150000"/>
              </a:lnSpc>
              <a:buNone/>
              <a:tabLst>
                <a:tab algn="l" pos="0"/>
              </a:tabLst>
            </a:pPr>
            <a:r>
              <a:rPr b="1" lang="en" sz="33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Efficient Secure Memory for RISC-V Trusted Execution</a:t>
            </a:r>
            <a:endParaRPr b="0" lang="en-US" sz="3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98" name="Google Shape;56;p13"/>
          <p:cNvCxnSpPr/>
          <p:nvPr/>
        </p:nvCxnSpPr>
        <p:spPr>
          <a:xfrm>
            <a:off x="204480" y="230472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cxnSp>
        <p:nvCxnSpPr>
          <p:cNvPr id="299" name="Google Shape;57;p13"/>
          <p:cNvCxnSpPr/>
          <p:nvPr/>
        </p:nvCxnSpPr>
        <p:spPr>
          <a:xfrm>
            <a:off x="204480" y="39488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00" name="PlaceHolder 2"/>
          <p:cNvSpPr>
            <a:spLocks noGrp="1"/>
          </p:cNvSpPr>
          <p:nvPr>
            <p:ph type="sldNum" idx="69"/>
          </p:nvPr>
        </p:nvSpPr>
        <p:spPr>
          <a:xfrm>
            <a:off x="8472600" y="466308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13C251-DC6F-4ED3-9DB1-A5A76CCFA9D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01" name="Google Shape;59;p13"/>
          <p:cNvSpPr/>
          <p:nvPr/>
        </p:nvSpPr>
        <p:spPr>
          <a:xfrm>
            <a:off x="1946880" y="2244240"/>
            <a:ext cx="5241600" cy="16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en" sz="1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Presentation By: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en" sz="1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Will Buziak</a:t>
            </a:r>
            <a:br>
              <a:rPr sz="1900"/>
            </a:br>
            <a:r>
              <a:rPr b="0" lang="en" sz="17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Department of Computer Science</a:t>
            </a:r>
            <a:br>
              <a:rPr sz="1700"/>
            </a:br>
            <a:r>
              <a:rPr b="0" lang="en" sz="17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Colorado School of Mines</a:t>
            </a:r>
            <a:endParaRPr b="0" lang="en-US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2" name="Google Shape;60;p13"/>
          <p:cNvSpPr/>
          <p:nvPr/>
        </p:nvSpPr>
        <p:spPr>
          <a:xfrm>
            <a:off x="3071880" y="3948480"/>
            <a:ext cx="29908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br>
              <a:rPr sz="1800"/>
            </a:b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February, 2026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Content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83680" cy="25938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Background &amp; Motivation  .............................................................3-4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Trusted Execution Environments  ...................................................5-7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.............................................................................8-12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gem5 ............................................................................................13-25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05" name="Google Shape;68;p 1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06" name="PlaceHolder 3"/>
          <p:cNvSpPr>
            <a:spLocks noGrp="1"/>
          </p:cNvSpPr>
          <p:nvPr>
            <p:ph type="sldNum" idx="70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7AC05B-A641-4AF7-ACB6-24614ED0F22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Background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/>
          </p:nvPr>
        </p:nvSpPr>
        <p:spPr>
          <a:xfrm>
            <a:off x="343080" y="822600"/>
            <a:ext cx="8383680" cy="41868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Motivated attackers can employ many tactics to corrupt or steal data, this work focuses on preventing: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 malicious OS, application or thread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Replay or side-channel attacks targeting off-chip peripherals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Trusted Execution Environments (TEEs) provide hardware guarantees that attempt to secure the integrity of the processor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methods protect against off-chip tampering by encrypting and storing metadata securely on-chip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09" name="Google Shape;68;p14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10" name="PlaceHolder 3"/>
          <p:cNvSpPr>
            <a:spLocks noGrp="1"/>
          </p:cNvSpPr>
          <p:nvPr>
            <p:ph type="sldNum" idx="71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F98E6E-C45A-49C9-9103-07C7ED6E5EC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93;p17"/>
          <p:cNvSpPr/>
          <p:nvPr/>
        </p:nvSpPr>
        <p:spPr>
          <a:xfrm>
            <a:off x="327960" y="4114800"/>
            <a:ext cx="8479440" cy="802440"/>
          </a:xfrm>
          <a:prstGeom prst="roundRect">
            <a:avLst>
              <a:gd name="adj" fmla="val 16667"/>
            </a:avLst>
          </a:prstGeom>
          <a:solidFill>
            <a:srgbClr val="ffc000">
              <a:alpha val="20000"/>
            </a:srgbClr>
          </a:solidFill>
          <a:ln w="12600">
            <a:solidFill>
              <a:srgbClr val="32549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2" name="PlaceHolder 1"/>
          <p:cNvSpPr>
            <a:spLocks noGrp="1"/>
          </p:cNvSpPr>
          <p:nvPr>
            <p:ph type="sldNum" idx="72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18AE02-2621-44CF-946E-98F342A1EF4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4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13" name="PlaceHolder 2"/>
          <p:cNvSpPr>
            <a:spLocks noGrp="1"/>
          </p:cNvSpPr>
          <p:nvPr>
            <p:ph/>
          </p:nvPr>
        </p:nvSpPr>
        <p:spPr>
          <a:xfrm>
            <a:off x="941400" y="3567600"/>
            <a:ext cx="7252560" cy="18972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ctr">
            <a:noAutofit/>
          </a:bodyPr>
          <a:p>
            <a:pPr indent="0" algn="ctr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3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Goal</a:t>
            </a:r>
            <a:r>
              <a:rPr b="0" lang="en" sz="23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: Leverage TEE architecture to implement efficient secure memory</a:t>
            </a:r>
            <a:endParaRPr b="0" lang="en-US" sz="2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Motivation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15" name="Google Shape;97;p17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343080" y="829800"/>
            <a:ext cx="8383680" cy="27723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TEEs provide confidence against malicious applications attempting to tamper with data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Still vulnerable to replay attacks and off-chip tampering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can mitigate these concerns by adding another layer of protection for off-chip devices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RISC-V TEEs (e. g. Keystone</a:t>
            </a:r>
            <a:r>
              <a:rPr b="0" lang="en" sz="2100" strike="noStrike" u="none" baseline="33000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[1]</a:t>
            </a: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) provides an open-source, configurable platform for developing TEEs to specific applications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Trusted Execution Environments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18" name="Google Shape;114;p 1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19" name="PlaceHolder 2"/>
          <p:cNvSpPr>
            <a:spLocks noGrp="1"/>
          </p:cNvSpPr>
          <p:nvPr>
            <p:ph type="sldNum" idx="73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FD5F7C2-1DAB-48C9-AC16-CE4207865F3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5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43080" y="462600"/>
            <a:ext cx="8383680" cy="45594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 TEE implements different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privelege modes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with separate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address spaces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, enforcing a set of rules dictating which components can access what regions of memory: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User mode, Supervisor mode, Machine mode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Almost all major CPU vendors have their own flavor of TEE: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Intel SGX/TDX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ARM Confidential Computer Architecture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AMD SEV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These implementations leverage proprietary hardware, opening the door for a configurable &amp; open-source TEE, keystone</a:t>
            </a:r>
            <a:r>
              <a:rPr b="0" lang="en" sz="2100" strike="noStrike" u="none" baseline="33000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[1]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Trusted Execution Environments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22" name="Google Shape;114;p 2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23" name="PlaceHolder 2"/>
          <p:cNvSpPr>
            <a:spLocks noGrp="1"/>
          </p:cNvSpPr>
          <p:nvPr>
            <p:ph type="sldNum" idx="74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31BF51-66C0-4871-A968-72806C3B865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6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/>
          </p:nvPr>
        </p:nvSpPr>
        <p:spPr>
          <a:xfrm>
            <a:off x="343080" y="462600"/>
            <a:ext cx="3398040" cy="45594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TEEs protect the processor: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Attempts to avoid malicious activity from the application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Still vulnerable to side-channel &amp; replay attacks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Application mode is checked on memory request: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regions are assigned to modes with permissions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 region in which the mode does not have access is denied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25" name="" descr=""/>
          <p:cNvPicPr/>
          <p:nvPr/>
        </p:nvPicPr>
        <p:blipFill>
          <a:blip r:embed="rId1"/>
          <a:stretch/>
        </p:blipFill>
        <p:spPr>
          <a:xfrm>
            <a:off x="3742920" y="1371600"/>
            <a:ext cx="4906080" cy="3668760"/>
          </a:xfrm>
          <a:prstGeom prst="rect">
            <a:avLst/>
          </a:prstGeom>
          <a:ln w="0">
            <a:noFill/>
          </a:ln>
        </p:spPr>
      </p:pic>
      <p:sp>
        <p:nvSpPr>
          <p:cNvPr id="326" name=""/>
          <p:cNvSpPr/>
          <p:nvPr/>
        </p:nvSpPr>
        <p:spPr>
          <a:xfrm>
            <a:off x="4728600" y="1900800"/>
            <a:ext cx="443160" cy="45576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>
            <a:off x="4781160" y="2031480"/>
            <a:ext cx="331920" cy="9612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4781160" y="2139840"/>
            <a:ext cx="331920" cy="9576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2840" bIns="428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>
            <a:off x="4781160" y="2247840"/>
            <a:ext cx="331920" cy="961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0" name=""/>
          <p:cNvSpPr/>
          <p:nvPr/>
        </p:nvSpPr>
        <p:spPr>
          <a:xfrm>
            <a:off x="5916600" y="1901160"/>
            <a:ext cx="443160" cy="45576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5969160" y="2031840"/>
            <a:ext cx="331920" cy="9612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2" name=""/>
          <p:cNvSpPr/>
          <p:nvPr/>
        </p:nvSpPr>
        <p:spPr>
          <a:xfrm>
            <a:off x="5969160" y="2140200"/>
            <a:ext cx="331920" cy="9576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2840" bIns="428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5969160" y="2248200"/>
            <a:ext cx="331920" cy="961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4" name=""/>
          <p:cNvSpPr/>
          <p:nvPr/>
        </p:nvSpPr>
        <p:spPr>
          <a:xfrm flipH="1">
            <a:off x="6361200" y="2057400"/>
            <a:ext cx="4968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6906600" y="1949400"/>
            <a:ext cx="455760" cy="23076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000" strike="noStrike" u="none">
                <a:solidFill>
                  <a:srgbClr val="000000"/>
                </a:solidFill>
                <a:uFillTx/>
                <a:latin typeface="Arial"/>
              </a:rPr>
              <a:t>PMP</a:t>
            </a:r>
            <a:endParaRPr b="0" lang="en-US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Physical Memory Protection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37" name="Google Shape;114;p 4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38" name="PlaceHolder 2"/>
          <p:cNvSpPr>
            <a:spLocks noGrp="1"/>
          </p:cNvSpPr>
          <p:nvPr>
            <p:ph type="sldNum" idx="75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19780E-7166-4718-AD5E-FBFF6EE0595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7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343080" y="842400"/>
            <a:ext cx="3398040" cy="41796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Each core has a PMP table: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Stores the address range along with the pmpCfg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pmpCfg determines: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Permissions, address matching, &amp; locking with space for extra bits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PMP checks walk the table &amp; match the request address with each stored entries A field &amp; respective address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>
            <a:off x="4146480" y="4123800"/>
            <a:ext cx="4538520" cy="684720"/>
          </a:xfrm>
          <a:prstGeom prst="rect">
            <a:avLst/>
          </a:prstGeom>
          <a:ln w="0">
            <a:noFill/>
          </a:ln>
        </p:spPr>
      </p:pic>
      <p:sp>
        <p:nvSpPr>
          <p:cNvPr id="341" name=""/>
          <p:cNvSpPr/>
          <p:nvPr/>
        </p:nvSpPr>
        <p:spPr>
          <a:xfrm flipH="1" flipV="1">
            <a:off x="4114800" y="3429000"/>
            <a:ext cx="1600200" cy="829800"/>
          </a:xfrm>
          <a:prstGeom prst="line">
            <a:avLst/>
          </a:prstGeom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2" name=""/>
          <p:cNvSpPr/>
          <p:nvPr/>
        </p:nvSpPr>
        <p:spPr>
          <a:xfrm flipV="1">
            <a:off x="6543000" y="3429000"/>
            <a:ext cx="543600" cy="830160"/>
          </a:xfrm>
          <a:prstGeom prst="line">
            <a:avLst/>
          </a:prstGeom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3" name=""/>
          <p:cNvSpPr/>
          <p:nvPr/>
        </p:nvSpPr>
        <p:spPr>
          <a:xfrm flipV="1">
            <a:off x="5607000" y="2057400"/>
            <a:ext cx="360" cy="797760"/>
          </a:xfrm>
          <a:prstGeom prst="line">
            <a:avLst/>
          </a:prstGeom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44" name="" descr=""/>
          <p:cNvPicPr/>
          <p:nvPr/>
        </p:nvPicPr>
        <p:blipFill>
          <a:blip r:embed="rId2"/>
          <a:stretch/>
        </p:blipFill>
        <p:spPr>
          <a:xfrm>
            <a:off x="4124520" y="2658600"/>
            <a:ext cx="3034080" cy="912600"/>
          </a:xfrm>
          <a:prstGeom prst="rect">
            <a:avLst/>
          </a:prstGeom>
          <a:ln w="0">
            <a:noFill/>
          </a:ln>
        </p:spPr>
      </p:pic>
      <p:pic>
        <p:nvPicPr>
          <p:cNvPr id="345" name="" descr=""/>
          <p:cNvPicPr/>
          <p:nvPr/>
        </p:nvPicPr>
        <p:blipFill>
          <a:blip r:embed="rId3"/>
          <a:stretch/>
        </p:blipFill>
        <p:spPr>
          <a:xfrm>
            <a:off x="4188600" y="924840"/>
            <a:ext cx="3198600" cy="1402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47" name="Google Shape;114;p19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48" name="PlaceHolder 2"/>
          <p:cNvSpPr>
            <a:spLocks noGrp="1"/>
          </p:cNvSpPr>
          <p:nvPr>
            <p:ph type="sldNum" idx="76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5348FB-E85D-487E-BE6F-76E52DB7BFB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8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4684680" cy="4324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Base Assumption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: off-chip data is untrusted &amp; requires verification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protects data / memory devices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Builds a hash (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merkle</a:t>
            </a:r>
            <a:r>
              <a:rPr b="0" lang="en" sz="2100" strike="noStrike" u="none" baseline="33000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[2]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) tree, the root of which is always stored on-chip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Built over data &amp; metadata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Nodes can be stored in a metadata cache to reduce fetch latency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 flipV="1">
            <a:off x="5970960" y="4090680"/>
            <a:ext cx="36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1" name=""/>
          <p:cNvSpPr/>
          <p:nvPr/>
        </p:nvSpPr>
        <p:spPr>
          <a:xfrm flipV="1">
            <a:off x="6418440" y="4105800"/>
            <a:ext cx="72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2" name=""/>
          <p:cNvSpPr/>
          <p:nvPr/>
        </p:nvSpPr>
        <p:spPr>
          <a:xfrm flipV="1">
            <a:off x="6865560" y="4105800"/>
            <a:ext cx="72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3" name=""/>
          <p:cNvSpPr/>
          <p:nvPr/>
        </p:nvSpPr>
        <p:spPr>
          <a:xfrm flipV="1">
            <a:off x="7256880" y="4105800"/>
            <a:ext cx="36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4" name=""/>
          <p:cNvSpPr/>
          <p:nvPr/>
        </p:nvSpPr>
        <p:spPr>
          <a:xfrm flipV="1">
            <a:off x="7983360" y="4105800"/>
            <a:ext cx="36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5" name=""/>
          <p:cNvSpPr/>
          <p:nvPr/>
        </p:nvSpPr>
        <p:spPr>
          <a:xfrm rot="5400000">
            <a:off x="5640120" y="4544280"/>
            <a:ext cx="690480" cy="34344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 rot="5400000">
            <a:off x="6077520" y="4544280"/>
            <a:ext cx="690480" cy="34344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 rot="5400000">
            <a:off x="6515640" y="4544280"/>
            <a:ext cx="690480" cy="3430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 rot="5400000">
            <a:off x="6898680" y="4544280"/>
            <a:ext cx="690480" cy="34344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 rot="5400000">
            <a:off x="7662960" y="4544280"/>
            <a:ext cx="690480" cy="3430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7031520" y="1406160"/>
            <a:ext cx="720" cy="6505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7031520" y="1406160"/>
            <a:ext cx="654120" cy="315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 flipH="1">
            <a:off x="6266160" y="1406160"/>
            <a:ext cx="765360" cy="315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 flipH="1">
            <a:off x="6921360" y="2028240"/>
            <a:ext cx="106200" cy="5464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6732720" y="2448000"/>
            <a:ext cx="351000" cy="351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 rot="5400000">
            <a:off x="5574960" y="3417120"/>
            <a:ext cx="821880" cy="3430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 rot="5400000">
            <a:off x="6022440" y="3416760"/>
            <a:ext cx="821880" cy="34344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 rot="5400000">
            <a:off x="6469560" y="3416760"/>
            <a:ext cx="821880" cy="34344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 rot="5400000">
            <a:off x="6860880" y="3417120"/>
            <a:ext cx="821880" cy="3430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9" name=""/>
          <p:cNvSpPr/>
          <p:nvPr/>
        </p:nvSpPr>
        <p:spPr>
          <a:xfrm rot="5400000">
            <a:off x="7587360" y="3417120"/>
            <a:ext cx="821880" cy="3430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7027560" y="2028240"/>
            <a:ext cx="303120" cy="5515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1" name=""/>
          <p:cNvSpPr/>
          <p:nvPr/>
        </p:nvSpPr>
        <p:spPr>
          <a:xfrm>
            <a:off x="7123680" y="2448000"/>
            <a:ext cx="351360" cy="351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2" name=""/>
          <p:cNvSpPr/>
          <p:nvPr/>
        </p:nvSpPr>
        <p:spPr>
          <a:xfrm flipH="1">
            <a:off x="6027480" y="1869840"/>
            <a:ext cx="238680" cy="6339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3" name=""/>
          <p:cNvSpPr/>
          <p:nvPr/>
        </p:nvSpPr>
        <p:spPr>
          <a:xfrm>
            <a:off x="6216120" y="1844280"/>
            <a:ext cx="232200" cy="75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7685640" y="1869840"/>
            <a:ext cx="327960" cy="5781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7515000" y="1721160"/>
            <a:ext cx="351360" cy="351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6" name=""/>
          <p:cNvSpPr/>
          <p:nvPr/>
        </p:nvSpPr>
        <p:spPr>
          <a:xfrm>
            <a:off x="6285600" y="2448000"/>
            <a:ext cx="351000" cy="351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>
            <a:off x="7850160" y="2448000"/>
            <a:ext cx="351360" cy="351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>
            <a:off x="5838480" y="2448000"/>
            <a:ext cx="351360" cy="3510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6062040" y="1721160"/>
            <a:ext cx="351000" cy="351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6844320" y="1721160"/>
            <a:ext cx="351360" cy="35136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1" name=""/>
          <p:cNvSpPr/>
          <p:nvPr/>
        </p:nvSpPr>
        <p:spPr>
          <a:xfrm flipV="1">
            <a:off x="5967000" y="2802600"/>
            <a:ext cx="720" cy="3751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 flipV="1">
            <a:off x="6469920" y="2803320"/>
            <a:ext cx="72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 flipV="1">
            <a:off x="6861240" y="2803320"/>
            <a:ext cx="36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 flipV="1">
            <a:off x="7308360" y="2803320"/>
            <a:ext cx="36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 flipV="1">
            <a:off x="8034840" y="2803320"/>
            <a:ext cx="36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6700320" y="981000"/>
            <a:ext cx="649440" cy="52884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root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4338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Counter-Mode based Encryption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88" name="Google Shape;114;p 16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89" name="PlaceHolder 2"/>
          <p:cNvSpPr>
            <a:spLocks noGrp="1"/>
          </p:cNvSpPr>
          <p:nvPr>
            <p:ph type="sldNum" idx="77"/>
          </p:nvPr>
        </p:nvSpPr>
        <p:spPr>
          <a:xfrm>
            <a:off x="8364600" y="4561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FE0CA1-D7C0-4CA7-B582-CCF3FAD556A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9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379080" y="750600"/>
            <a:ext cx="4227840" cy="26773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HMACs are produced through the xor of a one-time pad &amp; the plaintext: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One-time pad is generated with a hardware key and a write-incremented counter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Tree must be re-hashed when counters overflow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Counter incrementing methods reduce the frequency of rehashing the tree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6220800" y="1769400"/>
            <a:ext cx="913320" cy="68472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</a:rPr>
              <a:t>AES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4776840" y="1998000"/>
            <a:ext cx="913680" cy="28764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HW key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5607000" y="2154600"/>
            <a:ext cx="4572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6396840" y="1026000"/>
            <a:ext cx="616680" cy="28764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seed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5" name=""/>
          <p:cNvSpPr/>
          <p:nvPr/>
        </p:nvSpPr>
        <p:spPr>
          <a:xfrm>
            <a:off x="6678000" y="1278720"/>
            <a:ext cx="360" cy="45468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6341400" y="3717000"/>
            <a:ext cx="684720" cy="684720"/>
          </a:xfrm>
          <a:prstGeom prst="ellipse">
            <a:avLst/>
          </a:prstGeom>
          <a:solidFill>
            <a:srgbClr val="ffffff"/>
          </a:solidFill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trike="noStrike" u="none">
                <a:solidFill>
                  <a:srgbClr val="000000"/>
                </a:solidFill>
                <a:uFillTx/>
                <a:latin typeface="Arial"/>
              </a:rPr>
              <a:t>XOR</a:t>
            </a:r>
            <a:endParaRPr b="0" lang="en-US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7" name=""/>
          <p:cNvSpPr/>
          <p:nvPr/>
        </p:nvSpPr>
        <p:spPr>
          <a:xfrm>
            <a:off x="6180840" y="2826360"/>
            <a:ext cx="965880" cy="68436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One-time pad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6678000" y="3321000"/>
            <a:ext cx="360" cy="3567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9" name=""/>
          <p:cNvSpPr/>
          <p:nvPr/>
        </p:nvSpPr>
        <p:spPr>
          <a:xfrm>
            <a:off x="6678000" y="2488680"/>
            <a:ext cx="360" cy="3567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4776840" y="3870000"/>
            <a:ext cx="913680" cy="28764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plaintext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1" name=""/>
          <p:cNvSpPr/>
          <p:nvPr/>
        </p:nvSpPr>
        <p:spPr>
          <a:xfrm>
            <a:off x="5607000" y="4026600"/>
            <a:ext cx="4572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7656840" y="3870000"/>
            <a:ext cx="1018080" cy="48600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cipher text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7155000" y="4026600"/>
            <a:ext cx="4572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05" name="Google Shape;114;p 15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406" name="PlaceHolder 2"/>
          <p:cNvSpPr>
            <a:spLocks noGrp="1"/>
          </p:cNvSpPr>
          <p:nvPr>
            <p:ph type="sldNum" idx="78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91562C-4D3A-440B-9F51-93DA88A52EB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10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07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3998880" cy="4324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Process: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Off-chip data is signed with a counter, cryptographically hashed and stored in a merkle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blocks are fetched, hashed and compared against each successive parent node from the data leaves up to the secure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 flipV="1">
            <a:off x="7133400" y="372600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09" name=""/>
          <p:cNvSpPr/>
          <p:nvPr/>
        </p:nvSpPr>
        <p:spPr>
          <a:xfrm flipV="1">
            <a:off x="7421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10" name=""/>
          <p:cNvSpPr/>
          <p:nvPr/>
        </p:nvSpPr>
        <p:spPr>
          <a:xfrm flipV="1">
            <a:off x="7709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11" name=""/>
          <p:cNvSpPr/>
          <p:nvPr/>
        </p:nvSpPr>
        <p:spPr>
          <a:xfrm flipV="1">
            <a:off x="7961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12" name=""/>
          <p:cNvSpPr/>
          <p:nvPr/>
        </p:nvSpPr>
        <p:spPr>
          <a:xfrm flipV="1">
            <a:off x="8429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5712480" y="1368000"/>
            <a:ext cx="2748240" cy="107784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>
            <a:off x="5487120" y="1049040"/>
            <a:ext cx="774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SOC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>
            <a:off x="7696080" y="176760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6" name=""/>
          <p:cNvSpPr/>
          <p:nvPr/>
        </p:nvSpPr>
        <p:spPr>
          <a:xfrm rot="5400000">
            <a:off x="6920640" y="401796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 rot="5400000">
            <a:off x="7202520" y="401796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 rot="5400000">
            <a:off x="7484760" y="401796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 rot="5400000">
            <a:off x="7731360" y="401796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 rot="5400000">
            <a:off x="8223840" y="401796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1" name=""/>
          <p:cNvSpPr/>
          <p:nvPr/>
        </p:nvSpPr>
        <p:spPr>
          <a:xfrm>
            <a:off x="7816680" y="199656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7816680" y="199656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 flipH="1">
            <a:off x="7323480" y="199656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 flipH="1">
            <a:off x="7745760" y="239724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7624080" y="266760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 rot="5400000">
            <a:off x="6878880" y="3291840"/>
            <a:ext cx="528840" cy="22068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 rot="5400000">
            <a:off x="7167240" y="329184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 rot="5400000">
            <a:off x="7455240" y="329184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 rot="5400000">
            <a:off x="7707240" y="329184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0" name=""/>
          <p:cNvSpPr/>
          <p:nvPr/>
        </p:nvSpPr>
        <p:spPr>
          <a:xfrm rot="5400000">
            <a:off x="8175240" y="329184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>
            <a:off x="7814160" y="239724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2" name=""/>
          <p:cNvSpPr/>
          <p:nvPr/>
        </p:nvSpPr>
        <p:spPr>
          <a:xfrm>
            <a:off x="7876080" y="266760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 flipH="1">
            <a:off x="7169760" y="229536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4" name=""/>
          <p:cNvSpPr/>
          <p:nvPr/>
        </p:nvSpPr>
        <p:spPr>
          <a:xfrm>
            <a:off x="7291440" y="227880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8237880" y="229536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8128080" y="219960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7336080" y="2667600"/>
            <a:ext cx="225720" cy="225720"/>
          </a:xfrm>
          <a:prstGeom prst="ellipse">
            <a:avLst/>
          </a:prstGeom>
          <a:solidFill>
            <a:srgbClr val="5983b0"/>
          </a:solidFill>
          <a:ln w="0">
            <a:solidFill>
              <a:srgbClr val="5983b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8344080" y="266760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>
            <a:off x="7048080" y="266760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0" name=""/>
          <p:cNvSpPr/>
          <p:nvPr/>
        </p:nvSpPr>
        <p:spPr>
          <a:xfrm>
            <a:off x="7192080" y="219960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7696080" y="219960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2" name=""/>
          <p:cNvSpPr/>
          <p:nvPr/>
        </p:nvSpPr>
        <p:spPr>
          <a:xfrm flipV="1">
            <a:off x="7130880" y="2896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 flipV="1">
            <a:off x="7454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4" name=""/>
          <p:cNvSpPr/>
          <p:nvPr/>
        </p:nvSpPr>
        <p:spPr>
          <a:xfrm flipV="1">
            <a:off x="7706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 flipV="1">
            <a:off x="7994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6" name=""/>
          <p:cNvSpPr/>
          <p:nvPr/>
        </p:nvSpPr>
        <p:spPr>
          <a:xfrm flipV="1">
            <a:off x="8462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7" name=""/>
          <p:cNvSpPr/>
          <p:nvPr/>
        </p:nvSpPr>
        <p:spPr>
          <a:xfrm>
            <a:off x="5494320" y="1103760"/>
            <a:ext cx="3198960" cy="137016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1682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8" name=""/>
          <p:cNvSpPr/>
          <p:nvPr/>
        </p:nvSpPr>
        <p:spPr>
          <a:xfrm>
            <a:off x="5494680" y="2523960"/>
            <a:ext cx="3198960" cy="205596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5983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5659560" y="1376280"/>
            <a:ext cx="1827360" cy="54036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Metadata-Cache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51" name="Google Shape;114;p 3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452" name="PlaceHolder 2"/>
          <p:cNvSpPr>
            <a:spLocks noGrp="1"/>
          </p:cNvSpPr>
          <p:nvPr>
            <p:ph type="sldNum" idx="79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6FF37D-BB57-44DB-BE73-7454F8FF4F1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3998880" cy="4324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Process: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Off-chip data is signed with a counter, cryptographically hashed and stored in a merkle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blocks are fetched, hashed and compared against each successive parent node from the data leaves up to the secure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This incurs peripheral node fetch latencies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 flipV="1">
            <a:off x="7129440" y="372132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55" name=""/>
          <p:cNvSpPr/>
          <p:nvPr/>
        </p:nvSpPr>
        <p:spPr>
          <a:xfrm flipV="1">
            <a:off x="7417800" y="3731040"/>
            <a:ext cx="360" cy="325800"/>
          </a:xfrm>
          <a:prstGeom prst="line">
            <a:avLst/>
          </a:prstGeom>
          <a:ln w="38160">
            <a:solidFill>
              <a:srgbClr val="ff383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56" name=""/>
          <p:cNvSpPr/>
          <p:nvPr/>
        </p:nvSpPr>
        <p:spPr>
          <a:xfrm flipV="1">
            <a:off x="7705800" y="37310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57" name=""/>
          <p:cNvSpPr/>
          <p:nvPr/>
        </p:nvSpPr>
        <p:spPr>
          <a:xfrm flipV="1">
            <a:off x="7957800" y="37310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58" name=""/>
          <p:cNvSpPr/>
          <p:nvPr/>
        </p:nvSpPr>
        <p:spPr>
          <a:xfrm flipV="1">
            <a:off x="8425800" y="37310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59" name=""/>
          <p:cNvSpPr/>
          <p:nvPr/>
        </p:nvSpPr>
        <p:spPr>
          <a:xfrm>
            <a:off x="5708520" y="1363320"/>
            <a:ext cx="2748240" cy="107784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>
            <a:off x="5483160" y="1044360"/>
            <a:ext cx="774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SOC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7692120" y="176292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 rot="5400000">
            <a:off x="6916680" y="401328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 rot="5400000">
            <a:off x="7198560" y="401328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 rot="5400000">
            <a:off x="7480800" y="401328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 rot="5400000">
            <a:off x="7727400" y="401328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 rot="5400000">
            <a:off x="8219880" y="401328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7812720" y="199188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7812720" y="199188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 flipH="1">
            <a:off x="7319520" y="199188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 flipH="1">
            <a:off x="7741800" y="239256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7620120" y="266292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2" name=""/>
          <p:cNvSpPr/>
          <p:nvPr/>
        </p:nvSpPr>
        <p:spPr>
          <a:xfrm rot="5400000">
            <a:off x="6874920" y="3287160"/>
            <a:ext cx="528840" cy="22068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 rot="5400000">
            <a:off x="7163280" y="3287160"/>
            <a:ext cx="528840" cy="220680"/>
          </a:xfrm>
          <a:prstGeom prst="rect">
            <a:avLst/>
          </a:prstGeom>
          <a:solidFill>
            <a:srgbClr val="ff3838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 rot="5400000">
            <a:off x="7451280" y="328716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 rot="5400000">
            <a:off x="7703280" y="328716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 rot="5400000">
            <a:off x="8171280" y="328716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7810200" y="239256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7872120" y="266292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 flipH="1">
            <a:off x="7165800" y="229068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7287480" y="227412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8233920" y="229068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2" name=""/>
          <p:cNvSpPr/>
          <p:nvPr/>
        </p:nvSpPr>
        <p:spPr>
          <a:xfrm>
            <a:off x="8124120" y="219492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7332120" y="2662920"/>
            <a:ext cx="225720" cy="225720"/>
          </a:xfrm>
          <a:prstGeom prst="ellipse">
            <a:avLst/>
          </a:prstGeom>
          <a:solidFill>
            <a:srgbClr val="ff3838"/>
          </a:solidFill>
          <a:ln w="0">
            <a:solidFill>
              <a:srgbClr val="5983b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>
            <a:off x="8340120" y="266292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5" name=""/>
          <p:cNvSpPr/>
          <p:nvPr/>
        </p:nvSpPr>
        <p:spPr>
          <a:xfrm>
            <a:off x="7044120" y="266292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6" name=""/>
          <p:cNvSpPr/>
          <p:nvPr/>
        </p:nvSpPr>
        <p:spPr>
          <a:xfrm>
            <a:off x="7188120" y="219492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>
            <a:off x="7692120" y="219492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8" name=""/>
          <p:cNvSpPr/>
          <p:nvPr/>
        </p:nvSpPr>
        <p:spPr>
          <a:xfrm flipV="1">
            <a:off x="7126920" y="289152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 flipV="1">
            <a:off x="7450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0" name=""/>
          <p:cNvSpPr/>
          <p:nvPr/>
        </p:nvSpPr>
        <p:spPr>
          <a:xfrm flipV="1">
            <a:off x="7702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 flipV="1">
            <a:off x="7990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2" name=""/>
          <p:cNvSpPr/>
          <p:nvPr/>
        </p:nvSpPr>
        <p:spPr>
          <a:xfrm flipV="1">
            <a:off x="8458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5490360" y="1099080"/>
            <a:ext cx="3198960" cy="137016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1682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>
            <a:off x="5490720" y="2519280"/>
            <a:ext cx="3198960" cy="205596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5983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5" name=""/>
          <p:cNvSpPr/>
          <p:nvPr/>
        </p:nvSpPr>
        <p:spPr>
          <a:xfrm>
            <a:off x="5655600" y="1371600"/>
            <a:ext cx="1827360" cy="54036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Metadata-Cache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97" name="Google Shape;114;p 7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498" name="PlaceHolder 2"/>
          <p:cNvSpPr>
            <a:spLocks noGrp="1"/>
          </p:cNvSpPr>
          <p:nvPr>
            <p:ph type="sldNum" idx="80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CB7C270-3B9F-4DCA-984E-96614930452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99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3998880" cy="4324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Bonsai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merkle trees</a:t>
            </a:r>
            <a:r>
              <a:rPr b="0" lang="en" sz="2100" strike="noStrike" u="none" baseline="33000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[3]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are built solely over the counters: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Reduces metadata storage requirements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Each node can protect a larger block of memory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0" name=""/>
          <p:cNvSpPr/>
          <p:nvPr/>
        </p:nvSpPr>
        <p:spPr>
          <a:xfrm flipV="1">
            <a:off x="5663520" y="257508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01" name=""/>
          <p:cNvSpPr/>
          <p:nvPr/>
        </p:nvSpPr>
        <p:spPr>
          <a:xfrm flipV="1">
            <a:off x="5951880" y="2584800"/>
            <a:ext cx="360" cy="325800"/>
          </a:xfrm>
          <a:prstGeom prst="line">
            <a:avLst/>
          </a:prstGeom>
          <a:ln w="38160">
            <a:solidFill>
              <a:srgbClr val="ff383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02" name=""/>
          <p:cNvSpPr/>
          <p:nvPr/>
        </p:nvSpPr>
        <p:spPr>
          <a:xfrm flipV="1">
            <a:off x="6239880" y="258480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03" name=""/>
          <p:cNvSpPr/>
          <p:nvPr/>
        </p:nvSpPr>
        <p:spPr>
          <a:xfrm flipV="1">
            <a:off x="6491880" y="258480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04" name=""/>
          <p:cNvSpPr/>
          <p:nvPr/>
        </p:nvSpPr>
        <p:spPr>
          <a:xfrm flipV="1">
            <a:off x="6743880" y="258480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05" name=""/>
          <p:cNvSpPr/>
          <p:nvPr/>
        </p:nvSpPr>
        <p:spPr>
          <a:xfrm rot="5400000">
            <a:off x="5336640" y="2981520"/>
            <a:ext cx="672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 rot="5400000">
            <a:off x="5618520" y="2981520"/>
            <a:ext cx="672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7" name=""/>
          <p:cNvSpPr/>
          <p:nvPr/>
        </p:nvSpPr>
        <p:spPr>
          <a:xfrm rot="5400000">
            <a:off x="5900760" y="2981520"/>
            <a:ext cx="672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 rot="5400000">
            <a:off x="6147360" y="2981520"/>
            <a:ext cx="672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9" name=""/>
          <p:cNvSpPr/>
          <p:nvPr/>
        </p:nvSpPr>
        <p:spPr>
          <a:xfrm rot="5400000">
            <a:off x="6423840" y="2981520"/>
            <a:ext cx="672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 rot="5400000">
            <a:off x="6870960" y="3282480"/>
            <a:ext cx="528840" cy="22068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 rot="5400000">
            <a:off x="7159320" y="3282480"/>
            <a:ext cx="528840" cy="220680"/>
          </a:xfrm>
          <a:prstGeom prst="rect">
            <a:avLst/>
          </a:prstGeom>
          <a:solidFill>
            <a:srgbClr val="ff3838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 rot="5400000">
            <a:off x="744732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 rot="5400000">
            <a:off x="769932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 rot="5400000">
            <a:off x="816732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833616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 flipV="1">
            <a:off x="712296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 flipV="1">
            <a:off x="7446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8" name=""/>
          <p:cNvSpPr/>
          <p:nvPr/>
        </p:nvSpPr>
        <p:spPr>
          <a:xfrm flipV="1">
            <a:off x="7698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 flipV="1">
            <a:off x="7986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0" name=""/>
          <p:cNvSpPr/>
          <p:nvPr/>
        </p:nvSpPr>
        <p:spPr>
          <a:xfrm flipV="1">
            <a:off x="8454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1" name=""/>
          <p:cNvSpPr/>
          <p:nvPr/>
        </p:nvSpPr>
        <p:spPr>
          <a:xfrm>
            <a:off x="5486760" y="2514600"/>
            <a:ext cx="3198960" cy="205596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5983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2" name=""/>
          <p:cNvSpPr/>
          <p:nvPr/>
        </p:nvSpPr>
        <p:spPr>
          <a:xfrm>
            <a:off x="5712480" y="1368000"/>
            <a:ext cx="2748240" cy="107784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5487120" y="1049040"/>
            <a:ext cx="774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SOC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4" name=""/>
          <p:cNvSpPr/>
          <p:nvPr/>
        </p:nvSpPr>
        <p:spPr>
          <a:xfrm>
            <a:off x="7696080" y="176760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>
            <a:off x="7816680" y="199656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6" name=""/>
          <p:cNvSpPr/>
          <p:nvPr/>
        </p:nvSpPr>
        <p:spPr>
          <a:xfrm>
            <a:off x="7816680" y="199656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7" name=""/>
          <p:cNvSpPr/>
          <p:nvPr/>
        </p:nvSpPr>
        <p:spPr>
          <a:xfrm flipH="1">
            <a:off x="7323480" y="199656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8" name=""/>
          <p:cNvSpPr/>
          <p:nvPr/>
        </p:nvSpPr>
        <p:spPr>
          <a:xfrm>
            <a:off x="5494320" y="1103760"/>
            <a:ext cx="3198960" cy="137016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1682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>
            <a:off x="5659560" y="1376280"/>
            <a:ext cx="1827360" cy="54036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Metadata-Cache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 flipH="1">
            <a:off x="773784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1" name=""/>
          <p:cNvSpPr/>
          <p:nvPr/>
        </p:nvSpPr>
        <p:spPr>
          <a:xfrm>
            <a:off x="780624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2" name=""/>
          <p:cNvSpPr/>
          <p:nvPr/>
        </p:nvSpPr>
        <p:spPr>
          <a:xfrm flipH="1">
            <a:off x="716184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>
            <a:off x="728352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4" name=""/>
          <p:cNvSpPr/>
          <p:nvPr/>
        </p:nvSpPr>
        <p:spPr>
          <a:xfrm>
            <a:off x="822996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>
            <a:off x="8128080" y="219960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6" name=""/>
          <p:cNvSpPr/>
          <p:nvPr/>
        </p:nvSpPr>
        <p:spPr>
          <a:xfrm>
            <a:off x="7192080" y="219960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>
            <a:off x="7696080" y="219960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>
            <a:off x="761616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786816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0" name=""/>
          <p:cNvSpPr/>
          <p:nvPr/>
        </p:nvSpPr>
        <p:spPr>
          <a:xfrm>
            <a:off x="7328160" y="2658240"/>
            <a:ext cx="225720" cy="225720"/>
          </a:xfrm>
          <a:prstGeom prst="ellipse">
            <a:avLst/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>
            <a:off x="7040160" y="265824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3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14332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supports RISC-V &amp; multi-core simulation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Keystone including PMP tables &amp; checker implementations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encryption engine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implementation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Developer space is divided into different scopes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544" name="Google Shape;140;p21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45" name="PlaceHolder 3"/>
          <p:cNvSpPr>
            <a:spLocks noGrp="1"/>
          </p:cNvSpPr>
          <p:nvPr>
            <p:ph type="sldNum" idx="81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C00691A-178C-4C9B-8B28-0160CD78ABD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13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5969160" y="3214080"/>
            <a:ext cx="2027880" cy="1217160"/>
          </a:xfrm>
          <a:prstGeom prst="roundRect">
            <a:avLst>
              <a:gd name="adj" fmla="val 16667"/>
            </a:avLst>
          </a:prstGeom>
          <a:solidFill>
            <a:srgbClr val="3faf46"/>
          </a:solidFill>
          <a:ln w="38160">
            <a:solidFill>
              <a:srgbClr val="3fa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547" name=""/>
          <p:cNvSpPr/>
          <p:nvPr/>
        </p:nvSpPr>
        <p:spPr>
          <a:xfrm>
            <a:off x="6166800" y="3620880"/>
            <a:ext cx="1618920" cy="6368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cpp Implementation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8" name=""/>
          <p:cNvSpPr/>
          <p:nvPr/>
        </p:nvSpPr>
        <p:spPr>
          <a:xfrm>
            <a:off x="6221520" y="3283200"/>
            <a:ext cx="163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Python Wrapper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>
            <a:off x="5949720" y="2873880"/>
            <a:ext cx="2081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Hardware Description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>
            <a:off x="6112080" y="1034280"/>
            <a:ext cx="1760400" cy="135504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551" name=""/>
          <p:cNvSpPr/>
          <p:nvPr/>
        </p:nvSpPr>
        <p:spPr>
          <a:xfrm>
            <a:off x="6241680" y="1366920"/>
            <a:ext cx="1478160" cy="909360"/>
          </a:xfrm>
          <a:prstGeom prst="roundRect">
            <a:avLst>
              <a:gd name="adj" fmla="val 16667"/>
            </a:avLst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Open Sans"/>
              <a:ea typeface="DejaVu Sans"/>
            </a:endParaRPr>
          </a:p>
        </p:txBody>
      </p:sp>
      <p:sp>
        <p:nvSpPr>
          <p:cNvPr id="552" name=""/>
          <p:cNvSpPr/>
          <p:nvPr/>
        </p:nvSpPr>
        <p:spPr>
          <a:xfrm>
            <a:off x="6307920" y="1383120"/>
            <a:ext cx="1172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Config Files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6209280" y="1019160"/>
            <a:ext cx="1172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User Space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>
            <a:off x="6434280" y="1778040"/>
            <a:ext cx="1125000" cy="41760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Program Binary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>
            <a:off x="6986880" y="2394000"/>
            <a:ext cx="360" cy="48276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556" name=""/>
          <p:cNvSpPr/>
          <p:nvPr/>
        </p:nvSpPr>
        <p:spPr>
          <a:xfrm>
            <a:off x="5848200" y="2874240"/>
            <a:ext cx="2297880" cy="163260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eventQueue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8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908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 eventQueue is how gem5 schedules processes to enable multi-core simulation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Most member functions operate shared queues instead of directly calling one another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eventWrappers are scheduled instead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Events are scheduled with latencies: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i.e. things like computing the cipher arent actually done, but scheduled &amp; the latency is modeled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559" name="Google Shape;140;p 4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60" name="PlaceHolder 3"/>
          <p:cNvSpPr>
            <a:spLocks noGrp="1"/>
          </p:cNvSpPr>
          <p:nvPr>
            <p:ph type="sldNum" idx="82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16974E-332A-4B06-96E3-D01F45B4DE9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14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pic>
        <p:nvPicPr>
          <p:cNvPr id="561" name="" descr=""/>
          <p:cNvPicPr/>
          <p:nvPr/>
        </p:nvPicPr>
        <p:blipFill>
          <a:blip r:embed="rId1"/>
          <a:srcRect l="0" t="19994" r="0" b="13337"/>
          <a:stretch/>
        </p:blipFill>
        <p:spPr>
          <a:xfrm>
            <a:off x="6325560" y="1107000"/>
            <a:ext cx="2372040" cy="3428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initiateMac &amp; initiateCipher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468612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Prepare the pkt for hashing: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Assigns pkt with a time signature &amp; inserting</a:t>
            </a: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into the </a:t>
            </a:r>
            <a:r>
              <a:rPr b="0" i="1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hashing_queue / cipher_queue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Schedules a mac/cipher event for the eventQueue to trigger the mac/cipher engine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initiateCipher must also account for counter vs data mac pkts: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Control flow to insert into separate queues and handled by cipherEngine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564" name="Google Shape;140;p 2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65" name="PlaceHolder 3"/>
          <p:cNvSpPr>
            <a:spLocks noGrp="1"/>
          </p:cNvSpPr>
          <p:nvPr>
            <p:ph type="sldNum" idx="83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569DAF2-5F34-4D15-8CB3-4D029EA553C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15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pic>
        <p:nvPicPr>
          <p:cNvPr id="566" name="" descr=""/>
          <p:cNvPicPr/>
          <p:nvPr/>
        </p:nvPicPr>
        <p:blipFill>
          <a:blip r:embed="rId1"/>
          <a:srcRect l="37386" t="13101" r="13195" b="15787"/>
          <a:stretch/>
        </p:blipFill>
        <p:spPr>
          <a:xfrm>
            <a:off x="5257800" y="914400"/>
            <a:ext cx="3657240" cy="3657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macEngine &amp; cipherEngine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8" name="PlaceHolder 2"/>
          <p:cNvSpPr>
            <a:spLocks noGrp="1"/>
          </p:cNvSpPr>
          <p:nvPr>
            <p:ph/>
          </p:nvPr>
        </p:nvSpPr>
        <p:spPr>
          <a:xfrm>
            <a:off x="344520" y="914400"/>
            <a:ext cx="811368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Process one pkt from respective queue &amp; schedule the next: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Calls handleTreeResponse / handleCounterResponse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648000" indent="0">
              <a:lnSpc>
                <a:spcPct val="90000"/>
              </a:lnSpc>
              <a:spcBef>
                <a:spcPts val="850"/>
              </a:spcBef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- </a:t>
            </a: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These in turn can call initiateCipher/Mac on the child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Calls updateTree and responds to the processor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569" name="Google Shape;140;p 5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70" name="PlaceHolder 3"/>
          <p:cNvSpPr>
            <a:spLocks noGrp="1"/>
          </p:cNvSpPr>
          <p:nvPr>
            <p:ph type="sldNum" idx="84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E11581-BE7C-49C2-9A71-4583491856B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16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updateTree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908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Creates packets for counters, mac &amp; parent: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Sends nodes to memory &amp; metadata cache 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Data has been encrypted &amp; hashes computed, all stored in the pkt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calculateAddress functions operate on the packet to return the desired address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573" name="Google Shape;140;p 6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74" name="PlaceHolder 3"/>
          <p:cNvSpPr>
            <a:spLocks noGrp="1"/>
          </p:cNvSpPr>
          <p:nvPr>
            <p:ph type="sldNum" idx="85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AD4365-9DA5-49FF-9986-0B710E6E528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17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 rot="5400000">
            <a:off x="6399360" y="3329640"/>
            <a:ext cx="665280" cy="27756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 rot="5400000">
            <a:off x="6761880" y="3329640"/>
            <a:ext cx="665280" cy="277560"/>
          </a:xfrm>
          <a:prstGeom prst="rect">
            <a:avLst/>
          </a:prstGeom>
          <a:solidFill>
            <a:srgbClr val="ff3838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577" name=""/>
          <p:cNvSpPr/>
          <p:nvPr/>
        </p:nvSpPr>
        <p:spPr>
          <a:xfrm rot="5400000">
            <a:off x="7124400" y="3330000"/>
            <a:ext cx="665280" cy="27720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8" name=""/>
          <p:cNvSpPr/>
          <p:nvPr/>
        </p:nvSpPr>
        <p:spPr>
          <a:xfrm rot="5400000">
            <a:off x="7441200" y="3329640"/>
            <a:ext cx="665280" cy="2775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9" name=""/>
          <p:cNvSpPr/>
          <p:nvPr/>
        </p:nvSpPr>
        <p:spPr>
          <a:xfrm rot="5400000">
            <a:off x="8029800" y="3329640"/>
            <a:ext cx="665280" cy="2775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0" name=""/>
          <p:cNvSpPr/>
          <p:nvPr/>
        </p:nvSpPr>
        <p:spPr>
          <a:xfrm>
            <a:off x="8242200" y="2544840"/>
            <a:ext cx="284040" cy="2840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1" name=""/>
          <p:cNvSpPr/>
          <p:nvPr/>
        </p:nvSpPr>
        <p:spPr>
          <a:xfrm flipV="1">
            <a:off x="6716520" y="2832480"/>
            <a:ext cx="360" cy="3034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2" name=""/>
          <p:cNvSpPr/>
          <p:nvPr/>
        </p:nvSpPr>
        <p:spPr>
          <a:xfrm flipV="1">
            <a:off x="7124040" y="2832840"/>
            <a:ext cx="360" cy="3038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3" name=""/>
          <p:cNvSpPr/>
          <p:nvPr/>
        </p:nvSpPr>
        <p:spPr>
          <a:xfrm flipV="1">
            <a:off x="7440840" y="2832840"/>
            <a:ext cx="720" cy="3038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4" name=""/>
          <p:cNvSpPr/>
          <p:nvPr/>
        </p:nvSpPr>
        <p:spPr>
          <a:xfrm flipV="1">
            <a:off x="7803000" y="2832840"/>
            <a:ext cx="720" cy="3038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5" name=""/>
          <p:cNvSpPr/>
          <p:nvPr/>
        </p:nvSpPr>
        <p:spPr>
          <a:xfrm flipV="1">
            <a:off x="8391600" y="2832840"/>
            <a:ext cx="720" cy="3038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>
            <a:off x="7437240" y="1424520"/>
            <a:ext cx="284040" cy="28404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7" name=""/>
          <p:cNvSpPr/>
          <p:nvPr/>
        </p:nvSpPr>
        <p:spPr>
          <a:xfrm>
            <a:off x="7589160" y="1712520"/>
            <a:ext cx="360" cy="527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7589160" y="1712520"/>
            <a:ext cx="529560" cy="255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9" name=""/>
          <p:cNvSpPr/>
          <p:nvPr/>
        </p:nvSpPr>
        <p:spPr>
          <a:xfrm flipH="1">
            <a:off x="6968880" y="1712520"/>
            <a:ext cx="620280" cy="2556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0" name=""/>
          <p:cNvSpPr/>
          <p:nvPr/>
        </p:nvSpPr>
        <p:spPr>
          <a:xfrm flipH="1">
            <a:off x="7489800" y="2204640"/>
            <a:ext cx="86040" cy="4428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1" name=""/>
          <p:cNvSpPr/>
          <p:nvPr/>
        </p:nvSpPr>
        <p:spPr>
          <a:xfrm>
            <a:off x="7575840" y="2204640"/>
            <a:ext cx="245520" cy="4471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2" name=""/>
          <p:cNvSpPr/>
          <p:nvPr/>
        </p:nvSpPr>
        <p:spPr>
          <a:xfrm flipH="1">
            <a:off x="6765480" y="2076840"/>
            <a:ext cx="193320" cy="513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3" name=""/>
          <p:cNvSpPr/>
          <p:nvPr/>
        </p:nvSpPr>
        <p:spPr>
          <a:xfrm>
            <a:off x="6918480" y="2055960"/>
            <a:ext cx="187920" cy="614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4" name=""/>
          <p:cNvSpPr/>
          <p:nvPr/>
        </p:nvSpPr>
        <p:spPr>
          <a:xfrm>
            <a:off x="8108640" y="2076840"/>
            <a:ext cx="266040" cy="468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5" name=""/>
          <p:cNvSpPr/>
          <p:nvPr/>
        </p:nvSpPr>
        <p:spPr>
          <a:xfrm>
            <a:off x="7980840" y="1968120"/>
            <a:ext cx="283680" cy="283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6" name=""/>
          <p:cNvSpPr/>
          <p:nvPr/>
        </p:nvSpPr>
        <p:spPr>
          <a:xfrm>
            <a:off x="6803640" y="1968120"/>
            <a:ext cx="283680" cy="28368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7" name=""/>
          <p:cNvSpPr/>
          <p:nvPr/>
        </p:nvSpPr>
        <p:spPr>
          <a:xfrm>
            <a:off x="7437240" y="1968120"/>
            <a:ext cx="284040" cy="2836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8" name=""/>
          <p:cNvSpPr/>
          <p:nvPr/>
        </p:nvSpPr>
        <p:spPr>
          <a:xfrm>
            <a:off x="7336800" y="2544840"/>
            <a:ext cx="284040" cy="2840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9" name=""/>
          <p:cNvSpPr/>
          <p:nvPr/>
        </p:nvSpPr>
        <p:spPr>
          <a:xfrm>
            <a:off x="7653600" y="2544840"/>
            <a:ext cx="284040" cy="2840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>
            <a:off x="6974640" y="2544840"/>
            <a:ext cx="284040" cy="284040"/>
          </a:xfrm>
          <a:prstGeom prst="ellipse">
            <a:avLst/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01" name=""/>
          <p:cNvSpPr/>
          <p:nvPr/>
        </p:nvSpPr>
        <p:spPr>
          <a:xfrm>
            <a:off x="6612480" y="2544840"/>
            <a:ext cx="283680" cy="28404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handleRequest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3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908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Prepare counter &amp; mac for the pkt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Place into queues for authentication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Send to memory / metadata cache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This starts the recursive hashing / authentication 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Writes are just placed in a queue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04" name="Google Shape;140;p 11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05" name="PlaceHolder 3"/>
          <p:cNvSpPr>
            <a:spLocks noGrp="1"/>
          </p:cNvSpPr>
          <p:nvPr>
            <p:ph type="sldNum" idx="86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617076-EAEF-4555-890B-FF5AA567EDC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18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handleResponse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7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811512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Decryption &amp; authentication of responses from memory requests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 functions prepare pkts by checking, popping and placing into queues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Uses other functions to actually schedule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 important / complex thing to consider in all scenarios is the coontext of control flow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Debugging, development &amp; code reading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08" name="Google Shape;140;p 10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09" name="PlaceHolder 3"/>
          <p:cNvSpPr>
            <a:spLocks noGrp="1"/>
          </p:cNvSpPr>
          <p:nvPr>
            <p:ph type="sldNum" idx="87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6D1EE3-8980-4D4D-BD54-F526962234E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19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Port functions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1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811512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Functions like sendPacket &amp; recvRespRetry manage blocked packets in a similar manner: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Pop / push pkts onto a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blocked_packets &amp; pending_*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queues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Calls handle functions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Important to consider the scope of the call (mem_side vs cpu_side)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12" name="Google Shape;140;p 12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13" name="PlaceHolder 3"/>
          <p:cNvSpPr>
            <a:spLocks noGrp="1"/>
          </p:cNvSpPr>
          <p:nvPr>
            <p:ph type="sldNum" idx="88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D4BE19-1726-4DE1-A363-9635A06ABA3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20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handleCounterResponse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5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908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Check for data waiting on the counter: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Send for encryption / decryption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If pkt is a write, compute the MAC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16" name="Google Shape;140;p 9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17" name="PlaceHolder 3"/>
          <p:cNvSpPr>
            <a:spLocks noGrp="1"/>
          </p:cNvSpPr>
          <p:nvPr>
            <p:ph type="sldNum" idx="89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E082FA-8F24-42E3-B969-A1B63394509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handleMacResponse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9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908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Check for returned data waiting on a counter 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Push onto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pending_mac</a:t>
            </a: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queue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20" name="Google Shape;140;p 13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21" name="PlaceHolder 3"/>
          <p:cNvSpPr>
            <a:spLocks noGrp="1"/>
          </p:cNvSpPr>
          <p:nvPr>
            <p:ph type="sldNum" idx="90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B7F2FC-9050-41F1-BEE0-945EEEC453A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handleTreeResponse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3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788652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Handles the recursive authentication of the integrity tree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Parent and all children nodes are authenticated 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Authenticates metadata &amp; sends to metadata cache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Mostly removes eligible pkts from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needs_authentication</a:t>
            </a: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queue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24" name="Google Shape;140;p 8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25" name="PlaceHolder 3"/>
          <p:cNvSpPr>
            <a:spLocks noGrp="1"/>
          </p:cNvSpPr>
          <p:nvPr>
            <p:ph type="sldNum" idx="91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E38822-49E0-4D8A-99BE-E408DB04B67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23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handleMetadataCacheMiss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59908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Adds pkt to authentication queue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Checks for eager fetch and sends parent pkt to metadata cache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Must be metadata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28" name="Google Shape;140;p 7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29" name="PlaceHolder 3"/>
          <p:cNvSpPr>
            <a:spLocks noGrp="1"/>
          </p:cNvSpPr>
          <p:nvPr>
            <p:ph type="sldNum" idx="92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F81D75-7390-40B2-8198-5740135B130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24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Conclusion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788652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Everything is stored and processed through the pkt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 eventQueue schedules processes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Functions operate on shared queues in order to service pending pkts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 state of the system is the important thing to debug as problems arise and implementations progress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32" name="Google Shape;140;p 14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33" name="PlaceHolder 3"/>
          <p:cNvSpPr>
            <a:spLocks noGrp="1"/>
          </p:cNvSpPr>
          <p:nvPr>
            <p:ph type="sldNum" idx="93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9B7251-BE22-40F0-95D4-FE4634D4DA5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25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Sources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06280" cy="44118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[1]</a:t>
            </a: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 Dayeol Lee (2022) Building Trusted Execution Environments. In: </a:t>
            </a:r>
            <a:r>
              <a:rPr b="0" i="1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 dissertation submitted in partial satisfaction of the requirements for the degree of Doctor of Philosophy in Computer Science in the Graduate Division of the University of California, Berkeley</a:t>
            </a: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.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[2] Chenyu Yan, Brian Rogers, Daniel Englender, et. al. (2006) Improving Cost, Performance, and Security of Memory Encryption and Authentication. In: </a:t>
            </a:r>
            <a:r>
              <a:rPr b="0" i="1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Proceedings of the 33rd International Symposium on Computer Architecture (ISCA’06)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[3] Brian Rogers &amp; Milos Prvulovic (2007) Using address independent seed encryption and bonsai merkle trees to make secure processors OS-and performance-friendly. In: </a:t>
            </a:r>
            <a:r>
              <a:rPr b="0" i="1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40th IEEE/ACM International Symposium on Microarchitecture (MICRO’07)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[4] Zach Moolman &amp; Tamara Silbergleit Lehman (2024) Extending RISC-V Keystone to Include Efficient Secure Memory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[5] The RISC-V Instruction Set Manual: Volume II Privileged Architecture. Version 20240411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[6] Samuel Thomas (2025) Towards A Practical Secure Memory for Practical Development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636" name="Google Shape;207;p28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37" name="PlaceHolder 3"/>
          <p:cNvSpPr>
            <a:spLocks noGrp="1"/>
          </p:cNvSpPr>
          <p:nvPr>
            <p:ph type="sldNum" idx="94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B19481-5CC0-4F53-AA86-4BEBE4AC563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26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8" name="Google Shape;114;p 5"/>
          <p:cNvCxnSpPr/>
          <p:nvPr/>
        </p:nvCxnSpPr>
        <p:spPr>
          <a:xfrm>
            <a:off x="204480" y="721440"/>
            <a:ext cx="8750520" cy="158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39" name="PlaceHolder 1"/>
          <p:cNvSpPr>
            <a:spLocks noGrp="1"/>
          </p:cNvSpPr>
          <p:nvPr>
            <p:ph type="sldNum" idx="95"/>
          </p:nvPr>
        </p:nvSpPr>
        <p:spPr>
          <a:xfrm>
            <a:off x="8472600" y="4633560"/>
            <a:ext cx="533160" cy="3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51D7BE-FAA3-4BE3-83C7-3302AF16185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27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640" cy="907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Where does Secure Memory fit in?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1" name=""/>
          <p:cNvSpPr/>
          <p:nvPr/>
        </p:nvSpPr>
        <p:spPr>
          <a:xfrm>
            <a:off x="5409720" y="2128320"/>
            <a:ext cx="62388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42" name=""/>
          <p:cNvSpPr/>
          <p:nvPr/>
        </p:nvSpPr>
        <p:spPr>
          <a:xfrm>
            <a:off x="5532480" y="2490120"/>
            <a:ext cx="2434680" cy="11192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643" name=""/>
          <p:cNvSpPr/>
          <p:nvPr/>
        </p:nvSpPr>
        <p:spPr>
          <a:xfrm>
            <a:off x="6728040" y="21283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44" name=""/>
          <p:cNvSpPr/>
          <p:nvPr/>
        </p:nvSpPr>
        <p:spPr>
          <a:xfrm flipH="1">
            <a:off x="7405200" y="2128320"/>
            <a:ext cx="77472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45" name=""/>
          <p:cNvSpPr/>
          <p:nvPr/>
        </p:nvSpPr>
        <p:spPr>
          <a:xfrm>
            <a:off x="5884200" y="2978640"/>
            <a:ext cx="2050560" cy="5533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6" name=""/>
          <p:cNvSpPr/>
          <p:nvPr/>
        </p:nvSpPr>
        <p:spPr>
          <a:xfrm>
            <a:off x="5532480" y="2515680"/>
            <a:ext cx="2008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4566600" y="1049400"/>
            <a:ext cx="4329360" cy="109908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8" name=""/>
          <p:cNvSpPr/>
          <p:nvPr/>
        </p:nvSpPr>
        <p:spPr>
          <a:xfrm>
            <a:off x="4695840" y="1400760"/>
            <a:ext cx="1161000" cy="546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Application Thread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9" name=""/>
          <p:cNvSpPr/>
          <p:nvPr/>
        </p:nvSpPr>
        <p:spPr>
          <a:xfrm>
            <a:off x="6175800" y="1400760"/>
            <a:ext cx="1121400" cy="546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Operating System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0" name=""/>
          <p:cNvSpPr/>
          <p:nvPr/>
        </p:nvSpPr>
        <p:spPr>
          <a:xfrm>
            <a:off x="7586640" y="1400760"/>
            <a:ext cx="1182960" cy="546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Remote or Cloud User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1" name=""/>
          <p:cNvSpPr/>
          <p:nvPr/>
        </p:nvSpPr>
        <p:spPr>
          <a:xfrm>
            <a:off x="4720320" y="1051200"/>
            <a:ext cx="402660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Potentially Malicious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2" name=""/>
          <p:cNvSpPr/>
          <p:nvPr/>
        </p:nvSpPr>
        <p:spPr>
          <a:xfrm flipV="1">
            <a:off x="6728760" y="36349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53" name=""/>
          <p:cNvSpPr/>
          <p:nvPr/>
        </p:nvSpPr>
        <p:spPr>
          <a:xfrm>
            <a:off x="5119200" y="3888000"/>
            <a:ext cx="3197160" cy="4532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Storage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4" name="PlaceHolder 9"/>
          <p:cNvSpPr/>
          <p:nvPr/>
        </p:nvSpPr>
        <p:spPr>
          <a:xfrm>
            <a:off x="685800" y="4932000"/>
            <a:ext cx="799740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5" name="PlaceHolder 10"/>
          <p:cNvSpPr/>
          <p:nvPr/>
        </p:nvSpPr>
        <p:spPr>
          <a:xfrm>
            <a:off x="343080" y="830160"/>
            <a:ext cx="4225320" cy="37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100000"/>
              </a:lnSpc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methods protect SoCs against off-chip memory corruption by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Encrypting / Decrypting protected memory 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Storing and checking an integrity tree to verify data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These checks result in latencies both in encryption and memory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"/>
          <p:cNvSpPr/>
          <p:nvPr/>
        </p:nvSpPr>
        <p:spPr>
          <a:xfrm flipV="1">
            <a:off x="7125120" y="37166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57" name=""/>
          <p:cNvSpPr/>
          <p:nvPr/>
        </p:nvSpPr>
        <p:spPr>
          <a:xfrm flipV="1">
            <a:off x="741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58" name=""/>
          <p:cNvSpPr/>
          <p:nvPr/>
        </p:nvSpPr>
        <p:spPr>
          <a:xfrm flipV="1">
            <a:off x="770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59" name=""/>
          <p:cNvSpPr/>
          <p:nvPr/>
        </p:nvSpPr>
        <p:spPr>
          <a:xfrm flipV="1">
            <a:off x="795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60" name=""/>
          <p:cNvSpPr/>
          <p:nvPr/>
        </p:nvSpPr>
        <p:spPr>
          <a:xfrm flipV="1">
            <a:off x="842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661" name="Google Shape;114;p 9"/>
          <p:cNvCxnSpPr/>
          <p:nvPr/>
        </p:nvCxnSpPr>
        <p:spPr>
          <a:xfrm>
            <a:off x="204480" y="721440"/>
            <a:ext cx="8750520" cy="158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62" name="PlaceHolder 1"/>
          <p:cNvSpPr>
            <a:spLocks noGrp="1"/>
          </p:cNvSpPr>
          <p:nvPr>
            <p:ph type="sldNum" idx="96"/>
          </p:nvPr>
        </p:nvSpPr>
        <p:spPr>
          <a:xfrm>
            <a:off x="8472600" y="4633560"/>
            <a:ext cx="533160" cy="3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365728-2154-4DCC-90EC-E5C131D0CE3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28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63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640" cy="907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Incurs Latency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4" name=""/>
          <p:cNvSpPr/>
          <p:nvPr/>
        </p:nvSpPr>
        <p:spPr>
          <a:xfrm>
            <a:off x="5532480" y="942120"/>
            <a:ext cx="2434680" cy="11192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665" name=""/>
          <p:cNvSpPr/>
          <p:nvPr/>
        </p:nvSpPr>
        <p:spPr>
          <a:xfrm>
            <a:off x="5884200" y="1430640"/>
            <a:ext cx="2050560" cy="5533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6" name=""/>
          <p:cNvSpPr/>
          <p:nvPr/>
        </p:nvSpPr>
        <p:spPr>
          <a:xfrm>
            <a:off x="4927320" y="1039680"/>
            <a:ext cx="3162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7" name=""/>
          <p:cNvSpPr/>
          <p:nvPr/>
        </p:nvSpPr>
        <p:spPr>
          <a:xfrm>
            <a:off x="5407200" y="3888000"/>
            <a:ext cx="3197160" cy="4532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8" name="PlaceHolder 15"/>
          <p:cNvSpPr/>
          <p:nvPr/>
        </p:nvSpPr>
        <p:spPr>
          <a:xfrm>
            <a:off x="685800" y="4932000"/>
            <a:ext cx="799740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9" name=""/>
          <p:cNvSpPr/>
          <p:nvPr/>
        </p:nvSpPr>
        <p:spPr>
          <a:xfrm>
            <a:off x="7687800" y="175824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0" name="PlaceHolder 16"/>
          <p:cNvSpPr/>
          <p:nvPr/>
        </p:nvSpPr>
        <p:spPr>
          <a:xfrm>
            <a:off x="343080" y="830160"/>
            <a:ext cx="4911840" cy="37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An integrity tree, or Merkle tree, is simply a hash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Each parent is the hash of its children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Root is kept on-chip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a memory fetch, the core must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Check that the data hash matches a leaf and the parent has not been tampered with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Recursively check each node up to the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1" name=""/>
          <p:cNvSpPr/>
          <p:nvPr/>
        </p:nvSpPr>
        <p:spPr>
          <a:xfrm rot="5400000">
            <a:off x="691236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2" name=""/>
          <p:cNvSpPr/>
          <p:nvPr/>
        </p:nvSpPr>
        <p:spPr>
          <a:xfrm rot="5400000">
            <a:off x="719424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3" name=""/>
          <p:cNvSpPr/>
          <p:nvPr/>
        </p:nvSpPr>
        <p:spPr>
          <a:xfrm rot="5400000">
            <a:off x="747648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4" name=""/>
          <p:cNvSpPr/>
          <p:nvPr/>
        </p:nvSpPr>
        <p:spPr>
          <a:xfrm rot="5400000">
            <a:off x="772308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5" name=""/>
          <p:cNvSpPr/>
          <p:nvPr/>
        </p:nvSpPr>
        <p:spPr>
          <a:xfrm rot="5400000">
            <a:off x="821556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6" name=""/>
          <p:cNvSpPr/>
          <p:nvPr/>
        </p:nvSpPr>
        <p:spPr>
          <a:xfrm>
            <a:off x="7808400" y="198720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7" name=""/>
          <p:cNvSpPr/>
          <p:nvPr/>
        </p:nvSpPr>
        <p:spPr>
          <a:xfrm>
            <a:off x="7808400" y="198720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8" name=""/>
          <p:cNvSpPr/>
          <p:nvPr/>
        </p:nvSpPr>
        <p:spPr>
          <a:xfrm flipH="1">
            <a:off x="7315200" y="198720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9" name=""/>
          <p:cNvSpPr/>
          <p:nvPr/>
        </p:nvSpPr>
        <p:spPr>
          <a:xfrm flipH="1">
            <a:off x="773748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0" name=""/>
          <p:cNvSpPr/>
          <p:nvPr/>
        </p:nvSpPr>
        <p:spPr>
          <a:xfrm>
            <a:off x="7615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1" name=""/>
          <p:cNvSpPr/>
          <p:nvPr/>
        </p:nvSpPr>
        <p:spPr>
          <a:xfrm rot="5400000">
            <a:off x="687060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2" name=""/>
          <p:cNvSpPr/>
          <p:nvPr/>
        </p:nvSpPr>
        <p:spPr>
          <a:xfrm rot="5400000">
            <a:off x="7158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3" name=""/>
          <p:cNvSpPr/>
          <p:nvPr/>
        </p:nvSpPr>
        <p:spPr>
          <a:xfrm rot="5400000">
            <a:off x="7446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4" name=""/>
          <p:cNvSpPr/>
          <p:nvPr/>
        </p:nvSpPr>
        <p:spPr>
          <a:xfrm rot="5400000">
            <a:off x="7698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5" name=""/>
          <p:cNvSpPr/>
          <p:nvPr/>
        </p:nvSpPr>
        <p:spPr>
          <a:xfrm rot="5400000">
            <a:off x="8166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6" name=""/>
          <p:cNvSpPr/>
          <p:nvPr/>
        </p:nvSpPr>
        <p:spPr>
          <a:xfrm>
            <a:off x="780588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7" name=""/>
          <p:cNvSpPr/>
          <p:nvPr/>
        </p:nvSpPr>
        <p:spPr>
          <a:xfrm>
            <a:off x="7867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8" name=""/>
          <p:cNvSpPr/>
          <p:nvPr/>
        </p:nvSpPr>
        <p:spPr>
          <a:xfrm flipH="1">
            <a:off x="716148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9" name=""/>
          <p:cNvSpPr/>
          <p:nvPr/>
        </p:nvSpPr>
        <p:spPr>
          <a:xfrm>
            <a:off x="728316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0" name=""/>
          <p:cNvSpPr/>
          <p:nvPr/>
        </p:nvSpPr>
        <p:spPr>
          <a:xfrm>
            <a:off x="822960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1" name=""/>
          <p:cNvSpPr/>
          <p:nvPr/>
        </p:nvSpPr>
        <p:spPr>
          <a:xfrm>
            <a:off x="8119800" y="2190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2" name=""/>
          <p:cNvSpPr/>
          <p:nvPr/>
        </p:nvSpPr>
        <p:spPr>
          <a:xfrm>
            <a:off x="7327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3" name=""/>
          <p:cNvSpPr/>
          <p:nvPr/>
        </p:nvSpPr>
        <p:spPr>
          <a:xfrm>
            <a:off x="8335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4" name=""/>
          <p:cNvSpPr/>
          <p:nvPr/>
        </p:nvSpPr>
        <p:spPr>
          <a:xfrm>
            <a:off x="7039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5" name=""/>
          <p:cNvSpPr/>
          <p:nvPr/>
        </p:nvSpPr>
        <p:spPr>
          <a:xfrm>
            <a:off x="7183800" y="2190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6" name=""/>
          <p:cNvSpPr/>
          <p:nvPr/>
        </p:nvSpPr>
        <p:spPr>
          <a:xfrm>
            <a:off x="7687800" y="2190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7" name=""/>
          <p:cNvSpPr/>
          <p:nvPr/>
        </p:nvSpPr>
        <p:spPr>
          <a:xfrm flipV="1">
            <a:off x="712260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8" name=""/>
          <p:cNvSpPr/>
          <p:nvPr/>
        </p:nvSpPr>
        <p:spPr>
          <a:xfrm flipV="1">
            <a:off x="744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9" name=""/>
          <p:cNvSpPr/>
          <p:nvPr/>
        </p:nvSpPr>
        <p:spPr>
          <a:xfrm flipV="1">
            <a:off x="7698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0" name=""/>
          <p:cNvSpPr/>
          <p:nvPr/>
        </p:nvSpPr>
        <p:spPr>
          <a:xfrm flipV="1">
            <a:off x="798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1" name=""/>
          <p:cNvSpPr/>
          <p:nvPr/>
        </p:nvSpPr>
        <p:spPr>
          <a:xfrm flipV="1">
            <a:off x="8454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"/>
          <p:cNvSpPr/>
          <p:nvPr/>
        </p:nvSpPr>
        <p:spPr>
          <a:xfrm flipV="1">
            <a:off x="7125120" y="371664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03" name=""/>
          <p:cNvSpPr/>
          <p:nvPr/>
        </p:nvSpPr>
        <p:spPr>
          <a:xfrm flipV="1">
            <a:off x="741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04" name=""/>
          <p:cNvSpPr/>
          <p:nvPr/>
        </p:nvSpPr>
        <p:spPr>
          <a:xfrm flipV="1">
            <a:off x="770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05" name=""/>
          <p:cNvSpPr/>
          <p:nvPr/>
        </p:nvSpPr>
        <p:spPr>
          <a:xfrm flipV="1">
            <a:off x="795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06" name=""/>
          <p:cNvSpPr/>
          <p:nvPr/>
        </p:nvSpPr>
        <p:spPr>
          <a:xfrm flipV="1">
            <a:off x="842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707" name="Google Shape;114;p 10"/>
          <p:cNvCxnSpPr/>
          <p:nvPr/>
        </p:nvCxnSpPr>
        <p:spPr>
          <a:xfrm>
            <a:off x="204480" y="721440"/>
            <a:ext cx="8750520" cy="158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08" name="PlaceHolder 1"/>
          <p:cNvSpPr>
            <a:spLocks noGrp="1"/>
          </p:cNvSpPr>
          <p:nvPr>
            <p:ph type="sldNum" idx="97"/>
          </p:nvPr>
        </p:nvSpPr>
        <p:spPr>
          <a:xfrm>
            <a:off x="8472600" y="4633560"/>
            <a:ext cx="533160" cy="3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CF3168-AB2B-4AE6-A4C6-4B931E43D5A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29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09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640" cy="907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Incurs Latency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0" name=""/>
          <p:cNvSpPr/>
          <p:nvPr/>
        </p:nvSpPr>
        <p:spPr>
          <a:xfrm>
            <a:off x="5532480" y="942120"/>
            <a:ext cx="2434680" cy="11192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711" name=""/>
          <p:cNvSpPr/>
          <p:nvPr/>
        </p:nvSpPr>
        <p:spPr>
          <a:xfrm>
            <a:off x="5884200" y="1430640"/>
            <a:ext cx="2050560" cy="5533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2" name=""/>
          <p:cNvSpPr/>
          <p:nvPr/>
        </p:nvSpPr>
        <p:spPr>
          <a:xfrm>
            <a:off x="4927320" y="1039680"/>
            <a:ext cx="3162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3" name=""/>
          <p:cNvSpPr/>
          <p:nvPr/>
        </p:nvSpPr>
        <p:spPr>
          <a:xfrm>
            <a:off x="5407200" y="3888000"/>
            <a:ext cx="3197160" cy="4532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4" name="PlaceHolder 22"/>
          <p:cNvSpPr/>
          <p:nvPr/>
        </p:nvSpPr>
        <p:spPr>
          <a:xfrm>
            <a:off x="685800" y="4932000"/>
            <a:ext cx="799740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5" name=""/>
          <p:cNvSpPr/>
          <p:nvPr/>
        </p:nvSpPr>
        <p:spPr>
          <a:xfrm>
            <a:off x="7687800" y="175824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6" name="PlaceHolder 23"/>
          <p:cNvSpPr/>
          <p:nvPr/>
        </p:nvSpPr>
        <p:spPr>
          <a:xfrm>
            <a:off x="343080" y="830160"/>
            <a:ext cx="4911840" cy="37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An integrity tree, or Merkle tree, is simply a hash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Each parent is the hash of its children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Root is kept on-chip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a memory fetch, the core must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Check that the data hash matches a leaf and the parent has not been tampered with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Recursively check each node up to the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7" name=""/>
          <p:cNvSpPr/>
          <p:nvPr/>
        </p:nvSpPr>
        <p:spPr>
          <a:xfrm rot="5400000">
            <a:off x="691236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8" name=""/>
          <p:cNvSpPr/>
          <p:nvPr/>
        </p:nvSpPr>
        <p:spPr>
          <a:xfrm rot="5400000">
            <a:off x="719424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9" name=""/>
          <p:cNvSpPr/>
          <p:nvPr/>
        </p:nvSpPr>
        <p:spPr>
          <a:xfrm rot="5400000">
            <a:off x="747648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0" name=""/>
          <p:cNvSpPr/>
          <p:nvPr/>
        </p:nvSpPr>
        <p:spPr>
          <a:xfrm rot="5400000">
            <a:off x="772308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1" name=""/>
          <p:cNvSpPr/>
          <p:nvPr/>
        </p:nvSpPr>
        <p:spPr>
          <a:xfrm rot="5400000">
            <a:off x="821556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2" name=""/>
          <p:cNvSpPr/>
          <p:nvPr/>
        </p:nvSpPr>
        <p:spPr>
          <a:xfrm>
            <a:off x="7808400" y="198720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3" name=""/>
          <p:cNvSpPr/>
          <p:nvPr/>
        </p:nvSpPr>
        <p:spPr>
          <a:xfrm>
            <a:off x="7808400" y="198720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4" name=""/>
          <p:cNvSpPr/>
          <p:nvPr/>
        </p:nvSpPr>
        <p:spPr>
          <a:xfrm flipH="1">
            <a:off x="7315200" y="198720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5" name=""/>
          <p:cNvSpPr/>
          <p:nvPr/>
        </p:nvSpPr>
        <p:spPr>
          <a:xfrm flipH="1">
            <a:off x="773748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6" name=""/>
          <p:cNvSpPr/>
          <p:nvPr/>
        </p:nvSpPr>
        <p:spPr>
          <a:xfrm>
            <a:off x="7615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7" name=""/>
          <p:cNvSpPr/>
          <p:nvPr/>
        </p:nvSpPr>
        <p:spPr>
          <a:xfrm rot="5400000">
            <a:off x="6870600" y="3282480"/>
            <a:ext cx="528840" cy="22068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 rot="5400000">
            <a:off x="7158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9" name=""/>
          <p:cNvSpPr/>
          <p:nvPr/>
        </p:nvSpPr>
        <p:spPr>
          <a:xfrm rot="5400000">
            <a:off x="7446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0" name=""/>
          <p:cNvSpPr/>
          <p:nvPr/>
        </p:nvSpPr>
        <p:spPr>
          <a:xfrm rot="5400000">
            <a:off x="7698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1" name=""/>
          <p:cNvSpPr/>
          <p:nvPr/>
        </p:nvSpPr>
        <p:spPr>
          <a:xfrm rot="5400000">
            <a:off x="8166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2" name=""/>
          <p:cNvSpPr/>
          <p:nvPr/>
        </p:nvSpPr>
        <p:spPr>
          <a:xfrm>
            <a:off x="780588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3" name=""/>
          <p:cNvSpPr/>
          <p:nvPr/>
        </p:nvSpPr>
        <p:spPr>
          <a:xfrm>
            <a:off x="7867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4" name=""/>
          <p:cNvSpPr/>
          <p:nvPr/>
        </p:nvSpPr>
        <p:spPr>
          <a:xfrm flipH="1">
            <a:off x="716148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5" name=""/>
          <p:cNvSpPr/>
          <p:nvPr/>
        </p:nvSpPr>
        <p:spPr>
          <a:xfrm>
            <a:off x="728316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6" name=""/>
          <p:cNvSpPr/>
          <p:nvPr/>
        </p:nvSpPr>
        <p:spPr>
          <a:xfrm>
            <a:off x="822960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7" name=""/>
          <p:cNvSpPr/>
          <p:nvPr/>
        </p:nvSpPr>
        <p:spPr>
          <a:xfrm>
            <a:off x="8119800" y="2190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8" name=""/>
          <p:cNvSpPr/>
          <p:nvPr/>
        </p:nvSpPr>
        <p:spPr>
          <a:xfrm>
            <a:off x="7327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9" name=""/>
          <p:cNvSpPr/>
          <p:nvPr/>
        </p:nvSpPr>
        <p:spPr>
          <a:xfrm>
            <a:off x="8335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0" name=""/>
          <p:cNvSpPr/>
          <p:nvPr/>
        </p:nvSpPr>
        <p:spPr>
          <a:xfrm>
            <a:off x="7039800" y="265824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1" name=""/>
          <p:cNvSpPr/>
          <p:nvPr/>
        </p:nvSpPr>
        <p:spPr>
          <a:xfrm>
            <a:off x="7183800" y="2190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2" name=""/>
          <p:cNvSpPr/>
          <p:nvPr/>
        </p:nvSpPr>
        <p:spPr>
          <a:xfrm>
            <a:off x="7687800" y="2190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3" name=""/>
          <p:cNvSpPr/>
          <p:nvPr/>
        </p:nvSpPr>
        <p:spPr>
          <a:xfrm flipV="1">
            <a:off x="712260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4" name=""/>
          <p:cNvSpPr/>
          <p:nvPr/>
        </p:nvSpPr>
        <p:spPr>
          <a:xfrm flipV="1">
            <a:off x="744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5" name=""/>
          <p:cNvSpPr/>
          <p:nvPr/>
        </p:nvSpPr>
        <p:spPr>
          <a:xfrm flipV="1">
            <a:off x="7698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6" name=""/>
          <p:cNvSpPr/>
          <p:nvPr/>
        </p:nvSpPr>
        <p:spPr>
          <a:xfrm flipV="1">
            <a:off x="798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7" name=""/>
          <p:cNvSpPr/>
          <p:nvPr/>
        </p:nvSpPr>
        <p:spPr>
          <a:xfrm flipV="1">
            <a:off x="8454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"/>
          <p:cNvSpPr/>
          <p:nvPr/>
        </p:nvSpPr>
        <p:spPr>
          <a:xfrm flipV="1">
            <a:off x="7125120" y="371664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49" name=""/>
          <p:cNvSpPr/>
          <p:nvPr/>
        </p:nvSpPr>
        <p:spPr>
          <a:xfrm flipV="1">
            <a:off x="741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50" name=""/>
          <p:cNvSpPr/>
          <p:nvPr/>
        </p:nvSpPr>
        <p:spPr>
          <a:xfrm flipV="1">
            <a:off x="770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51" name=""/>
          <p:cNvSpPr/>
          <p:nvPr/>
        </p:nvSpPr>
        <p:spPr>
          <a:xfrm flipV="1">
            <a:off x="795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52" name=""/>
          <p:cNvSpPr/>
          <p:nvPr/>
        </p:nvSpPr>
        <p:spPr>
          <a:xfrm flipV="1">
            <a:off x="842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753" name="Google Shape;114;p 11"/>
          <p:cNvCxnSpPr/>
          <p:nvPr/>
        </p:nvCxnSpPr>
        <p:spPr>
          <a:xfrm>
            <a:off x="204480" y="721440"/>
            <a:ext cx="8750520" cy="158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54" name="PlaceHolder 1"/>
          <p:cNvSpPr>
            <a:spLocks noGrp="1"/>
          </p:cNvSpPr>
          <p:nvPr>
            <p:ph type="sldNum" idx="98"/>
          </p:nvPr>
        </p:nvSpPr>
        <p:spPr>
          <a:xfrm>
            <a:off x="8472600" y="4633560"/>
            <a:ext cx="533160" cy="3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250442-91CF-47D2-8612-DBFD31C24AE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30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55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640" cy="907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Incurs Latency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6" name=""/>
          <p:cNvSpPr/>
          <p:nvPr/>
        </p:nvSpPr>
        <p:spPr>
          <a:xfrm>
            <a:off x="5532480" y="942120"/>
            <a:ext cx="2434680" cy="11192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757" name=""/>
          <p:cNvSpPr/>
          <p:nvPr/>
        </p:nvSpPr>
        <p:spPr>
          <a:xfrm>
            <a:off x="5884200" y="1430640"/>
            <a:ext cx="2050560" cy="5533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8" name=""/>
          <p:cNvSpPr/>
          <p:nvPr/>
        </p:nvSpPr>
        <p:spPr>
          <a:xfrm>
            <a:off x="4927320" y="1039680"/>
            <a:ext cx="31622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59" name=""/>
          <p:cNvSpPr/>
          <p:nvPr/>
        </p:nvSpPr>
        <p:spPr>
          <a:xfrm>
            <a:off x="5407200" y="3888000"/>
            <a:ext cx="3197160" cy="4532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0" name="PlaceHolder 29"/>
          <p:cNvSpPr/>
          <p:nvPr/>
        </p:nvSpPr>
        <p:spPr>
          <a:xfrm>
            <a:off x="685800" y="4932000"/>
            <a:ext cx="799740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1" name=""/>
          <p:cNvSpPr/>
          <p:nvPr/>
        </p:nvSpPr>
        <p:spPr>
          <a:xfrm>
            <a:off x="7687800" y="175824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2" name="PlaceHolder 30"/>
          <p:cNvSpPr/>
          <p:nvPr/>
        </p:nvSpPr>
        <p:spPr>
          <a:xfrm>
            <a:off x="343080" y="830160"/>
            <a:ext cx="4911840" cy="37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An integrity tree, or Merkle tree, is simply a hash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Each parent is the hash of its children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Root is kept on-chip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a memory fetch, the core must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Check that the data hash matches a leaf and the parent has not been tampered with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Recursively check each node up to the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3" name=""/>
          <p:cNvSpPr/>
          <p:nvPr/>
        </p:nvSpPr>
        <p:spPr>
          <a:xfrm rot="5400000">
            <a:off x="691236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4" name=""/>
          <p:cNvSpPr/>
          <p:nvPr/>
        </p:nvSpPr>
        <p:spPr>
          <a:xfrm rot="5400000">
            <a:off x="719424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5" name=""/>
          <p:cNvSpPr/>
          <p:nvPr/>
        </p:nvSpPr>
        <p:spPr>
          <a:xfrm rot="5400000">
            <a:off x="747648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6" name=""/>
          <p:cNvSpPr/>
          <p:nvPr/>
        </p:nvSpPr>
        <p:spPr>
          <a:xfrm rot="5400000">
            <a:off x="772308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7" name=""/>
          <p:cNvSpPr/>
          <p:nvPr/>
        </p:nvSpPr>
        <p:spPr>
          <a:xfrm rot="5400000">
            <a:off x="8215560" y="4008600"/>
            <a:ext cx="4442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8" name=""/>
          <p:cNvSpPr/>
          <p:nvPr/>
        </p:nvSpPr>
        <p:spPr>
          <a:xfrm>
            <a:off x="7808400" y="198720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9" name=""/>
          <p:cNvSpPr/>
          <p:nvPr/>
        </p:nvSpPr>
        <p:spPr>
          <a:xfrm>
            <a:off x="7808400" y="198720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0" name=""/>
          <p:cNvSpPr/>
          <p:nvPr/>
        </p:nvSpPr>
        <p:spPr>
          <a:xfrm flipH="1">
            <a:off x="7315200" y="198720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1" name=""/>
          <p:cNvSpPr/>
          <p:nvPr/>
        </p:nvSpPr>
        <p:spPr>
          <a:xfrm flipH="1">
            <a:off x="773748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2" name=""/>
          <p:cNvSpPr/>
          <p:nvPr/>
        </p:nvSpPr>
        <p:spPr>
          <a:xfrm>
            <a:off x="7615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3" name=""/>
          <p:cNvSpPr/>
          <p:nvPr/>
        </p:nvSpPr>
        <p:spPr>
          <a:xfrm rot="5400000">
            <a:off x="6870600" y="3282480"/>
            <a:ext cx="528840" cy="22068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4" name=""/>
          <p:cNvSpPr/>
          <p:nvPr/>
        </p:nvSpPr>
        <p:spPr>
          <a:xfrm rot="5400000">
            <a:off x="7158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5" name=""/>
          <p:cNvSpPr/>
          <p:nvPr/>
        </p:nvSpPr>
        <p:spPr>
          <a:xfrm rot="5400000">
            <a:off x="7446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6" name=""/>
          <p:cNvSpPr/>
          <p:nvPr/>
        </p:nvSpPr>
        <p:spPr>
          <a:xfrm rot="5400000">
            <a:off x="7698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7" name=""/>
          <p:cNvSpPr/>
          <p:nvPr/>
        </p:nvSpPr>
        <p:spPr>
          <a:xfrm rot="5400000">
            <a:off x="8166960" y="3282480"/>
            <a:ext cx="528840" cy="22068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8" name=""/>
          <p:cNvSpPr/>
          <p:nvPr/>
        </p:nvSpPr>
        <p:spPr>
          <a:xfrm>
            <a:off x="780588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9" name=""/>
          <p:cNvSpPr/>
          <p:nvPr/>
        </p:nvSpPr>
        <p:spPr>
          <a:xfrm>
            <a:off x="7867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0" name=""/>
          <p:cNvSpPr/>
          <p:nvPr/>
        </p:nvSpPr>
        <p:spPr>
          <a:xfrm flipH="1">
            <a:off x="716148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1" name=""/>
          <p:cNvSpPr/>
          <p:nvPr/>
        </p:nvSpPr>
        <p:spPr>
          <a:xfrm>
            <a:off x="728316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2" name=""/>
          <p:cNvSpPr/>
          <p:nvPr/>
        </p:nvSpPr>
        <p:spPr>
          <a:xfrm>
            <a:off x="822960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3" name=""/>
          <p:cNvSpPr/>
          <p:nvPr/>
        </p:nvSpPr>
        <p:spPr>
          <a:xfrm>
            <a:off x="8119800" y="2190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4" name=""/>
          <p:cNvSpPr/>
          <p:nvPr/>
        </p:nvSpPr>
        <p:spPr>
          <a:xfrm>
            <a:off x="7327800" y="2658240"/>
            <a:ext cx="225720" cy="225720"/>
          </a:xfrm>
          <a:prstGeom prst="ellipse">
            <a:avLst/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85" name=""/>
          <p:cNvSpPr/>
          <p:nvPr/>
        </p:nvSpPr>
        <p:spPr>
          <a:xfrm>
            <a:off x="8335800" y="2658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7039800" y="265824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7" name=""/>
          <p:cNvSpPr/>
          <p:nvPr/>
        </p:nvSpPr>
        <p:spPr>
          <a:xfrm>
            <a:off x="7183800" y="2190240"/>
            <a:ext cx="225720" cy="2257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>
            <a:off x="7687800" y="2190240"/>
            <a:ext cx="225720" cy="22572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9" name=""/>
          <p:cNvSpPr/>
          <p:nvPr/>
        </p:nvSpPr>
        <p:spPr>
          <a:xfrm flipV="1">
            <a:off x="712260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0" name=""/>
          <p:cNvSpPr/>
          <p:nvPr/>
        </p:nvSpPr>
        <p:spPr>
          <a:xfrm flipV="1">
            <a:off x="744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1" name=""/>
          <p:cNvSpPr/>
          <p:nvPr/>
        </p:nvSpPr>
        <p:spPr>
          <a:xfrm flipV="1">
            <a:off x="7698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2" name=""/>
          <p:cNvSpPr/>
          <p:nvPr/>
        </p:nvSpPr>
        <p:spPr>
          <a:xfrm flipV="1">
            <a:off x="798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3" name=""/>
          <p:cNvSpPr/>
          <p:nvPr/>
        </p:nvSpPr>
        <p:spPr>
          <a:xfrm flipV="1">
            <a:off x="8454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94" name="Google Shape;114;p 12"/>
          <p:cNvCxnSpPr/>
          <p:nvPr/>
        </p:nvCxnSpPr>
        <p:spPr>
          <a:xfrm>
            <a:off x="204480" y="721440"/>
            <a:ext cx="8750520" cy="158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95" name="PlaceHolder 1"/>
          <p:cNvSpPr>
            <a:spLocks noGrp="1"/>
          </p:cNvSpPr>
          <p:nvPr>
            <p:ph type="sldNum" idx="99"/>
          </p:nvPr>
        </p:nvSpPr>
        <p:spPr>
          <a:xfrm>
            <a:off x="8472600" y="4633560"/>
            <a:ext cx="533160" cy="3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6A62CD6-E586-4FBF-B134-DA2F725E4E6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640" cy="907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Keystone Memory Isolation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7" name="PlaceHolder 36"/>
          <p:cNvSpPr/>
          <p:nvPr/>
        </p:nvSpPr>
        <p:spPr>
          <a:xfrm>
            <a:off x="343080" y="830160"/>
            <a:ext cx="4911840" cy="37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boot, the Security Monitor (SM) sets up a component called the Physical Memory Protections (PMP) Table: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Divides memory and assigns to modes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Resides in each core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If a memory request from an application does not have access, it is denied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8" name=""/>
          <p:cNvSpPr/>
          <p:nvPr/>
        </p:nvSpPr>
        <p:spPr>
          <a:xfrm>
            <a:off x="6001560" y="2021400"/>
            <a:ext cx="550080" cy="32544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99" name=""/>
          <p:cNvSpPr/>
          <p:nvPr/>
        </p:nvSpPr>
        <p:spPr>
          <a:xfrm>
            <a:off x="6109920" y="2382840"/>
            <a:ext cx="2147040" cy="127188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800" name=""/>
          <p:cNvSpPr/>
          <p:nvPr/>
        </p:nvSpPr>
        <p:spPr>
          <a:xfrm>
            <a:off x="7164360" y="2021400"/>
            <a:ext cx="360" cy="32544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801" name=""/>
          <p:cNvSpPr/>
          <p:nvPr/>
        </p:nvSpPr>
        <p:spPr>
          <a:xfrm flipH="1">
            <a:off x="7761600" y="2021400"/>
            <a:ext cx="683280" cy="32544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802" name=""/>
          <p:cNvSpPr/>
          <p:nvPr/>
        </p:nvSpPr>
        <p:spPr>
          <a:xfrm>
            <a:off x="6109920" y="2408400"/>
            <a:ext cx="1771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3" name=""/>
          <p:cNvSpPr/>
          <p:nvPr/>
        </p:nvSpPr>
        <p:spPr>
          <a:xfrm>
            <a:off x="5257800" y="943200"/>
            <a:ext cx="3818520" cy="108792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4" name=""/>
          <p:cNvSpPr/>
          <p:nvPr/>
        </p:nvSpPr>
        <p:spPr>
          <a:xfrm>
            <a:off x="5371920" y="1294200"/>
            <a:ext cx="1023480" cy="54576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Application Thread</a:t>
            </a:r>
            <a:endParaRPr b="0" lang="en-U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5" name=""/>
          <p:cNvSpPr/>
          <p:nvPr/>
        </p:nvSpPr>
        <p:spPr>
          <a:xfrm>
            <a:off x="6677280" y="1294200"/>
            <a:ext cx="988920" cy="54576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Operating System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6" name=""/>
          <p:cNvSpPr/>
          <p:nvPr/>
        </p:nvSpPr>
        <p:spPr>
          <a:xfrm>
            <a:off x="7921800" y="1294200"/>
            <a:ext cx="1042920" cy="54576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Remote or Cloud User</a:t>
            </a:r>
            <a:endParaRPr b="0" lang="en-U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7" name=""/>
          <p:cNvSpPr/>
          <p:nvPr/>
        </p:nvSpPr>
        <p:spPr>
          <a:xfrm>
            <a:off x="5393520" y="945000"/>
            <a:ext cx="3551400" cy="34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Potentially Malicious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8" name="PlaceHolder 37"/>
          <p:cNvSpPr/>
          <p:nvPr/>
        </p:nvSpPr>
        <p:spPr>
          <a:xfrm>
            <a:off x="228960" y="4932000"/>
            <a:ext cx="868320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Dayeol Lee, David Kohlbrenner, Shweta Shinde, Krste Asanovic, and Dawn Song, Keystone: An Open Framework for Architecting Trusted Execution Environments, EuroSys 2020.</a:t>
            </a:r>
            <a:endParaRPr b="0" lang="en-US" sz="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9" name=""/>
          <p:cNvSpPr/>
          <p:nvPr/>
        </p:nvSpPr>
        <p:spPr>
          <a:xfrm>
            <a:off x="7099200" y="2707200"/>
            <a:ext cx="911520" cy="91152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0" name=""/>
          <p:cNvSpPr/>
          <p:nvPr/>
        </p:nvSpPr>
        <p:spPr>
          <a:xfrm>
            <a:off x="7086600" y="2671200"/>
            <a:ext cx="9115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PMP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1" name=""/>
          <p:cNvSpPr/>
          <p:nvPr/>
        </p:nvSpPr>
        <p:spPr>
          <a:xfrm>
            <a:off x="7207200" y="2968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2" name=""/>
          <p:cNvSpPr/>
          <p:nvPr/>
        </p:nvSpPr>
        <p:spPr>
          <a:xfrm>
            <a:off x="7207200" y="3184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3" name=""/>
          <p:cNvSpPr/>
          <p:nvPr/>
        </p:nvSpPr>
        <p:spPr>
          <a:xfrm>
            <a:off x="7207200" y="3400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4" name=""/>
          <p:cNvSpPr/>
          <p:nvPr/>
        </p:nvSpPr>
        <p:spPr>
          <a:xfrm>
            <a:off x="5787000" y="3814200"/>
            <a:ext cx="2740320" cy="9115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DRAM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5" name=""/>
          <p:cNvSpPr/>
          <p:nvPr/>
        </p:nvSpPr>
        <p:spPr>
          <a:xfrm>
            <a:off x="5839200" y="3868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6" name=""/>
          <p:cNvSpPr/>
          <p:nvPr/>
        </p:nvSpPr>
        <p:spPr>
          <a:xfrm>
            <a:off x="5839200" y="4084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7" name=""/>
          <p:cNvSpPr/>
          <p:nvPr/>
        </p:nvSpPr>
        <p:spPr>
          <a:xfrm>
            <a:off x="5839200" y="4300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8" name="Google Shape;114;p 8"/>
          <p:cNvCxnSpPr/>
          <p:nvPr/>
        </p:nvCxnSpPr>
        <p:spPr>
          <a:xfrm>
            <a:off x="204480" y="721440"/>
            <a:ext cx="8750520" cy="158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819" name="PlaceHolder 1"/>
          <p:cNvSpPr>
            <a:spLocks noGrp="1"/>
          </p:cNvSpPr>
          <p:nvPr>
            <p:ph type="sldNum" idx="100"/>
          </p:nvPr>
        </p:nvSpPr>
        <p:spPr>
          <a:xfrm>
            <a:off x="8472600" y="4633560"/>
            <a:ext cx="533160" cy="3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4F5BD3-207C-4007-9D4B-AE73CEA0375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20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640" cy="5119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Extending Keystone to include Efficient 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1" name="PlaceHolder 42"/>
          <p:cNvSpPr/>
          <p:nvPr/>
        </p:nvSpPr>
        <p:spPr>
          <a:xfrm>
            <a:off x="343080" y="830160"/>
            <a:ext cx="4911840" cy="37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To mitigate latency concerns, our work proposes to store metadata on-chip, greatly reducing memory access overhead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This structure is called the Aggregated Extended PMP</a:t>
            </a: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 (ePMP)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table: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Tracks requests through the Memory Encryption Engine (MEE)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Updates metadata entries corresponding to their PMP status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2" name=""/>
          <p:cNvSpPr/>
          <p:nvPr/>
        </p:nvSpPr>
        <p:spPr>
          <a:xfrm>
            <a:off x="5787000" y="3814200"/>
            <a:ext cx="2740320" cy="9115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DRAM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3" name=""/>
          <p:cNvSpPr/>
          <p:nvPr/>
        </p:nvSpPr>
        <p:spPr>
          <a:xfrm>
            <a:off x="5839200" y="3868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4" name=""/>
          <p:cNvSpPr/>
          <p:nvPr/>
        </p:nvSpPr>
        <p:spPr>
          <a:xfrm>
            <a:off x="5839200" y="4084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5" name=""/>
          <p:cNvSpPr/>
          <p:nvPr/>
        </p:nvSpPr>
        <p:spPr>
          <a:xfrm>
            <a:off x="5839200" y="4300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6" name=""/>
          <p:cNvSpPr/>
          <p:nvPr/>
        </p:nvSpPr>
        <p:spPr>
          <a:xfrm>
            <a:off x="290880" y="4800600"/>
            <a:ext cx="869904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" sz="1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Zach Moolman &amp; Tamara Silbergleit Lehman,  Extending RISC-V Keystone to Include Efficient Secure Memory CARRV 2024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7" name=""/>
          <p:cNvSpPr/>
          <p:nvPr/>
        </p:nvSpPr>
        <p:spPr>
          <a:xfrm>
            <a:off x="6172200" y="2635200"/>
            <a:ext cx="2054520" cy="9115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8" name=""/>
          <p:cNvSpPr/>
          <p:nvPr/>
        </p:nvSpPr>
        <p:spPr>
          <a:xfrm>
            <a:off x="6109920" y="2624400"/>
            <a:ext cx="2116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Memory Encryption Engine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9" name=""/>
          <p:cNvSpPr/>
          <p:nvPr/>
        </p:nvSpPr>
        <p:spPr>
          <a:xfrm>
            <a:off x="6894000" y="3135240"/>
            <a:ext cx="1140120" cy="37548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ePMP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0" name=""/>
          <p:cNvSpPr/>
          <p:nvPr/>
        </p:nvSpPr>
        <p:spPr>
          <a:xfrm>
            <a:off x="6109920" y="1158840"/>
            <a:ext cx="2147040" cy="127188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831" name=""/>
          <p:cNvSpPr/>
          <p:nvPr/>
        </p:nvSpPr>
        <p:spPr>
          <a:xfrm>
            <a:off x="6109920" y="1184400"/>
            <a:ext cx="1771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2" name=""/>
          <p:cNvSpPr/>
          <p:nvPr/>
        </p:nvSpPr>
        <p:spPr>
          <a:xfrm>
            <a:off x="7099200" y="1483200"/>
            <a:ext cx="911520" cy="91152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3" name=""/>
          <p:cNvSpPr/>
          <p:nvPr/>
        </p:nvSpPr>
        <p:spPr>
          <a:xfrm>
            <a:off x="7207200" y="1744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4" name=""/>
          <p:cNvSpPr/>
          <p:nvPr/>
        </p:nvSpPr>
        <p:spPr>
          <a:xfrm>
            <a:off x="7207200" y="1960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5" name=""/>
          <p:cNvSpPr/>
          <p:nvPr/>
        </p:nvSpPr>
        <p:spPr>
          <a:xfrm>
            <a:off x="7207200" y="2176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36" name="Google Shape;114;p 13"/>
          <p:cNvCxnSpPr/>
          <p:nvPr/>
        </p:nvCxnSpPr>
        <p:spPr>
          <a:xfrm>
            <a:off x="204480" y="721440"/>
            <a:ext cx="8750520" cy="158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837" name="PlaceHolder 1"/>
          <p:cNvSpPr>
            <a:spLocks noGrp="1"/>
          </p:cNvSpPr>
          <p:nvPr>
            <p:ph type="sldNum" idx="101"/>
          </p:nvPr>
        </p:nvSpPr>
        <p:spPr>
          <a:xfrm>
            <a:off x="8472600" y="4633560"/>
            <a:ext cx="533160" cy="3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1E738C-DC78-4C84-A1BA-4F3F0BB52F5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33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38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640" cy="907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Extending Keystone to include Efficient 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9" name="PlaceHolder 48"/>
          <p:cNvSpPr/>
          <p:nvPr/>
        </p:nvSpPr>
        <p:spPr>
          <a:xfrm>
            <a:off x="343080" y="830160"/>
            <a:ext cx="4911840" cy="37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To mitigate latency concerns, our work proposes to store metadata on-chip, greatly reducing memory access overhead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This structure is called the Aggregated Extended PMP</a:t>
            </a: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 (ePMP)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table: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Tracks requests through the Memory Encryption Engine (MEE)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Updates metadata entries corresponding to their PMP status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0" name=""/>
          <p:cNvSpPr/>
          <p:nvPr/>
        </p:nvSpPr>
        <p:spPr>
          <a:xfrm>
            <a:off x="5787000" y="3814200"/>
            <a:ext cx="2740320" cy="9115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DRAM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1" name=""/>
          <p:cNvSpPr/>
          <p:nvPr/>
        </p:nvSpPr>
        <p:spPr>
          <a:xfrm>
            <a:off x="5839200" y="3868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2" name=""/>
          <p:cNvSpPr/>
          <p:nvPr/>
        </p:nvSpPr>
        <p:spPr>
          <a:xfrm>
            <a:off x="5839200" y="4084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3" name=""/>
          <p:cNvSpPr/>
          <p:nvPr/>
        </p:nvSpPr>
        <p:spPr>
          <a:xfrm>
            <a:off x="5839200" y="4300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4" name=""/>
          <p:cNvSpPr/>
          <p:nvPr/>
        </p:nvSpPr>
        <p:spPr>
          <a:xfrm>
            <a:off x="290880" y="4800600"/>
            <a:ext cx="869904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" sz="105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Zach Moolman &amp; Tamara Silbergleit Lehman,  Extending RISC-V Keystone to Include Efficient Secure Memory CARRV 2024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5" name=""/>
          <p:cNvSpPr/>
          <p:nvPr/>
        </p:nvSpPr>
        <p:spPr>
          <a:xfrm>
            <a:off x="5715000" y="837720"/>
            <a:ext cx="2896920" cy="288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846" name=""/>
          <p:cNvSpPr/>
          <p:nvPr/>
        </p:nvSpPr>
        <p:spPr>
          <a:xfrm>
            <a:off x="6172200" y="2635200"/>
            <a:ext cx="2054520" cy="9115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7" name=""/>
          <p:cNvSpPr/>
          <p:nvPr/>
        </p:nvSpPr>
        <p:spPr>
          <a:xfrm>
            <a:off x="6109920" y="2624400"/>
            <a:ext cx="211680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Memory Encryption Engine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8" name=""/>
          <p:cNvSpPr/>
          <p:nvPr/>
        </p:nvSpPr>
        <p:spPr>
          <a:xfrm>
            <a:off x="6894000" y="3135240"/>
            <a:ext cx="1140120" cy="37548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ePMP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9" name=""/>
          <p:cNvSpPr/>
          <p:nvPr/>
        </p:nvSpPr>
        <p:spPr>
          <a:xfrm>
            <a:off x="5922720" y="1086120"/>
            <a:ext cx="2496600" cy="141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60">
            <a:solidFill>
              <a:srgbClr val="acb2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850" name=""/>
          <p:cNvSpPr/>
          <p:nvPr/>
        </p:nvSpPr>
        <p:spPr>
          <a:xfrm>
            <a:off x="6109920" y="1158840"/>
            <a:ext cx="2147040" cy="127188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851" name=""/>
          <p:cNvSpPr/>
          <p:nvPr/>
        </p:nvSpPr>
        <p:spPr>
          <a:xfrm>
            <a:off x="6109920" y="1184400"/>
            <a:ext cx="1771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2" name=""/>
          <p:cNvSpPr/>
          <p:nvPr/>
        </p:nvSpPr>
        <p:spPr>
          <a:xfrm>
            <a:off x="7099200" y="1483200"/>
            <a:ext cx="911520" cy="91152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3" name=""/>
          <p:cNvSpPr/>
          <p:nvPr/>
        </p:nvSpPr>
        <p:spPr>
          <a:xfrm>
            <a:off x="6078600" y="835200"/>
            <a:ext cx="9115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CPU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4" name=""/>
          <p:cNvSpPr/>
          <p:nvPr/>
        </p:nvSpPr>
        <p:spPr>
          <a:xfrm>
            <a:off x="7207200" y="1744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5" name=""/>
          <p:cNvSpPr/>
          <p:nvPr/>
        </p:nvSpPr>
        <p:spPr>
          <a:xfrm>
            <a:off x="7207200" y="1960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6" name=""/>
          <p:cNvSpPr/>
          <p:nvPr/>
        </p:nvSpPr>
        <p:spPr>
          <a:xfrm>
            <a:off x="7207200" y="2176200"/>
            <a:ext cx="682920" cy="1933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7" name=""/>
          <p:cNvSpPr/>
          <p:nvPr/>
        </p:nvSpPr>
        <p:spPr>
          <a:xfrm>
            <a:off x="5250600" y="835560"/>
            <a:ext cx="91152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SoC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8" name="Google Shape;114;p 6"/>
          <p:cNvCxnSpPr/>
          <p:nvPr/>
        </p:nvCxnSpPr>
        <p:spPr>
          <a:xfrm>
            <a:off x="204480" y="721440"/>
            <a:ext cx="8750520" cy="158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859" name="PlaceHolder 1"/>
          <p:cNvSpPr>
            <a:spLocks noGrp="1"/>
          </p:cNvSpPr>
          <p:nvPr>
            <p:ph type="sldNum" idx="102"/>
          </p:nvPr>
        </p:nvSpPr>
        <p:spPr>
          <a:xfrm>
            <a:off x="8472600" y="4633560"/>
            <a:ext cx="533160" cy="3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BF09D04-6DD5-4DDD-A17E-935B2599480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34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60" name="PlaceHolder 2"/>
          <p:cNvSpPr>
            <a:spLocks noGrp="1"/>
          </p:cNvSpPr>
          <p:nvPr>
            <p:ph/>
          </p:nvPr>
        </p:nvSpPr>
        <p:spPr>
          <a:xfrm>
            <a:off x="343080" y="786600"/>
            <a:ext cx="5598000" cy="42386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is an open-source, cycle-accurate architecture emulation platform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-324000">
              <a:lnSpc>
                <a:spcPct val="9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Allows end-to-end development including full-system simulation &amp; benchmarks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-324000">
              <a:lnSpc>
                <a:spcPct val="9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Breaks hardware description into different layers, enabling researchers to edit any aspect of an implementation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This is helpful, but also results in a colossal codebase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1" name="PlaceHolder 3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640" cy="5119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 gem5 Simulation Suite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2" name=""/>
          <p:cNvSpPr/>
          <p:nvPr/>
        </p:nvSpPr>
        <p:spPr>
          <a:xfrm>
            <a:off x="11880" y="4896000"/>
            <a:ext cx="91177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" sz="10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Jason Lowe-Power, Abdul Mutaal Ahmad, Ayaz Akram, Mohammad Alian, et al. (2007), The gem5 Simulator: Version 20.0+ (arXiv)</a:t>
            </a:r>
            <a:endParaRPr b="0" lang="en-US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3" name=""/>
          <p:cNvSpPr/>
          <p:nvPr/>
        </p:nvSpPr>
        <p:spPr>
          <a:xfrm>
            <a:off x="6293160" y="3026520"/>
            <a:ext cx="2027880" cy="1217160"/>
          </a:xfrm>
          <a:prstGeom prst="roundRect">
            <a:avLst>
              <a:gd name="adj" fmla="val 16667"/>
            </a:avLst>
          </a:prstGeom>
          <a:solidFill>
            <a:srgbClr val="3faf46"/>
          </a:solidFill>
          <a:ln w="38160">
            <a:solidFill>
              <a:srgbClr val="3fa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864" name=""/>
          <p:cNvSpPr/>
          <p:nvPr/>
        </p:nvSpPr>
        <p:spPr>
          <a:xfrm>
            <a:off x="6490800" y="3433320"/>
            <a:ext cx="1618920" cy="63684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cpp Implementation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5" name=""/>
          <p:cNvSpPr/>
          <p:nvPr/>
        </p:nvSpPr>
        <p:spPr>
          <a:xfrm>
            <a:off x="6545520" y="3095640"/>
            <a:ext cx="1633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Python Wrapper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6" name=""/>
          <p:cNvSpPr/>
          <p:nvPr/>
        </p:nvSpPr>
        <p:spPr>
          <a:xfrm>
            <a:off x="6273720" y="2686320"/>
            <a:ext cx="2081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Hardware Description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7" name=""/>
          <p:cNvSpPr/>
          <p:nvPr/>
        </p:nvSpPr>
        <p:spPr>
          <a:xfrm>
            <a:off x="6436080" y="846720"/>
            <a:ext cx="1760400" cy="135504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868" name=""/>
          <p:cNvSpPr/>
          <p:nvPr/>
        </p:nvSpPr>
        <p:spPr>
          <a:xfrm>
            <a:off x="6565680" y="1179360"/>
            <a:ext cx="1478160" cy="909360"/>
          </a:xfrm>
          <a:prstGeom prst="roundRect">
            <a:avLst>
              <a:gd name="adj" fmla="val 16667"/>
            </a:avLst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Open Sans"/>
              <a:ea typeface="DejaVu Sans"/>
            </a:endParaRPr>
          </a:p>
        </p:txBody>
      </p:sp>
      <p:sp>
        <p:nvSpPr>
          <p:cNvPr id="869" name=""/>
          <p:cNvSpPr/>
          <p:nvPr/>
        </p:nvSpPr>
        <p:spPr>
          <a:xfrm>
            <a:off x="6631920" y="1195560"/>
            <a:ext cx="11725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Config Files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0" name=""/>
          <p:cNvSpPr/>
          <p:nvPr/>
        </p:nvSpPr>
        <p:spPr>
          <a:xfrm>
            <a:off x="6533280" y="831600"/>
            <a:ext cx="1172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User Space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1" name=""/>
          <p:cNvSpPr/>
          <p:nvPr/>
        </p:nvSpPr>
        <p:spPr>
          <a:xfrm>
            <a:off x="6758280" y="1590480"/>
            <a:ext cx="1125000" cy="41760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Program Binary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2" name=""/>
          <p:cNvSpPr/>
          <p:nvPr/>
        </p:nvSpPr>
        <p:spPr>
          <a:xfrm>
            <a:off x="7310880" y="2206440"/>
            <a:ext cx="360" cy="48276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873" name=""/>
          <p:cNvSpPr/>
          <p:nvPr/>
        </p:nvSpPr>
        <p:spPr>
          <a:xfrm>
            <a:off x="6172200" y="2686680"/>
            <a:ext cx="2297880" cy="163260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74" name="Google Shape;114;p 14"/>
          <p:cNvCxnSpPr/>
          <p:nvPr/>
        </p:nvCxnSpPr>
        <p:spPr>
          <a:xfrm>
            <a:off x="204480" y="721440"/>
            <a:ext cx="8750520" cy="1584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875" name="PlaceHolder 1"/>
          <p:cNvSpPr>
            <a:spLocks noGrp="1"/>
          </p:cNvSpPr>
          <p:nvPr>
            <p:ph type="sldNum" idx="103"/>
          </p:nvPr>
        </p:nvSpPr>
        <p:spPr>
          <a:xfrm>
            <a:off x="8472600" y="4633560"/>
            <a:ext cx="533160" cy="37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19EBD8-D52C-42D5-9847-F49609F6D72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35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76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2640" cy="907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Challenges with gem5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7" name=""/>
          <p:cNvSpPr/>
          <p:nvPr/>
        </p:nvSpPr>
        <p:spPr>
          <a:xfrm>
            <a:off x="3180600" y="3184200"/>
            <a:ext cx="2740680" cy="1680480"/>
          </a:xfrm>
          <a:prstGeom prst="roundRect">
            <a:avLst>
              <a:gd name="adj" fmla="val 16667"/>
            </a:avLst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878" name=""/>
          <p:cNvSpPr/>
          <p:nvPr/>
        </p:nvSpPr>
        <p:spPr>
          <a:xfrm>
            <a:off x="4095000" y="4026600"/>
            <a:ext cx="911880" cy="60948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Linux Kernel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9" name=""/>
          <p:cNvSpPr/>
          <p:nvPr/>
        </p:nvSpPr>
        <p:spPr>
          <a:xfrm>
            <a:off x="5009400" y="4026600"/>
            <a:ext cx="911880" cy="60948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Disk Image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0" name=""/>
          <p:cNvSpPr/>
          <p:nvPr/>
        </p:nvSpPr>
        <p:spPr>
          <a:xfrm>
            <a:off x="3409200" y="3267000"/>
            <a:ext cx="228348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gem5 Pre-compiled Resources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1" name=""/>
          <p:cNvSpPr/>
          <p:nvPr/>
        </p:nvSpPr>
        <p:spPr>
          <a:xfrm>
            <a:off x="3180600" y="4026600"/>
            <a:ext cx="911880" cy="60948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Boot-loader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2" name="PlaceHolder 66"/>
          <p:cNvSpPr/>
          <p:nvPr/>
        </p:nvSpPr>
        <p:spPr>
          <a:xfrm>
            <a:off x="343080" y="830160"/>
            <a:ext cx="8341200" cy="37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This work requires the use of gem5 full-system emulation, while many aspects of gem5 enable research, some also hinder progress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Scattered source files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Lots of detail, making high-level understanding non-trivial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FS requires gem5 resources and pre-compiled binaries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PlaceHolder 1"/>
          <p:cNvSpPr>
            <a:spLocks noGrp="1"/>
          </p:cNvSpPr>
          <p:nvPr>
            <p:ph type="sldNum" idx="104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6F2252-6994-4694-9B1A-EA18A979C69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36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84" name="PlaceHolder 2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Direction / Future Work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885" name="Google Shape;106;p 3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886" name="PlaceHolder 3"/>
          <p:cNvSpPr>
            <a:spLocks noGrp="1"/>
          </p:cNvSpPr>
          <p:nvPr>
            <p:ph/>
          </p:nvPr>
        </p:nvSpPr>
        <p:spPr>
          <a:xfrm>
            <a:off x="343080" y="829800"/>
            <a:ext cx="5363640" cy="4191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</a:rPr>
              <a:t>Implementing a RISC-V TEE in gem5: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Currently adding cache hierarchy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Incorporating caches into secure memory through “board” hierarchy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Entirely different way of connecting things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PMP is included in any RISCV cpu in gem5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What is my contribution?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Until now, I have been just trying to implement Zach’s work in gem5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Deeper understanding of attack methods (winter break project?)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887" name="" descr=""/>
          <p:cNvPicPr/>
          <p:nvPr/>
        </p:nvPicPr>
        <p:blipFill>
          <a:blip r:embed="rId1"/>
          <a:stretch/>
        </p:blipFill>
        <p:spPr>
          <a:xfrm>
            <a:off x="5734440" y="1238400"/>
            <a:ext cx="3172680" cy="3078360"/>
          </a:xfrm>
          <a:prstGeom prst="rect">
            <a:avLst/>
          </a:prstGeom>
          <a:ln w="0">
            <a:noFill/>
          </a:ln>
        </p:spPr>
      </p:pic>
      <p:sp>
        <p:nvSpPr>
          <p:cNvPr id="888" name=""/>
          <p:cNvSpPr/>
          <p:nvPr/>
        </p:nvSpPr>
        <p:spPr>
          <a:xfrm>
            <a:off x="5943600" y="4572000"/>
            <a:ext cx="227844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808080"/>
                </a:solidFill>
                <a:uFillTx/>
                <a:latin typeface="Times New Roman"/>
              </a:rPr>
              <a:t>Moolman, Z. &amp; Lehman T.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sldNum" idx="105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9683FB-63B4-40C5-AD0E-EC6E87F7D09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37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Gap &amp; Contribution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891" name="Google Shape;106;p 1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892" name="PlaceHolder 3"/>
          <p:cNvSpPr>
            <a:spLocks noGrp="1"/>
          </p:cNvSpPr>
          <p:nvPr>
            <p:ph/>
          </p:nvPr>
        </p:nvSpPr>
        <p:spPr>
          <a:xfrm>
            <a:off x="343080" y="829800"/>
            <a:ext cx="8335800" cy="4191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A Midsummer Nights Tree (AMNT) by Sam Thomas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Crash consistent secure memory protocol by defining write-back protocols that sync the on-chip BMT root &amp; stored leaf counters in off-chip memory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 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Limitations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4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83680" cy="3485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Computational and memory overhead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895" name="Google Shape;180;p25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896" name="PlaceHolder 3"/>
          <p:cNvSpPr>
            <a:spLocks noGrp="1"/>
          </p:cNvSpPr>
          <p:nvPr>
            <p:ph type="sldNum" idx="106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87E4CE-9BBF-436F-933E-5CE019B9B5F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38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PlaceHolder 1"/>
          <p:cNvSpPr>
            <a:spLocks noGrp="1"/>
          </p:cNvSpPr>
          <p:nvPr>
            <p:ph type="sldNum" idx="107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3CE272-80D7-494F-A33F-7D367454FC1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39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98" name="PlaceHolder 2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PMP Sensitivity Analysis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899" name="Google Shape;106;p 2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900" name="PlaceHolder 3"/>
          <p:cNvSpPr>
            <a:spLocks noGrp="1"/>
          </p:cNvSpPr>
          <p:nvPr>
            <p:ph/>
          </p:nvPr>
        </p:nvSpPr>
        <p:spPr>
          <a:xfrm>
            <a:off x="343080" y="829800"/>
            <a:ext cx="7884000" cy="4191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</a:rPr>
              <a:t>How does a variable PMP size affect performance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</a:rPr>
              <a:t>Efficient PMP packing: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Currently, gem5 implements Naturally Aligned Power of Two (NAPOT) packing, which requires the base address to be aligned by a power of two.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Simple Sanity Check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02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83680" cy="44204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Base gem5 vs. Secure Memory implementation (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version 24.0.0.1</a:t>
            </a: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)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864000" indent="0">
              <a:lnSpc>
                <a:spcPct val="9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Benchmark: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1,000 accesses on 1GB array of memory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No caches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implementation requires an increase in both runtime and memory overhead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03" name="Google Shape;140;p 1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904" name="PlaceHolder 3"/>
          <p:cNvSpPr>
            <a:spLocks noGrp="1"/>
          </p:cNvSpPr>
          <p:nvPr>
            <p:ph type="sldNum" idx="108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EACFC65-F1D1-482F-B01F-2B3BCA6A419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40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graphicFrame>
        <p:nvGraphicFramePr>
          <p:cNvPr id="905" name=""/>
          <p:cNvGraphicFramePr/>
          <p:nvPr/>
        </p:nvGraphicFramePr>
        <p:xfrm>
          <a:off x="2039400" y="2683440"/>
          <a:ext cx="5075280" cy="1397160"/>
        </p:xfrm>
        <a:graphic>
          <a:graphicData uri="http://schemas.openxmlformats.org/drawingml/2006/table">
            <a:tbl>
              <a:tblPr/>
              <a:tblGrid>
                <a:gridCol w="1268640"/>
                <a:gridCol w="1268640"/>
                <a:gridCol w="1268640"/>
                <a:gridCol w="1269720"/>
              </a:tblGrid>
              <a:tr h="364680">
                <a:tc>
                  <a:txBody>
                    <a:bodyPr lIns="36000" rIns="3600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Simulated Time </a:t>
                      </a: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(Seconds)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Host Memory </a:t>
                      </a: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(MB)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Number of Instructions </a:t>
                      </a: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(thousands)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Base gem5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.00388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1.18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55,966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Secure gem5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.014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3.43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55,966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06" name=""/>
          <p:cNvSpPr/>
          <p:nvPr/>
        </p:nvSpPr>
        <p:spPr>
          <a:xfrm>
            <a:off x="1480680" y="2561400"/>
            <a:ext cx="1820520" cy="7531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8520" cy="9140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Cache Sanity Check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908" name="Google Shape;140;p 3"/>
          <p:cNvCxnSpPr/>
          <p:nvPr/>
        </p:nvCxnSpPr>
        <p:spPr>
          <a:xfrm>
            <a:off x="204480" y="721440"/>
            <a:ext cx="8744040" cy="93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909" name="PlaceHolder 2"/>
          <p:cNvSpPr>
            <a:spLocks noGrp="1"/>
          </p:cNvSpPr>
          <p:nvPr>
            <p:ph type="sldNum" idx="109"/>
          </p:nvPr>
        </p:nvSpPr>
        <p:spPr>
          <a:xfrm>
            <a:off x="8472600" y="4633560"/>
            <a:ext cx="539640" cy="38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34A42B-B5DB-40E4-B448-9A690226BCC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41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613800" y="1636200"/>
            <a:ext cx="2004480" cy="1517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Base gem5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1" name=""/>
          <p:cNvSpPr/>
          <p:nvPr/>
        </p:nvSpPr>
        <p:spPr>
          <a:xfrm>
            <a:off x="613800" y="3231720"/>
            <a:ext cx="2004480" cy="1517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Secure gem5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2" name=""/>
          <p:cNvSpPr/>
          <p:nvPr/>
        </p:nvSpPr>
        <p:spPr>
          <a:xfrm>
            <a:off x="2625480" y="1645200"/>
            <a:ext cx="1638720" cy="754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False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3" name=""/>
          <p:cNvSpPr/>
          <p:nvPr/>
        </p:nvSpPr>
        <p:spPr>
          <a:xfrm>
            <a:off x="2625480" y="2395440"/>
            <a:ext cx="1638720" cy="754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True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4" name=""/>
          <p:cNvSpPr/>
          <p:nvPr/>
        </p:nvSpPr>
        <p:spPr>
          <a:xfrm>
            <a:off x="2625840" y="3229200"/>
            <a:ext cx="1638720" cy="754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False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5" name=""/>
          <p:cNvSpPr/>
          <p:nvPr/>
        </p:nvSpPr>
        <p:spPr>
          <a:xfrm>
            <a:off x="2625840" y="3979440"/>
            <a:ext cx="1638720" cy="754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True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6" name=""/>
          <p:cNvSpPr/>
          <p:nvPr/>
        </p:nvSpPr>
        <p:spPr>
          <a:xfrm>
            <a:off x="4262400" y="1182960"/>
            <a:ext cx="1364400" cy="45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Times New Roman"/>
              </a:rPr>
              <a:t>Simulated Time </a:t>
            </a:r>
            <a:r>
              <a:rPr b="0" lang="en-US" sz="1100" strike="noStrike" u="none">
                <a:solidFill>
                  <a:srgbClr val="000000"/>
                </a:solidFill>
                <a:uFillTx/>
                <a:latin typeface="Times New Roman"/>
              </a:rPr>
              <a:t>(seconds)</a:t>
            </a:r>
            <a:endParaRPr b="0" lang="en-US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7" name=""/>
          <p:cNvSpPr/>
          <p:nvPr/>
        </p:nvSpPr>
        <p:spPr>
          <a:xfrm>
            <a:off x="5630760" y="1183320"/>
            <a:ext cx="1364400" cy="45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Times New Roman"/>
              </a:rPr>
              <a:t>Host Memory </a:t>
            </a:r>
            <a:r>
              <a:rPr b="0" lang="en-US" sz="1100" strike="noStrike" u="none">
                <a:solidFill>
                  <a:srgbClr val="000000"/>
                </a:solidFill>
                <a:uFillTx/>
                <a:latin typeface="Times New Roman"/>
              </a:rPr>
              <a:t>(MB)</a:t>
            </a:r>
            <a:endParaRPr b="0" lang="en-US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8" name=""/>
          <p:cNvSpPr/>
          <p:nvPr/>
        </p:nvSpPr>
        <p:spPr>
          <a:xfrm>
            <a:off x="6999120" y="1183680"/>
            <a:ext cx="1364400" cy="45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uFillTx/>
                <a:latin typeface="Times New Roman"/>
              </a:rPr>
              <a:t>Number of Instructions</a:t>
            </a:r>
            <a:endParaRPr b="0" lang="en-U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9" name=""/>
          <p:cNvSpPr/>
          <p:nvPr/>
        </p:nvSpPr>
        <p:spPr>
          <a:xfrm>
            <a:off x="4262760" y="164196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.003880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0" name=""/>
          <p:cNvSpPr/>
          <p:nvPr/>
        </p:nvSpPr>
        <p:spPr>
          <a:xfrm>
            <a:off x="5631120" y="164232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1.18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1" name=""/>
          <p:cNvSpPr/>
          <p:nvPr/>
        </p:nvSpPr>
        <p:spPr>
          <a:xfrm>
            <a:off x="6999480" y="164268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2" name=""/>
          <p:cNvSpPr/>
          <p:nvPr/>
        </p:nvSpPr>
        <p:spPr>
          <a:xfrm>
            <a:off x="4263120" y="239832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.000069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3" name=""/>
          <p:cNvSpPr/>
          <p:nvPr/>
        </p:nvSpPr>
        <p:spPr>
          <a:xfrm>
            <a:off x="5631480" y="239868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1.18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4" name=""/>
          <p:cNvSpPr/>
          <p:nvPr/>
        </p:nvSpPr>
        <p:spPr>
          <a:xfrm>
            <a:off x="6999840" y="239904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5" name=""/>
          <p:cNvSpPr/>
          <p:nvPr/>
        </p:nvSpPr>
        <p:spPr>
          <a:xfrm>
            <a:off x="4263120" y="322632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.014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6" name=""/>
          <p:cNvSpPr/>
          <p:nvPr/>
        </p:nvSpPr>
        <p:spPr>
          <a:xfrm>
            <a:off x="5631480" y="322668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3.43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7" name=""/>
          <p:cNvSpPr/>
          <p:nvPr/>
        </p:nvSpPr>
        <p:spPr>
          <a:xfrm>
            <a:off x="6999840" y="322704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8" name=""/>
          <p:cNvSpPr/>
          <p:nvPr/>
        </p:nvSpPr>
        <p:spPr>
          <a:xfrm>
            <a:off x="4263480" y="398268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.000531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9" name=""/>
          <p:cNvSpPr/>
          <p:nvPr/>
        </p:nvSpPr>
        <p:spPr>
          <a:xfrm>
            <a:off x="5631840" y="398304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3.44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0" name=""/>
          <p:cNvSpPr/>
          <p:nvPr/>
        </p:nvSpPr>
        <p:spPr>
          <a:xfrm>
            <a:off x="7000200" y="3983400"/>
            <a:ext cx="1373040" cy="751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1" name=""/>
          <p:cNvSpPr/>
          <p:nvPr/>
        </p:nvSpPr>
        <p:spPr>
          <a:xfrm>
            <a:off x="2642760" y="1183320"/>
            <a:ext cx="1620360" cy="450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Cache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685</TotalTime>
  <Application>LibreOffice/24.8.2.1$MacOSX_AARCH64 LibreOffice_project/0f794b6e29741098670a3b95d60478a65d05ef13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2026-02-20T16:26:37Z</dcterms:modified>
  <cp:revision>90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