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9.jpeg" ContentType="image/jpe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10.jpeg" ContentType="image/jpeg"/>
  <Override PartName="/ppt/media/image13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43891200" cy="32918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920" cy="549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151ADC-F28F-497B-AB54-334E62B332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D3C559E-9461-4920-AF5F-589C345F17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9599A8D-F396-4329-BD72-CB20CFCDBF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920" cy="549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3D408D4-5654-4D57-A821-66BCD1B747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0801C16-4BBE-403F-B26B-2ACDDEA49D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920" cy="549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2194560" y="7702560"/>
            <a:ext cx="1927656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22435200" y="7702560"/>
            <a:ext cx="1927656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ACE6346-8C7F-4CC3-8ACF-8D85E4A627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157BEBF-AE4F-4F66-AC31-9D4F6DF18F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920" cy="549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627C4A1-C387-4349-AC73-17DCD99A22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66F3210-5C79-44E2-BB54-0F8B679548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201A46F-62CA-4E2A-A616-356D46F337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F2EC9DC-B5BF-40F0-8938-6EBC974E34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New picture" descr=""/>
          <p:cNvPicPr/>
          <p:nvPr/>
        </p:nvPicPr>
        <p:blipFill>
          <a:blip r:embed="rId2"/>
          <a:stretch/>
        </p:blipFill>
        <p:spPr>
          <a:xfrm rot="16200000">
            <a:off x="-11070000" y="1646352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1" name="New picture" descr=""/>
          <p:cNvPicPr/>
          <p:nvPr/>
        </p:nvPicPr>
        <p:blipFill>
          <a:blip r:embed="rId3"/>
          <a:stretch/>
        </p:blipFill>
        <p:spPr>
          <a:xfrm rot="5400000">
            <a:off x="40695120" y="1645920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2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040" cy="1443600"/>
          </a:xfrm>
          <a:prstGeom prst="rect">
            <a:avLst/>
          </a:prstGeom>
          <a:ln w="0">
            <a:noFill/>
          </a:ln>
        </p:spPr>
      </p:pic>
      <p:sp>
        <p:nvSpPr>
          <p:cNvPr id="3" name="New shape"/>
          <p:cNvSpPr/>
          <p:nvPr/>
        </p:nvSpPr>
        <p:spPr>
          <a:xfrm>
            <a:off x="6946920" y="33998040"/>
            <a:ext cx="21941280" cy="12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920" cy="549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14994360" y="29977560"/>
            <a:ext cx="138978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314535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D4A0A509-E88F-4C39-8BB8-64D53EA235AD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21927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New picture" descr=""/>
          <p:cNvPicPr/>
          <p:nvPr/>
        </p:nvPicPr>
        <p:blipFill>
          <a:blip r:embed="rId2"/>
          <a:stretch/>
        </p:blipFill>
        <p:spPr>
          <a:xfrm rot="16200000">
            <a:off x="-11070000" y="1646352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12" name="New picture" descr=""/>
          <p:cNvPicPr/>
          <p:nvPr/>
        </p:nvPicPr>
        <p:blipFill>
          <a:blip r:embed="rId3"/>
          <a:stretch/>
        </p:blipFill>
        <p:spPr>
          <a:xfrm rot="5400000">
            <a:off x="40695120" y="1645920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13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040" cy="1443600"/>
          </a:xfrm>
          <a:prstGeom prst="rect">
            <a:avLst/>
          </a:prstGeom>
          <a:ln w="0">
            <a:noFill/>
          </a:ln>
        </p:spPr>
      </p:pic>
      <p:sp>
        <p:nvSpPr>
          <p:cNvPr id="14" name="New shape"/>
          <p:cNvSpPr/>
          <p:nvPr/>
        </p:nvSpPr>
        <p:spPr>
          <a:xfrm>
            <a:off x="6946920" y="33998040"/>
            <a:ext cx="21941280" cy="12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ftr" idx="4"/>
          </p:nvPr>
        </p:nvSpPr>
        <p:spPr>
          <a:xfrm>
            <a:off x="14994360" y="29977560"/>
            <a:ext cx="138978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ldNum" idx="5"/>
          </p:nvPr>
        </p:nvSpPr>
        <p:spPr>
          <a:xfrm>
            <a:off x="314535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BE9C692A-DB51-43BF-AD8F-0DBA384B0AB3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6"/>
          </p:nvPr>
        </p:nvSpPr>
        <p:spPr>
          <a:xfrm>
            <a:off x="21927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New picture" descr=""/>
          <p:cNvPicPr/>
          <p:nvPr/>
        </p:nvPicPr>
        <p:blipFill>
          <a:blip r:embed="rId2"/>
          <a:stretch/>
        </p:blipFill>
        <p:spPr>
          <a:xfrm rot="16200000">
            <a:off x="-11070000" y="1646352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21" name="New picture" descr=""/>
          <p:cNvPicPr/>
          <p:nvPr/>
        </p:nvPicPr>
        <p:blipFill>
          <a:blip r:embed="rId3"/>
          <a:stretch/>
        </p:blipFill>
        <p:spPr>
          <a:xfrm rot="5400000">
            <a:off x="40695120" y="1645920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22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040" cy="1443600"/>
          </a:xfrm>
          <a:prstGeom prst="rect">
            <a:avLst/>
          </a:prstGeom>
          <a:ln w="0">
            <a:noFill/>
          </a:ln>
        </p:spPr>
      </p:pic>
      <p:sp>
        <p:nvSpPr>
          <p:cNvPr id="23" name="New shape"/>
          <p:cNvSpPr/>
          <p:nvPr/>
        </p:nvSpPr>
        <p:spPr>
          <a:xfrm>
            <a:off x="6946920" y="33998040"/>
            <a:ext cx="21941280" cy="12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ftr" idx="7"/>
          </p:nvPr>
        </p:nvSpPr>
        <p:spPr>
          <a:xfrm>
            <a:off x="14994360" y="29977560"/>
            <a:ext cx="138978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8"/>
          </p:nvPr>
        </p:nvSpPr>
        <p:spPr>
          <a:xfrm>
            <a:off x="314535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0A184745-A6B1-4D05-9825-581282737F2A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9"/>
          </p:nvPr>
        </p:nvSpPr>
        <p:spPr>
          <a:xfrm>
            <a:off x="21927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New picture" descr=""/>
          <p:cNvPicPr/>
          <p:nvPr/>
        </p:nvPicPr>
        <p:blipFill>
          <a:blip r:embed="rId2"/>
          <a:stretch/>
        </p:blipFill>
        <p:spPr>
          <a:xfrm rot="16200000">
            <a:off x="-11070000" y="1646352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30" name="New picture" descr=""/>
          <p:cNvPicPr/>
          <p:nvPr/>
        </p:nvPicPr>
        <p:blipFill>
          <a:blip r:embed="rId3"/>
          <a:stretch/>
        </p:blipFill>
        <p:spPr>
          <a:xfrm rot="5400000">
            <a:off x="40695120" y="1645920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31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040" cy="1443600"/>
          </a:xfrm>
          <a:prstGeom prst="rect">
            <a:avLst/>
          </a:prstGeom>
          <a:ln w="0">
            <a:noFill/>
          </a:ln>
        </p:spPr>
      </p:pic>
      <p:sp>
        <p:nvSpPr>
          <p:cNvPr id="32" name="New shape"/>
          <p:cNvSpPr/>
          <p:nvPr/>
        </p:nvSpPr>
        <p:spPr>
          <a:xfrm>
            <a:off x="6946920" y="33998040"/>
            <a:ext cx="21941280" cy="12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920" cy="549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360" cy="1909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10"/>
          </p:nvPr>
        </p:nvSpPr>
        <p:spPr>
          <a:xfrm>
            <a:off x="14994360" y="29977560"/>
            <a:ext cx="138978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1"/>
          </p:nvPr>
        </p:nvSpPr>
        <p:spPr>
          <a:xfrm>
            <a:off x="314535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1C25F128-94D2-4E38-9CBF-5026EE20C91F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dt" idx="12"/>
          </p:nvPr>
        </p:nvSpPr>
        <p:spPr>
          <a:xfrm>
            <a:off x="21927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New picture" descr=""/>
          <p:cNvPicPr/>
          <p:nvPr/>
        </p:nvPicPr>
        <p:blipFill>
          <a:blip r:embed="rId2"/>
          <a:stretch/>
        </p:blipFill>
        <p:spPr>
          <a:xfrm rot="16200000">
            <a:off x="-11070000" y="1646352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41" name="New picture" descr=""/>
          <p:cNvPicPr/>
          <p:nvPr/>
        </p:nvPicPr>
        <p:blipFill>
          <a:blip r:embed="rId3"/>
          <a:stretch/>
        </p:blipFill>
        <p:spPr>
          <a:xfrm rot="5400000">
            <a:off x="40695120" y="1645920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42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040" cy="1443600"/>
          </a:xfrm>
          <a:prstGeom prst="rect">
            <a:avLst/>
          </a:prstGeom>
          <a:ln w="0">
            <a:noFill/>
          </a:ln>
        </p:spPr>
      </p:pic>
      <p:sp>
        <p:nvSpPr>
          <p:cNvPr id="43" name="New shape"/>
          <p:cNvSpPr/>
          <p:nvPr/>
        </p:nvSpPr>
        <p:spPr>
          <a:xfrm>
            <a:off x="6946920" y="33998040"/>
            <a:ext cx="21941280" cy="12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ftr" idx="13"/>
          </p:nvPr>
        </p:nvSpPr>
        <p:spPr>
          <a:xfrm>
            <a:off x="14994360" y="29977560"/>
            <a:ext cx="138978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14"/>
          </p:nvPr>
        </p:nvSpPr>
        <p:spPr>
          <a:xfrm>
            <a:off x="314535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AA764D63-C772-4905-96F2-A73105633163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15"/>
          </p:nvPr>
        </p:nvSpPr>
        <p:spPr>
          <a:xfrm>
            <a:off x="21927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New picture" descr=""/>
          <p:cNvPicPr/>
          <p:nvPr/>
        </p:nvPicPr>
        <p:blipFill>
          <a:blip r:embed="rId2"/>
          <a:stretch/>
        </p:blipFill>
        <p:spPr>
          <a:xfrm rot="16200000">
            <a:off x="-11070000" y="1646352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50" name="New picture" descr=""/>
          <p:cNvPicPr/>
          <p:nvPr/>
        </p:nvPicPr>
        <p:blipFill>
          <a:blip r:embed="rId3"/>
          <a:stretch/>
        </p:blipFill>
        <p:spPr>
          <a:xfrm rot="5400000">
            <a:off x="40695120" y="1645920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51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040" cy="1443600"/>
          </a:xfrm>
          <a:prstGeom prst="rect">
            <a:avLst/>
          </a:prstGeom>
          <a:ln w="0">
            <a:noFill/>
          </a:ln>
        </p:spPr>
      </p:pic>
      <p:sp>
        <p:nvSpPr>
          <p:cNvPr id="52" name="New shape"/>
          <p:cNvSpPr/>
          <p:nvPr/>
        </p:nvSpPr>
        <p:spPr>
          <a:xfrm>
            <a:off x="6946920" y="33998040"/>
            <a:ext cx="21941280" cy="12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920" cy="549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2194560" y="7702560"/>
            <a:ext cx="19276200" cy="1909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22435200" y="7702560"/>
            <a:ext cx="19276200" cy="1909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16"/>
          </p:nvPr>
        </p:nvSpPr>
        <p:spPr>
          <a:xfrm>
            <a:off x="14994360" y="29977560"/>
            <a:ext cx="138978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17"/>
          </p:nvPr>
        </p:nvSpPr>
        <p:spPr>
          <a:xfrm>
            <a:off x="314535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95E79EE5-232E-4B76-BBA4-1511D6ACD079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18"/>
          </p:nvPr>
        </p:nvSpPr>
        <p:spPr>
          <a:xfrm>
            <a:off x="21927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New picture" descr=""/>
          <p:cNvPicPr/>
          <p:nvPr/>
        </p:nvPicPr>
        <p:blipFill>
          <a:blip r:embed="rId2"/>
          <a:stretch/>
        </p:blipFill>
        <p:spPr>
          <a:xfrm rot="16200000">
            <a:off x="-11070000" y="1646352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63" name="New picture" descr=""/>
          <p:cNvPicPr/>
          <p:nvPr/>
        </p:nvPicPr>
        <p:blipFill>
          <a:blip r:embed="rId3"/>
          <a:stretch/>
        </p:blipFill>
        <p:spPr>
          <a:xfrm rot="5400000">
            <a:off x="40695120" y="1645920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64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040" cy="1443600"/>
          </a:xfrm>
          <a:prstGeom prst="rect">
            <a:avLst/>
          </a:prstGeom>
          <a:ln w="0">
            <a:noFill/>
          </a:ln>
        </p:spPr>
      </p:pic>
      <p:sp>
        <p:nvSpPr>
          <p:cNvPr id="65" name="New shape"/>
          <p:cNvSpPr/>
          <p:nvPr/>
        </p:nvSpPr>
        <p:spPr>
          <a:xfrm>
            <a:off x="6946920" y="33998040"/>
            <a:ext cx="21941280" cy="12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ftr" idx="19"/>
          </p:nvPr>
        </p:nvSpPr>
        <p:spPr>
          <a:xfrm>
            <a:off x="14994360" y="29977560"/>
            <a:ext cx="138978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20"/>
          </p:nvPr>
        </p:nvSpPr>
        <p:spPr>
          <a:xfrm>
            <a:off x="314535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C59B17D6-192D-444B-9E54-BAE34BDE4E82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21"/>
          </p:nvPr>
        </p:nvSpPr>
        <p:spPr>
          <a:xfrm>
            <a:off x="21927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New picture" descr=""/>
          <p:cNvPicPr/>
          <p:nvPr/>
        </p:nvPicPr>
        <p:blipFill>
          <a:blip r:embed="rId2"/>
          <a:stretch/>
        </p:blipFill>
        <p:spPr>
          <a:xfrm rot="16200000">
            <a:off x="-11070000" y="1646352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72" name="New picture" descr=""/>
          <p:cNvPicPr/>
          <p:nvPr/>
        </p:nvPicPr>
        <p:blipFill>
          <a:blip r:embed="rId3"/>
          <a:stretch/>
        </p:blipFill>
        <p:spPr>
          <a:xfrm rot="5400000">
            <a:off x="40695120" y="1645920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73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040" cy="1443600"/>
          </a:xfrm>
          <a:prstGeom prst="rect">
            <a:avLst/>
          </a:prstGeom>
          <a:ln w="0">
            <a:noFill/>
          </a:ln>
        </p:spPr>
      </p:pic>
      <p:sp>
        <p:nvSpPr>
          <p:cNvPr id="74" name="New shape"/>
          <p:cNvSpPr/>
          <p:nvPr/>
        </p:nvSpPr>
        <p:spPr>
          <a:xfrm>
            <a:off x="6946920" y="33998040"/>
            <a:ext cx="21941280" cy="12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920" cy="549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ftr" idx="22"/>
          </p:nvPr>
        </p:nvSpPr>
        <p:spPr>
          <a:xfrm>
            <a:off x="14994360" y="29977560"/>
            <a:ext cx="138978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23"/>
          </p:nvPr>
        </p:nvSpPr>
        <p:spPr>
          <a:xfrm>
            <a:off x="314535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1ED76ACF-A9D3-4148-B990-53E20E85EC70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24"/>
          </p:nvPr>
        </p:nvSpPr>
        <p:spPr>
          <a:xfrm>
            <a:off x="21927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New picture" descr=""/>
          <p:cNvPicPr/>
          <p:nvPr/>
        </p:nvPicPr>
        <p:blipFill>
          <a:blip r:embed="rId2"/>
          <a:stretch/>
        </p:blipFill>
        <p:spPr>
          <a:xfrm rot="16200000">
            <a:off x="-11070000" y="1646352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82" name="New picture" descr=""/>
          <p:cNvPicPr/>
          <p:nvPr/>
        </p:nvPicPr>
        <p:blipFill>
          <a:blip r:embed="rId3"/>
          <a:stretch/>
        </p:blipFill>
        <p:spPr>
          <a:xfrm rot="5400000">
            <a:off x="40695120" y="1645920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83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040" cy="1443600"/>
          </a:xfrm>
          <a:prstGeom prst="rect">
            <a:avLst/>
          </a:prstGeom>
          <a:ln w="0">
            <a:noFill/>
          </a:ln>
        </p:spPr>
      </p:pic>
      <p:sp>
        <p:nvSpPr>
          <p:cNvPr id="84" name="New shape"/>
          <p:cNvSpPr/>
          <p:nvPr/>
        </p:nvSpPr>
        <p:spPr>
          <a:xfrm>
            <a:off x="6946920" y="33998040"/>
            <a:ext cx="21941280" cy="12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ftr" idx="25"/>
          </p:nvPr>
        </p:nvSpPr>
        <p:spPr>
          <a:xfrm>
            <a:off x="14994360" y="29977560"/>
            <a:ext cx="138978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26"/>
          </p:nvPr>
        </p:nvSpPr>
        <p:spPr>
          <a:xfrm>
            <a:off x="314535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F405CBAE-A13B-44B5-A624-B2D381C0E190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27"/>
          </p:nvPr>
        </p:nvSpPr>
        <p:spPr>
          <a:xfrm>
            <a:off x="21927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New picture" descr=""/>
          <p:cNvPicPr/>
          <p:nvPr/>
        </p:nvPicPr>
        <p:blipFill>
          <a:blip r:embed="rId2"/>
          <a:stretch/>
        </p:blipFill>
        <p:spPr>
          <a:xfrm rot="16200000">
            <a:off x="-11070000" y="1646352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91" name="New picture" descr=""/>
          <p:cNvPicPr/>
          <p:nvPr/>
        </p:nvPicPr>
        <p:blipFill>
          <a:blip r:embed="rId3"/>
          <a:stretch/>
        </p:blipFill>
        <p:spPr>
          <a:xfrm rot="5400000">
            <a:off x="40695120" y="1645920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92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040" cy="1443600"/>
          </a:xfrm>
          <a:prstGeom prst="rect">
            <a:avLst/>
          </a:prstGeom>
          <a:ln w="0">
            <a:noFill/>
          </a:ln>
        </p:spPr>
      </p:pic>
      <p:sp>
        <p:nvSpPr>
          <p:cNvPr id="93" name="New shape"/>
          <p:cNvSpPr/>
          <p:nvPr/>
        </p:nvSpPr>
        <p:spPr>
          <a:xfrm>
            <a:off x="6946920" y="33998040"/>
            <a:ext cx="21941280" cy="12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ftr" idx="28"/>
          </p:nvPr>
        </p:nvSpPr>
        <p:spPr>
          <a:xfrm>
            <a:off x="14994360" y="29977560"/>
            <a:ext cx="138978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ldNum" idx="29"/>
          </p:nvPr>
        </p:nvSpPr>
        <p:spPr>
          <a:xfrm>
            <a:off x="314535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3B0BEEF4-4467-416A-9BB6-9790AE9B16E1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30"/>
          </p:nvPr>
        </p:nvSpPr>
        <p:spPr>
          <a:xfrm>
            <a:off x="21927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New picture" descr=""/>
          <p:cNvPicPr/>
          <p:nvPr/>
        </p:nvPicPr>
        <p:blipFill>
          <a:blip r:embed="rId2"/>
          <a:stretch/>
        </p:blipFill>
        <p:spPr>
          <a:xfrm rot="16200000">
            <a:off x="-11070000" y="1646352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100" name="New picture" descr=""/>
          <p:cNvPicPr/>
          <p:nvPr/>
        </p:nvPicPr>
        <p:blipFill>
          <a:blip r:embed="rId3"/>
          <a:stretch/>
        </p:blipFill>
        <p:spPr>
          <a:xfrm rot="5400000">
            <a:off x="40695120" y="16459200"/>
            <a:ext cx="14270400" cy="3932640"/>
          </a:xfrm>
          <a:prstGeom prst="rect">
            <a:avLst/>
          </a:prstGeom>
          <a:ln w="0">
            <a:noFill/>
          </a:ln>
        </p:spPr>
      </p:pic>
      <p:pic>
        <p:nvPicPr>
          <p:cNvPr id="101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040" cy="1443600"/>
          </a:xfrm>
          <a:prstGeom prst="rect">
            <a:avLst/>
          </a:prstGeom>
          <a:ln w="0">
            <a:noFill/>
          </a:ln>
        </p:spPr>
      </p:pic>
      <p:sp>
        <p:nvSpPr>
          <p:cNvPr id="102" name="New shape"/>
          <p:cNvSpPr/>
          <p:nvPr/>
        </p:nvSpPr>
        <p:spPr>
          <a:xfrm>
            <a:off x="6946920" y="33998040"/>
            <a:ext cx="21941280" cy="12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ftr" idx="31"/>
          </p:nvPr>
        </p:nvSpPr>
        <p:spPr>
          <a:xfrm>
            <a:off x="14994360" y="29977560"/>
            <a:ext cx="138978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ldNum" idx="32"/>
          </p:nvPr>
        </p:nvSpPr>
        <p:spPr>
          <a:xfrm>
            <a:off x="314535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17BB822D-AD65-4A87-A3FC-90131FFCBF0C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dt" idx="33"/>
          </p:nvPr>
        </p:nvSpPr>
        <p:spPr>
          <a:xfrm>
            <a:off x="2192760" y="29977560"/>
            <a:ext cx="10240200" cy="228168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33147000" y="16651800"/>
            <a:ext cx="10122120" cy="1418292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22174200" y="5558400"/>
            <a:ext cx="10512720" cy="2530260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3147000" y="6413400"/>
            <a:ext cx="10122120" cy="1019952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11201400" y="5558400"/>
            <a:ext cx="10512720" cy="2530260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577800" y="5558400"/>
            <a:ext cx="10163520" cy="1158372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3" name="Rectangle 6"/>
          <p:cNvSpPr/>
          <p:nvPr/>
        </p:nvSpPr>
        <p:spPr>
          <a:xfrm>
            <a:off x="0" y="3240"/>
            <a:ext cx="43886880" cy="5250600"/>
          </a:xfrm>
          <a:prstGeom prst="rect">
            <a:avLst/>
          </a:prstGeom>
          <a:solidFill>
            <a:srgbClr val="21314d"/>
          </a:solidFill>
          <a:ln w="3810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68760" bIns="68760" anchor="ctr">
            <a:noAutofit/>
          </a:bodyPr>
          <a:p>
            <a:pPr algn="ctr" defTabSz="4703760">
              <a:lnSpc>
                <a:spcPct val="100000"/>
              </a:lnSpc>
            </a:pPr>
            <a:endParaRPr b="1" lang="en-US" sz="5400" spc="-1" strike="noStrike">
              <a:solidFill>
                <a:schemeClr val="dk2"/>
              </a:solidFill>
              <a:latin typeface="Gill Sans"/>
              <a:ea typeface="Arial"/>
            </a:endParaRPr>
          </a:p>
        </p:txBody>
      </p:sp>
      <p:sp>
        <p:nvSpPr>
          <p:cNvPr id="114" name="TextBox 19"/>
          <p:cNvSpPr/>
          <p:nvPr/>
        </p:nvSpPr>
        <p:spPr>
          <a:xfrm>
            <a:off x="609480" y="6666480"/>
            <a:ext cx="10131840" cy="101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Classical CFD modeling methods struggle to scale for real-world applications.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Architecture Search (QAS) and other machine-learning techniques can generate viable quantum circuits.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en-US" sz="4000" spc="-1" strike="noStrike">
                <a:solidFill>
                  <a:schemeClr val="dk1"/>
                </a:solidFill>
                <a:latin typeface="Open Sans"/>
                <a:ea typeface="Open Sans"/>
              </a:rPr>
              <a:t>This work proposes a framework for quantum circuit generation in hopes to better utilize complex quantum modeling techniques on real quantum hardware.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Placeholder 5"/>
          <p:cNvSpPr/>
          <p:nvPr/>
        </p:nvSpPr>
        <p:spPr>
          <a:xfrm>
            <a:off x="7543800" y="410400"/>
            <a:ext cx="28799640" cy="293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376092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US" sz="8500" spc="-1" strike="noStrike">
                <a:solidFill>
                  <a:srgbClr val="ffffff"/>
                </a:solidFill>
                <a:latin typeface="Bree Serif"/>
                <a:ea typeface="Arial"/>
              </a:rPr>
              <a:t>Diffusing Quantum Circuits for Computational Fluid Dynamics</a:t>
            </a:r>
            <a:endParaRPr b="0" lang="en-US" sz="8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Placeholder 5"/>
          <p:cNvSpPr/>
          <p:nvPr/>
        </p:nvSpPr>
        <p:spPr>
          <a:xfrm>
            <a:off x="1175040" y="3321000"/>
            <a:ext cx="36571680" cy="260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r>
              <a:rPr b="0" lang="en-US" sz="5600" spc="-1" strike="noStrike">
                <a:solidFill>
                  <a:srgbClr val="ffffff"/>
                </a:solidFill>
                <a:latin typeface="Open Sans"/>
                <a:ea typeface="Open Sans"/>
              </a:rPr>
              <a:t>                                                                  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Open Sans"/>
                <a:ea typeface="Open Sans"/>
              </a:rPr>
              <a:t>  </a:t>
            </a:r>
            <a:r>
              <a:rPr b="0" lang="en-US" sz="4000" spc="-1" strike="noStrike">
                <a:solidFill>
                  <a:srgbClr val="ffffff"/>
                </a:solidFill>
                <a:latin typeface="Open Sans"/>
                <a:ea typeface="Open Sans"/>
              </a:rPr>
              <a:t>Department of Computer Science                 Department of Computer Science                       NVIDIA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19"/>
          <p:cNvSpPr/>
          <p:nvPr/>
        </p:nvSpPr>
        <p:spPr>
          <a:xfrm>
            <a:off x="11417040" y="6666480"/>
            <a:ext cx="10071000" cy="145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1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Classical modeling methods are </a:t>
            </a:r>
            <a:r>
              <a:rPr b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expensive 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due to an inability to scale for: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Large / dense domain sizes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Long-term model stability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We are interested in making quantum algorithms for modeling complex systems viable for </a:t>
            </a:r>
            <a:r>
              <a:rPr b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execution on real quantum hardware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The target application dictates all other aspects of this framework.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19"/>
          <p:cNvSpPr/>
          <p:nvPr/>
        </p:nvSpPr>
        <p:spPr>
          <a:xfrm>
            <a:off x="22368960" y="6666480"/>
            <a:ext cx="10127880" cy="232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NVIDIAs quantum SDK, CUDA-Q enables: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Parallelization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Hamiltonian Simulation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Multi-GPU acceleration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CUDA-Q wraps NVIDIAs backend development kits, targeting high performance applications: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cuQuantum: Library that accelerates quantum simulations on a circuit &amp; device-level.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CUDA:  GPU development SDK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Ideal for hybrid quantum-classical processing and HPC applications.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Placing CUDA-Q at the center of this framework indicates the full utilization of hardware acceleration at every step.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19"/>
          <p:cNvSpPr/>
          <p:nvPr/>
        </p:nvSpPr>
        <p:spPr>
          <a:xfrm>
            <a:off x="33256440" y="6746760"/>
            <a:ext cx="9596880" cy="9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circuit generation with diffusion models resembles image generation.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We imagine quantum circuits as a flexible representation - enabling us to consider them as images, or a language.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19"/>
          <p:cNvSpPr/>
          <p:nvPr/>
        </p:nvSpPr>
        <p:spPr>
          <a:xfrm>
            <a:off x="-4036320" y="9446400"/>
            <a:ext cx="9596880" cy="69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21" name="Rectangle 6"/>
          <p:cNvSpPr/>
          <p:nvPr/>
        </p:nvSpPr>
        <p:spPr>
          <a:xfrm>
            <a:off x="0" y="31318200"/>
            <a:ext cx="43886880" cy="1595880"/>
          </a:xfrm>
          <a:prstGeom prst="rect">
            <a:avLst/>
          </a:prstGeom>
          <a:solidFill>
            <a:srgbClr val="c8c8c8"/>
          </a:solidFill>
          <a:ln w="3810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68760" bIns="68760" anchor="ctr">
            <a:noAutofit/>
          </a:bodyPr>
          <a:p>
            <a:pPr algn="ctr" defTabSz="4703760">
              <a:lnSpc>
                <a:spcPct val="100000"/>
              </a:lnSpc>
            </a:pPr>
            <a:endParaRPr b="1" lang="en-US" sz="5400" spc="-1" strike="noStrike">
              <a:solidFill>
                <a:schemeClr val="dk2"/>
              </a:solidFill>
              <a:latin typeface="Gill Sans"/>
              <a:ea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579960" y="5558400"/>
            <a:ext cx="10131120" cy="83952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Abstract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1230920" y="5558400"/>
            <a:ext cx="10483200" cy="83952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600" spc="-1" strike="noStrike">
                <a:solidFill>
                  <a:srgbClr val="ffffff"/>
                </a:solidFill>
                <a:latin typeface="Bree Serif"/>
                <a:ea typeface="Arial"/>
              </a:rPr>
              <a:t>CFD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33147000" y="5571000"/>
            <a:ext cx="10125360" cy="83952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Large-Language Models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22177440" y="5558400"/>
            <a:ext cx="10515240" cy="83952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CUDA-Q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33151320" y="16618320"/>
            <a:ext cx="10122120" cy="83448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Insights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577800" y="17242200"/>
            <a:ext cx="10163520" cy="1361880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Quantum-inspired CFD Algorithms have shown to be at least as efficient as classical Navier-Stokes simulations.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Architecture methods such as gate cutting can further improve the fidelity of a quantum circuit and reduce depth.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circuit generation mitigates the need for high-level algorithm expertise.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An ML workflow with CUDA-Q at the center enables us to completely utilize the entire hardware stack for hybrid quantum-classical processing.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579960" y="17087400"/>
            <a:ext cx="10168200" cy="839520"/>
          </a:xfrm>
          <a:prstGeom prst="rect">
            <a:avLst/>
          </a:prstGeom>
          <a:solidFill>
            <a:srgbClr val="21314d"/>
          </a:solidFill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Motivation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579960" y="25367400"/>
            <a:ext cx="10158840" cy="83952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Challenges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27781200" y="2971800"/>
            <a:ext cx="4799160" cy="18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r>
              <a:rPr b="0" lang="en-US" sz="5600" spc="-1" strike="noStrike">
                <a:solidFill>
                  <a:srgbClr val="ffffff"/>
                </a:solidFill>
                <a:latin typeface="Open Sans"/>
                <a:ea typeface="Open Sans"/>
              </a:rPr>
              <a:t>Pooja Rao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19905480" y="2971800"/>
            <a:ext cx="4799160" cy="18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r>
              <a:rPr b="0" lang="en-US" sz="5600" spc="-1" strike="noStrike">
                <a:solidFill>
                  <a:srgbClr val="ffffff"/>
                </a:solidFill>
                <a:latin typeface="Open Sans"/>
                <a:ea typeface="Open Sans"/>
              </a:rPr>
              <a:t>Iris Bahar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9781920" y="2971800"/>
            <a:ext cx="4799160" cy="18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r>
              <a:rPr b="0" lang="en-US" sz="5600" spc="-1" strike="noStrike">
                <a:solidFill>
                  <a:srgbClr val="ffffff"/>
                </a:solidFill>
                <a:latin typeface="Open Sans"/>
                <a:ea typeface="Open Sans"/>
              </a:rPr>
              <a:t>Will Buziak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38176200" y="31318200"/>
            <a:ext cx="4951440" cy="1533960"/>
          </a:xfrm>
          <a:prstGeom prst="rect">
            <a:avLst/>
          </a:prstGeom>
          <a:ln w="0">
            <a:noFill/>
          </a:ln>
        </p:spPr>
      </p:pic>
      <p:sp>
        <p:nvSpPr>
          <p:cNvPr id="134" name="TextBox 1"/>
          <p:cNvSpPr/>
          <p:nvPr/>
        </p:nvSpPr>
        <p:spPr>
          <a:xfrm>
            <a:off x="33256440" y="17618760"/>
            <a:ext cx="9596880" cy="132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The Evaluation metric can </a:t>
            </a:r>
            <a:r>
              <a:rPr b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prune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 circuits with low fidelity, or inability to solve the target application.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Each major component of this paradigm is intended to be </a:t>
            </a:r>
            <a:r>
              <a:rPr b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interchangeable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, opening the door for a larger swath of applications.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computing provides speedups over classical solutions when algorithms can map to an algorithm that takes advantage of </a:t>
            </a:r>
            <a:r>
              <a:rPr b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entanglement similarities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Architecture &amp; Compilation frameworks can </a:t>
            </a:r>
            <a:r>
              <a:rPr b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target heterogeneous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 distributed systems.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If we intend to make use of complex quantum algorithms, we need either: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Scalable, reliable quantum hardware.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	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or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Sophisticated algorithm, architecture &amp; compilation frameworks that enable execution on heterogeneous, distributed systems.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2"/>
          <a:stretch/>
        </p:blipFill>
        <p:spPr>
          <a:xfrm>
            <a:off x="990000" y="11163600"/>
            <a:ext cx="9459720" cy="2057040"/>
          </a:xfrm>
          <a:prstGeom prst="rect">
            <a:avLst/>
          </a:prstGeom>
          <a:ln w="0">
            <a:noFill/>
          </a:ln>
        </p:spPr>
      </p:pic>
      <p:sp>
        <p:nvSpPr>
          <p:cNvPr id="136" name=""/>
          <p:cNvSpPr/>
          <p:nvPr/>
        </p:nvSpPr>
        <p:spPr>
          <a:xfrm>
            <a:off x="577800" y="26289000"/>
            <a:ext cx="10163520" cy="525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Hardware is noisy &amp; unreliable.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Qubit technologies are non-homogeneous.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Classical models experience exponential blowup when scaling to real-world systems.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Algorithm design is non-trivial &amp; often requires additional techniques to improve circuit fidelity on NISQ hardware.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11671560" y="21721320"/>
            <a:ext cx="9695880" cy="8640000"/>
          </a:xfrm>
          <a:prstGeom prst="rect">
            <a:avLst/>
          </a:prstGeom>
          <a:ln w="0">
            <a:noFill/>
          </a:ln>
        </p:spPr>
      </p:pic>
      <p:pic>
        <p:nvPicPr>
          <p:cNvPr id="138" name="" descr=""/>
          <p:cNvPicPr/>
          <p:nvPr/>
        </p:nvPicPr>
        <p:blipFill>
          <a:blip r:embed="rId4"/>
          <a:srcRect l="0" t="18239" r="7" b="0"/>
          <a:stretch/>
        </p:blipFill>
        <p:spPr>
          <a:xfrm>
            <a:off x="11995200" y="13043160"/>
            <a:ext cx="5257440" cy="2941560"/>
          </a:xfrm>
          <a:prstGeom prst="rect">
            <a:avLst/>
          </a:prstGeom>
          <a:ln w="0">
            <a:noFill/>
          </a:ln>
        </p:spPr>
      </p:pic>
      <p:pic>
        <p:nvPicPr>
          <p:cNvPr id="139" name="" descr=""/>
          <p:cNvPicPr/>
          <p:nvPr/>
        </p:nvPicPr>
        <p:blipFill>
          <a:blip r:embed="rId5"/>
          <a:stretch/>
        </p:blipFill>
        <p:spPr>
          <a:xfrm>
            <a:off x="18262800" y="13114800"/>
            <a:ext cx="2539440" cy="2971440"/>
          </a:xfrm>
          <a:prstGeom prst="rect">
            <a:avLst/>
          </a:prstGeom>
          <a:ln w="0">
            <a:noFill/>
          </a:ln>
        </p:spPr>
      </p:pic>
      <p:sp>
        <p:nvSpPr>
          <p:cNvPr id="140" name=""/>
          <p:cNvSpPr/>
          <p:nvPr/>
        </p:nvSpPr>
        <p:spPr>
          <a:xfrm>
            <a:off x="11525040" y="12801600"/>
            <a:ext cx="9842400" cy="3428640"/>
          </a:xfrm>
          <a:prstGeom prst="roundRect">
            <a:avLst>
              <a:gd name="adj" fmla="val 16667"/>
            </a:avLst>
          </a:prstGeom>
          <a:noFill/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15678720" y="17487720"/>
            <a:ext cx="1943280" cy="1943280"/>
          </a:xfrm>
          <a:prstGeom prst="ellipse">
            <a:avLst/>
          </a:prstGeom>
          <a:noFill/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 rot="1183200">
            <a:off x="16160040" y="17927280"/>
            <a:ext cx="1963080" cy="1316880"/>
          </a:xfrm>
          <a:prstGeom prst="ellipse">
            <a:avLst/>
          </a:prstGeom>
          <a:noFill/>
          <a:ln cap="rnd" w="29160">
            <a:solidFill>
              <a:srgbClr val="000000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3" name=""/>
          <p:cNvCxnSpPr>
            <a:endCxn id="141" idx="7"/>
          </p:cNvCxnSpPr>
          <p:nvPr/>
        </p:nvCxnSpPr>
        <p:spPr>
          <a:xfrm flipV="1">
            <a:off x="16707240" y="17772120"/>
            <a:ext cx="630720" cy="630360"/>
          </a:xfrm>
          <a:prstGeom prst="straightConnector1">
            <a:avLst/>
          </a:prstGeom>
          <a:ln w="2916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44" name=""/>
          <p:cNvSpPr/>
          <p:nvPr/>
        </p:nvSpPr>
        <p:spPr>
          <a:xfrm>
            <a:off x="16629120" y="18346320"/>
            <a:ext cx="114480" cy="11448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6360" bIns="3636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6"/>
          <a:stretch/>
        </p:blipFill>
        <p:spPr>
          <a:xfrm>
            <a:off x="33444360" y="8242200"/>
            <a:ext cx="4202640" cy="2514600"/>
          </a:xfrm>
          <a:prstGeom prst="rect">
            <a:avLst/>
          </a:prstGeom>
          <a:ln w="0">
            <a:noFill/>
          </a:ln>
        </p:spPr>
      </p:pic>
      <p:pic>
        <p:nvPicPr>
          <p:cNvPr id="146" name="" descr=""/>
          <p:cNvPicPr/>
          <p:nvPr/>
        </p:nvPicPr>
        <p:blipFill>
          <a:blip r:embed="rId7"/>
          <a:stretch/>
        </p:blipFill>
        <p:spPr>
          <a:xfrm>
            <a:off x="38932200" y="8251920"/>
            <a:ext cx="4125960" cy="2468880"/>
          </a:xfrm>
          <a:prstGeom prst="rect">
            <a:avLst/>
          </a:prstGeom>
          <a:ln w="0">
            <a:noFill/>
          </a:ln>
        </p:spPr>
      </p:pic>
      <p:pic>
        <p:nvPicPr>
          <p:cNvPr id="147" name="" descr=""/>
          <p:cNvPicPr/>
          <p:nvPr/>
        </p:nvPicPr>
        <p:blipFill>
          <a:blip r:embed="rId8"/>
          <a:stretch/>
        </p:blipFill>
        <p:spPr>
          <a:xfrm>
            <a:off x="36082800" y="12006720"/>
            <a:ext cx="4125960" cy="2468880"/>
          </a:xfrm>
          <a:prstGeom prst="rect">
            <a:avLst/>
          </a:prstGeom>
          <a:ln w="0">
            <a:noFill/>
          </a:ln>
        </p:spPr>
      </p:pic>
      <p:cxnSp>
        <p:nvCxnSpPr>
          <p:cNvPr id="148" name=""/>
          <p:cNvCxnSpPr>
            <a:stCxn id="145" idx="3"/>
            <a:endCxn id="146" idx="1"/>
          </p:cNvCxnSpPr>
          <p:nvPr/>
        </p:nvCxnSpPr>
        <p:spPr>
          <a:xfrm flipV="1">
            <a:off x="37647000" y="9486360"/>
            <a:ext cx="1285560" cy="1332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149" name=""/>
          <p:cNvCxnSpPr>
            <a:stCxn id="146" idx="2"/>
            <a:endCxn id="147" idx="3"/>
          </p:cNvCxnSpPr>
          <p:nvPr/>
        </p:nvCxnSpPr>
        <p:spPr>
          <a:xfrm rot="5400000">
            <a:off x="39341520" y="11587680"/>
            <a:ext cx="2520720" cy="786600"/>
          </a:xfrm>
          <a:prstGeom prst="curvedConnector2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150" name=""/>
          <p:cNvCxnSpPr>
            <a:stCxn id="147" idx="1"/>
            <a:endCxn id="145" idx="2"/>
          </p:cNvCxnSpPr>
          <p:nvPr/>
        </p:nvCxnSpPr>
        <p:spPr>
          <a:xfrm rot="10800000">
            <a:off x="35545680" y="10756440"/>
            <a:ext cx="537480" cy="2484720"/>
          </a:xfrm>
          <a:prstGeom prst="curvedConnector2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pic>
        <p:nvPicPr>
          <p:cNvPr id="151" name="" descr=""/>
          <p:cNvPicPr/>
          <p:nvPr/>
        </p:nvPicPr>
        <p:blipFill>
          <a:blip r:embed="rId9"/>
          <a:stretch/>
        </p:blipFill>
        <p:spPr>
          <a:xfrm>
            <a:off x="23398920" y="9928800"/>
            <a:ext cx="7991280" cy="3600000"/>
          </a:xfrm>
          <a:prstGeom prst="rect">
            <a:avLst/>
          </a:prstGeom>
          <a:ln w="0">
            <a:noFill/>
          </a:ln>
        </p:spPr>
      </p:pic>
      <p:pic>
        <p:nvPicPr>
          <p:cNvPr id="152" name="" descr=""/>
          <p:cNvPicPr/>
          <p:nvPr/>
        </p:nvPicPr>
        <p:blipFill>
          <a:blip r:embed="rId10"/>
          <a:stretch/>
        </p:blipFill>
        <p:spPr>
          <a:xfrm>
            <a:off x="22302720" y="21675600"/>
            <a:ext cx="10224360" cy="4971600"/>
          </a:xfrm>
          <a:prstGeom prst="rect">
            <a:avLst/>
          </a:prstGeom>
          <a:ln w="0">
            <a:noFill/>
          </a:ln>
        </p:spPr>
      </p:pic>
      <p:pic>
        <p:nvPicPr>
          <p:cNvPr id="153" name="" descr=""/>
          <p:cNvPicPr/>
          <p:nvPr/>
        </p:nvPicPr>
        <p:blipFill>
          <a:blip r:embed="rId11"/>
          <a:stretch/>
        </p:blipFill>
        <p:spPr>
          <a:xfrm>
            <a:off x="275400" y="31180680"/>
            <a:ext cx="11070000" cy="190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</TotalTime>
  <Application>LibreOffice/24.2.7.2$Linux_X86_64 LibreOffice_project/420$Build-2</Application>
  <AppVersion>15.0000</AppVersion>
  <Paragraphs>16</Paragraphs>
  <Company>Graphicsland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>scientific poster template</cp:category>
  <dc:creator>Graphicsland/MakeSigns.com</dc:creator>
  <dc:description>This is a free template from MakeSigns.com to help you create the perfect scientific poster.</dc:description>
  <cp:keywords>scientific research template custom poster presentation symposium printing PowerPoint create design example sample download</cp:keywords>
  <dc:language>en-US</dc:language>
  <cp:lastModifiedBy/>
  <cp:lastPrinted>2026-01-29T12:24:40Z</cp:lastPrinted>
  <dcterms:modified xsi:type="dcterms:W3CDTF">2026-01-29T12:30:34Z</dcterms:modified>
  <cp:revision>72</cp:revision>
  <dc:subject>Template For Scientific Poster Presentation</dc:subject>
  <dc:title>PowerPoint template for a scientific poster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</vt:i4>
  </property>
</Properties>
</file>