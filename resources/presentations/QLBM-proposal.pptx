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5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59.xml" ContentType="application/vnd.openxmlformats-officedocument.theme+xml"/>
  <Override PartName="/ppt/theme/theme20.xml" ContentType="application/vnd.openxmlformats-officedocument.theme+xml"/>
  <Override PartName="/ppt/theme/theme7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27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8.xml" ContentType="application/vnd.openxmlformats-officedocument.theme+xml"/>
  <Override PartName="/ppt/theme/theme37.xml" ContentType="application/vnd.openxmlformats-officedocument.theme+xml"/>
  <Override PartName="/ppt/theme/theme70.xml" ContentType="application/vnd.openxmlformats-officedocument.theme+xml"/>
  <Override PartName="/ppt/theme/theme38.xml" ContentType="application/vnd.openxmlformats-officedocument.theme+xml"/>
  <Override PartName="/ppt/theme/theme71.xml" ContentType="application/vnd.openxmlformats-officedocument.theme+xml"/>
  <Override PartName="/ppt/theme/theme39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7.xml" ContentType="application/vnd.openxmlformats-officedocument.theme+xml"/>
  <Override PartName="/ppt/theme/theme74.xml" ContentType="application/vnd.openxmlformats-officedocument.theme+xml"/>
  <Override PartName="/ppt/theme/theme65.xml" ContentType="application/vnd.openxmlformats-officedocument.theme+xml"/>
  <Override PartName="/ppt/theme/theme47.xml" ContentType="application/vnd.openxmlformats-officedocument.theme+xml"/>
  <Override PartName="/ppt/theme/theme80.xml" ContentType="application/vnd.openxmlformats-officedocument.theme+xml"/>
  <Override PartName="/ppt/theme/theme78.xml" ContentType="application/vnd.openxmlformats-officedocument.theme+xml"/>
  <Override PartName="/ppt/theme/theme75.xml" ContentType="application/vnd.openxmlformats-officedocument.theme+xml"/>
  <Override PartName="/ppt/theme/theme66.xml" ContentType="application/vnd.openxmlformats-officedocument.theme+xml"/>
  <Override PartName="/ppt/theme/theme48.xml" ContentType="application/vnd.openxmlformats-officedocument.theme+xml"/>
  <Override PartName="/ppt/theme/theme81.xml" ContentType="application/vnd.openxmlformats-officedocument.theme+xml"/>
  <Override PartName="/ppt/theme/theme76.xml" ContentType="application/vnd.openxmlformats-officedocument.theme+xml"/>
  <Override PartName="/ppt/theme/theme67.xml" ContentType="application/vnd.openxmlformats-officedocument.theme+xml"/>
  <Override PartName="/ppt/theme/theme49.xml" ContentType="application/vnd.openxmlformats-officedocument.theme+xml"/>
  <Override PartName="/ppt/theme/theme8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8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81.xml" ContentType="application/vnd.openxmlformats-officedocument.presentationml.slideMaster+xml"/>
  <Override PartName="/ppt/_rels/presentation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_rels/slideLayout8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82" r:id="rId67"/>
    <p:sldMasterId id="2147483784" r:id="rId68"/>
    <p:sldMasterId id="2147483786" r:id="rId69"/>
    <p:sldMasterId id="2147483788" r:id="rId70"/>
    <p:sldMasterId id="2147483790" r:id="rId71"/>
    <p:sldMasterId id="2147483792" r:id="rId72"/>
    <p:sldMasterId id="2147483794" r:id="rId73"/>
    <p:sldMasterId id="2147483796" r:id="rId74"/>
    <p:sldMasterId id="2147483798" r:id="rId75"/>
    <p:sldMasterId id="2147483800" r:id="rId76"/>
    <p:sldMasterId id="2147483802" r:id="rId77"/>
    <p:sldMasterId id="2147483804" r:id="rId78"/>
    <p:sldMasterId id="2147483806" r:id="rId79"/>
    <p:sldMasterId id="2147483808" r:id="rId80"/>
    <p:sldMasterId id="2147483810" r:id="rId81"/>
    <p:sldMasterId id="2147483812" r:id="rId82"/>
  </p:sldMasterIdLst>
  <p:notesMasterIdLst>
    <p:notesMasterId r:id="rId83"/>
  </p:notesMasterIdLst>
  <p:sldIdLst>
    <p:sldId id="256" r:id="rId84"/>
    <p:sldId id="257" r:id="rId85"/>
    <p:sldId id="258" r:id="rId86"/>
    <p:sldId id="259" r:id="rId87"/>
    <p:sldId id="260" r:id="rId88"/>
    <p:sldId id="261" r:id="rId89"/>
    <p:sldId id="262" r:id="rId90"/>
    <p:sldId id="263" r:id="rId91"/>
    <p:sldId id="264" r:id="rId92"/>
    <p:sldId id="265" r:id="rId93"/>
    <p:sldId id="266" r:id="rId94"/>
    <p:sldId id="267" r:id="rId95"/>
    <p:sldId id="268" r:id="rId96"/>
    <p:sldId id="269" r:id="rId97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notesMaster" Target="notesMasters/notesMaster1.xml"/><Relationship Id="rId84" Type="http://schemas.openxmlformats.org/officeDocument/2006/relationships/slide" Target="slides/slide1.xml"/><Relationship Id="rId85" Type="http://schemas.openxmlformats.org/officeDocument/2006/relationships/slide" Target="slides/slide2.xml"/><Relationship Id="rId86" Type="http://schemas.openxmlformats.org/officeDocument/2006/relationships/slide" Target="slides/slide3.xml"/><Relationship Id="rId87" Type="http://schemas.openxmlformats.org/officeDocument/2006/relationships/slide" Target="slides/slide4.xml"/><Relationship Id="rId88" Type="http://schemas.openxmlformats.org/officeDocument/2006/relationships/slide" Target="slides/slide5.xml"/><Relationship Id="rId89" Type="http://schemas.openxmlformats.org/officeDocument/2006/relationships/slide" Target="slides/slide6.xml"/><Relationship Id="rId90" Type="http://schemas.openxmlformats.org/officeDocument/2006/relationships/slide" Target="slides/slide7.xml"/><Relationship Id="rId91" Type="http://schemas.openxmlformats.org/officeDocument/2006/relationships/slide" Target="slides/slide8.xml"/><Relationship Id="rId92" Type="http://schemas.openxmlformats.org/officeDocument/2006/relationships/slide" Target="slides/slide9.xml"/><Relationship Id="rId93" Type="http://schemas.openxmlformats.org/officeDocument/2006/relationships/slide" Target="slides/slide10.xml"/><Relationship Id="rId94" Type="http://schemas.openxmlformats.org/officeDocument/2006/relationships/slide" Target="slides/slide11.xml"/><Relationship Id="rId95" Type="http://schemas.openxmlformats.org/officeDocument/2006/relationships/slide" Target="slides/slide12.xml"/><Relationship Id="rId96" Type="http://schemas.openxmlformats.org/officeDocument/2006/relationships/slide" Target="slides/slide13.xml"/><Relationship Id="rId97" Type="http://schemas.openxmlformats.org/officeDocument/2006/relationships/slide" Target="slides/slide14.xml"/><Relationship Id="rId9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dt" idx="8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ftr" idx="8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sldNum" idx="8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20F273-FF8F-473D-91B0-EDA2B79D664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7E7B91-C6EC-4685-8144-D26BE138D95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DC75A3-DCC0-41FA-9842-11D5C35B30C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A13CB7-A52D-4E18-9C5F-2BD3B12B14EE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F26AC3-8042-47AC-8222-52DDA32446D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FE5A2F-FBD3-4830-9733-F572B430586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6DB5E2-1A4B-46E8-9DE4-0A6732A867E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1A2AE0-FBEB-4AD2-81A0-F56F495DC82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7D2BA7-9D98-4190-B516-C9A4E29F382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90F416-F3FD-49CF-9F4C-6D62B847C06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2023D7-29B9-41EA-8F68-F6633FDEF81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56A732-5910-4E78-A99F-FA610B413D3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93E816-CC42-4634-8CB2-6C3D53F9904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B4F949-7A58-422C-8456-70A5B926B76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360" cy="307080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3B105F-8F04-48A2-AEEC-545E1BDE60F3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73E9DD3-F9B7-4DD0-A721-9440B81F17B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3EEDD1-586D-4B67-8AEA-04565E6ECE8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CEF21-3217-451B-9FAE-2E9D84D434C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271BDD0-4B46-478A-B64D-A840F1C570A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076F25-0156-447D-9371-A182574F968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123DA4-D9EA-42FB-8EF2-423C1B97D7A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2B0E754-8987-4282-8475-8BE1CCE2C04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303A98-CAE9-4021-A644-E182C50882A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E096337-11CB-4F1C-B1EB-B68133AAC08B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1018F1E-CBCC-4F4D-B5E2-F8A3452DBFB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9D243A-4CCE-42D6-942E-BA45DF74E88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6F4213-37BE-4E05-9D4F-72198043B8CA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B43F556-3F12-4BD6-A15C-079221686FFC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4937E1F-F9AE-4B32-A058-AAAE1023CEA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83398B6-D3DF-4626-B2FF-0F4C1562D9EA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624F0BD-668E-4C08-B2A9-3F26F399D5A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039D736-A0D2-49DE-8314-193A11977B0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08E8C9B-5A00-49F5-B5D6-875A8F1835AB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09AED89-EDFE-4D3F-9953-9D59AF1AB54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793DB07-EA55-4A68-98E2-3DF425520C5E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10C6A80-59C4-4835-BCD1-6A6D7333527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BECC5741-6566-4F3C-83E4-842937784ADD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A63260E-E829-4F74-BE39-2C9B3D6ED00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E7C1AE8-8585-46DC-BEF9-1D6D70CD7B6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4DC3348-118F-4070-B9DC-5F6365E601B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CE4E9B7-67E3-4997-A5AC-C1A09D99F81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EAE75E0-CC05-478F-91D4-6B78865C8B3F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73BABA5-C7B8-44CB-9D3C-58376CB9C56A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CED9D31-E32F-4F66-9D47-C5BCE218A4AE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D189A0F-2603-4D22-97BD-9C3F98FDCFE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248D3F08-D7EE-4C8E-B790-A5456FF48C4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DD5F2D8-FB95-46FB-A585-94D37A4A7044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AA5D0F8-110C-4AA2-BBEA-FC938E36199E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6B6138A-419D-45F3-8A38-DC0ABB325A09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5F23109-E19F-462C-B81F-C139A9931BA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82F1701-90F9-4FFE-B0E1-FBDA2168506F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3F9F5AA4-AD95-4BA0-91B0-B67F1B6618EA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8CCE3C4-FA15-41E1-93C0-5C1B75B99E96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7BC27BB3-26E3-4290-9BFA-1CB623A50DCC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0A4595B8-9781-4857-B7DC-D07DC103EED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1C38111-C82E-4045-9913-4FD859C5E5A3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82A8FCF0-9F15-4161-8D35-ED145667F7BA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55793A3B-F530-420E-9E9C-0571015DB34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D797A9AB-90B4-430B-A636-D65967D0C78A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ABCDEBB6-C14D-4F2D-AB6C-400A1B77229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7A9C3BA0-935C-49EE-9AE0-0FD837C4D31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3E0A404-3BC7-4555-937F-04EE8C73BCC6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86524852-E86A-45C0-B04F-A0DA90F3295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FDC5008F-B65E-4F94-860C-EA8C23456077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E92E01B-2078-4D90-8CFD-6E99AED1187A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DF65216-02E0-440F-808B-153ACDC5659E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B723CA1-BDF8-49FE-8058-9BA12F4BABCB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5A80EB10-313F-47CD-BF6E-8DC1E1CA74A7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89E65CD-8286-4AAB-A0B0-C8C00942E841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5"/>
          </p:nvPr>
        </p:nvSpPr>
        <p:spPr/>
        <p:txBody>
          <a:bodyPr/>
          <a:p>
            <a:fld id="{ECEE75F1-2DA9-4044-A0F1-0975196ADC8E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660A98D-61C9-4CAE-BC7D-1B81982D810E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ACC5335E-368D-47F9-B747-CA7B46C1F539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F2F778CA-20A7-4A88-9B75-64BD1336C98A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A38BF8AF-C55D-472F-9DA7-49A854C88158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BCFEB39E-A7A2-4B2F-B324-6AA6ECFB2C5B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CF4B327C-33D1-4410-8AA5-C16EE84948B3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75F72AC-633E-44DD-8591-8179DF2837C6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24797ACC-27D2-43EE-837C-468BC8C91CCA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6D4871A0-A319-414A-9F1B-FF2B02026AEA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C37F403A-1138-4BFF-8498-EA6A2A9CD7D6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0FF3F72F-C097-459E-B1CF-1DA68A22DD01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B397008D-189B-4A67-8756-7ADEC8C55FFF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BBFD4295-C9FE-4E29-902E-1A7C47DED37A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0ECA1BC-D936-49DD-80F2-E9F30A03BC7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DDAA5158-263F-4CCE-8919-EA1FDAA4151F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F272E47F-6ABA-48C5-9904-7A2154C622A2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3B68355C-2432-40BF-BE0C-A0E82782CF12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FCD16FAC-4D3A-420F-A090-959D986B8A33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94FBEF3F-5614-440F-8AF2-DB679A1E0990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BDF319C7-6C1B-423F-BC2A-FAB0701C9608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2836ECD9-D04D-4743-BA2F-BEFA23BDFF01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3"/>
          </p:nvPr>
        </p:nvSpPr>
        <p:spPr/>
        <p:txBody>
          <a:bodyPr/>
          <a:p>
            <a:fld id="{9BD8F094-A536-441D-ABB5-9AAFDFD1292E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57C6AA6A-7C94-478E-AA23-8547B4A53693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81C4A526-E38F-452D-9696-5F772E021A89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FF6F2B90-A2EC-45EA-B794-2B871E7B696B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89CD02F2-C5AB-4E22-BDE1-8EAE750164A1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5B7072FF-CC98-47BE-9980-45C5F143E979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9"/>
          </p:nvPr>
        </p:nvSpPr>
        <p:spPr/>
        <p:txBody>
          <a:bodyPr/>
          <a:p>
            <a:fld id="{3D40F374-3C2B-46DB-965C-EC07A9E4E3B9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001AF144-7B45-42EE-A71C-129086DC2AA5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1"/>
          </p:nvPr>
        </p:nvSpPr>
        <p:spPr/>
        <p:txBody>
          <a:bodyPr/>
          <a:p>
            <a:fld id="{BF5706AA-59BD-4485-B6F4-3471A8BE018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70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1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2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3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4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5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6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7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8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9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0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1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82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83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4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F83DE9-4153-4A1C-AD01-9B14399DDF4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1DD7DB-47E5-4D91-A9C8-A22B84A9F18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73EC6F-5380-4034-AB50-5CF3EB3E77A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2E17B9-62ED-4439-9650-081A8C4016D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94AA94-1D29-482E-8036-23192E6A0BA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29616B-B9E1-4C81-A54C-D62E1EB0A91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08F659-AB2A-4815-843F-6B86F2E34C3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334352-AB20-4FC4-BADA-7C8C1C26982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1D3905-4DEC-49E8-8BC4-DCF93EBC5F2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03F01-632F-4FE5-A8BE-1577B10FAE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CC23D4-CB72-40B9-B400-A2FFFCDFE84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CC871F-807A-404E-A26F-1B120122C4E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D6DA8E-7416-4692-9629-0CCC6528041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4B47C8-586E-4E9B-9D46-0DFF76571E4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45C808-EAA2-423B-831A-10D07CAC69F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60E803-2122-4B93-BA7C-29EEF6E3A36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07185D-E142-4490-9B7F-39B800BBCF7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ED0571-F251-4440-B4A0-B1BC16F5E47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1A99A1-EDBF-4EBD-AFA9-FD45EA4C277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09D215-C253-4011-A754-FEB2B8CDA7F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776839-1523-48FB-B909-974BB0AB369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1B2083-52C1-426D-9411-521061BE592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902EEC-A21C-4EFE-91E4-D3323392551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26D761-D0D7-4E1E-B2AA-576BA8E9E5B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BEB8CA-AA74-4459-95DE-479809AF851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11F282-ED22-4B22-9A20-B8982CEE1B7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999E24-738B-4711-93F6-050AC6FB553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CC3F40-DC69-4945-BA9D-E1B09327552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2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8A2CAE-BB23-417B-AA09-94ED924E1BB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97ED37-CA5D-4500-A8A8-977364CF288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435B80-E664-481A-B07B-F34935ADFA3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3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3291E5-FCE3-46BB-8FC6-1A9C650F099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38EA6D-15FE-4E53-87B4-0FCAC40F76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FB22B2-4088-4FFC-9812-7F19E7C5418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3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366C7B-AEC3-40B6-A124-C7D7C26F11A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5F7CB3-DFDF-42C0-9950-2112C6698C3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E07F7F-0845-4F34-A3EE-37AA35E0E61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3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A69030-A2C0-433D-B779-29B88A94C7A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43C925-1D61-4D9D-B41E-6F990BBD23F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7A3BB-EE01-445D-8800-FDEF2E51D21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F9177-5F09-4052-8CEB-7CAACA9B6AF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sldNum" idx="4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6B00F9-F79F-4326-A613-6EEEF4577B6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4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9AF78D-A26B-4D55-9A21-0CE333965AD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4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457FBF-3D5D-4166-8397-DE4C59FC5A9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F36E69-4D4B-49B5-A054-402A177A772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4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214B7C-47CD-4F85-B301-B7A4FC437BC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4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D4F0C4-6D67-47DC-A483-8D94E142C16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4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60B92D-56D8-4742-A611-1185E756897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A0F735-D957-4322-8EEB-EB861C786DA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sldNum" idx="5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D68937-89A6-4AB4-983A-9601FA4E869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5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8EB48D-EE3E-44DC-8EE6-93DD2A26934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5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79CBC9-4166-418A-B1CC-C82BA4F0DDC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sldNum" idx="5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E43E9A-D08F-4BAC-86F8-8E2B7274491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5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EF63C2-C56B-4B41-AB60-0E99D2F070D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DCB5D3-2B21-49EE-8E88-1DAA8443EF0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5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59A12B-D1D9-4947-AA21-2700017AF8C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sldNum" idx="5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A23B13-7115-42DF-9D60-C08227EE83D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03ED1F-9FC2-44CC-83BC-87FC84B1B0C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5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183E08-A23D-469D-9A53-3F73F851416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6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4FE626-C7D7-4F83-ABAA-8C3F69B18C8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6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2D6E0C-8FDC-46E3-AFCF-974483B61C8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sldNum" idx="6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E042C1-7CA1-4344-99F7-B8973D35F92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ldNum" idx="6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62A87D-75B1-4F2B-818E-D7233C95683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6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76A90B-CCE4-49AB-8145-0F314981AF6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Num" idx="6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7D25DA-4C19-48F8-A384-C5672418036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  <p:sldLayoutId id="2147483778" r:id="rId3"/>
    <p:sldLayoutId id="2147483779" r:id="rId4"/>
    <p:sldLayoutId id="2147483780" r:id="rId5"/>
    <p:sldLayoutId id="2147483781" r:id="rId6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6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C18F2B-0DEF-41B6-B06A-909602F9838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sldNum" idx="6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C352CA-BF1C-48F2-8CAD-86ACFD28685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sldNum" idx="6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855C22-0E11-40A8-9D84-BF77F3F10BC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ldNum" idx="6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0DE4FA-7175-4369-A0FA-01A1A393B04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DAB9F9-E3F2-4E43-912A-507559C8E03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sldNum" idx="7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6D2737-DFCD-4BAF-ACFF-A1F0BE9F1E1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ldNum" idx="72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DAC99C-55A6-4735-A45B-EC9317B888B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sldNum" idx="73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CAE906-78B8-4F9B-B21E-ACF8BD8AEB3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Num" idx="74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13FDE6-0C09-472D-A1E7-B6E43E86790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7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175CBE-602E-4257-84AB-FE0A6D2FF8A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sldNum" idx="76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930F24-99C2-4E2E-A173-B8F34628E2D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sldNum" idx="77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7E34EF-07E7-4A6D-A463-57263D18F0B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Num" idx="78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BADC67-F87A-4389-B119-06F8E0BBEBC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Num" idx="79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6AD318-870D-4602-8428-03B565B8DBB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;p9"/>
          <p:cNvSpPr/>
          <p:nvPr/>
        </p:nvSpPr>
        <p:spPr>
          <a:xfrm>
            <a:off x="4572000" y="0"/>
            <a:ext cx="4563000" cy="5139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sldNum" idx="80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42E0D8-60CE-41DF-847C-3D655F37E46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Num" idx="81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A87C61-B2DD-45B3-97FF-371448DF700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69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69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69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834480" y="527760"/>
            <a:ext cx="7465680" cy="17575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GQE-inspired QLBM</a:t>
            </a:r>
            <a:br>
              <a:rPr sz="2600"/>
            </a:b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75" name="Google Shape;56;p13"/>
          <p:cNvCxnSpPr/>
          <p:nvPr/>
        </p:nvCxnSpPr>
        <p:spPr>
          <a:xfrm>
            <a:off x="204480" y="230472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376" name="Google Shape;57;p13"/>
          <p:cNvCxnSpPr/>
          <p:nvPr/>
        </p:nvCxnSpPr>
        <p:spPr>
          <a:xfrm>
            <a:off x="204480" y="39488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77" name="PlaceHolder 2"/>
          <p:cNvSpPr>
            <a:spLocks noGrp="1"/>
          </p:cNvSpPr>
          <p:nvPr>
            <p:ph type="sldNum" idx="85"/>
          </p:nvPr>
        </p:nvSpPr>
        <p:spPr>
          <a:xfrm>
            <a:off x="8472600" y="466668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75EDEB-2ABE-4ED7-8A23-1F9E6D8A4F2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8" name="Google Shape;59;p13"/>
          <p:cNvSpPr/>
          <p:nvPr/>
        </p:nvSpPr>
        <p:spPr>
          <a:xfrm>
            <a:off x="1946880" y="3182040"/>
            <a:ext cx="524160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Will Buziak, Iris Bahar &amp; Pooja Rao</a:t>
            </a:r>
            <a:br>
              <a:rPr sz="1900"/>
            </a:b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4415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0" name="Google Shape;207;p28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1" name="PlaceHolder 2"/>
          <p:cNvSpPr>
            <a:spLocks noGrp="1"/>
          </p:cNvSpPr>
          <p:nvPr>
            <p:ph type="sldNum" idx="86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9A32ED-DE91-4DBD-8AEF-2955FFD7C5E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do Engineers want from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4415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Physicists have a compute problem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Highly complex multi-physics simulations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Moore’s law is dead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4" name="Google Shape;207;p 2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5" name="PlaceHolder 2"/>
          <p:cNvSpPr>
            <a:spLocks noGrp="1"/>
          </p:cNvSpPr>
          <p:nvPr>
            <p:ph type="sldNum" idx="87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A55313-797F-4195-AC1D-49AFFE3ABE2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do Engineers want from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1"/>
          <a:stretch/>
        </p:blipFill>
        <p:spPr>
          <a:xfrm>
            <a:off x="3666960" y="2689560"/>
            <a:ext cx="4331520" cy="2148840"/>
          </a:xfrm>
          <a:prstGeom prst="rect">
            <a:avLst/>
          </a:prstGeom>
          <a:ln w="0">
            <a:noFill/>
          </a:ln>
        </p:spPr>
      </p:pic>
      <p:sp>
        <p:nvSpPr>
          <p:cNvPr id="388" name=""/>
          <p:cNvSpPr/>
          <p:nvPr/>
        </p:nvSpPr>
        <p:spPr>
          <a:xfrm>
            <a:off x="7617600" y="4822200"/>
            <a:ext cx="45468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[3]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4415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Natural candidates for optimization offered by Quantum Algorithms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Partial Differential Equation solvers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Molecule interactions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- Material Properties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- Fluid dynamics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High-Energy physics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90" name="Google Shape;207;p 3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1" name="PlaceHolder 2"/>
          <p:cNvSpPr>
            <a:spLocks noGrp="1"/>
          </p:cNvSpPr>
          <p:nvPr>
            <p:ph type="sldNum" idx="88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A0235C-C3A9-49D2-9088-FF3DA737E19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kind of problems map to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4415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Navier-Stokes Equations are PDEs that describe the molecular physics of fluid simulations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Adapted to a huge variety of application problems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Can be coupled with other expressions to model more complex multi-physics behavior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94" name="Google Shape;207;p 11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5" name="PlaceHolder 2"/>
          <p:cNvSpPr>
            <a:spLocks noGrp="1"/>
          </p:cNvSpPr>
          <p:nvPr>
            <p:ph type="sldNum" idx="89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6BC719-A3B1-4598-83C0-5F4D621D2EA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Classical Fluid Simulation is Complex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1"/>
          <a:stretch/>
        </p:blipFill>
        <p:spPr>
          <a:xfrm>
            <a:off x="4800600" y="2990880"/>
            <a:ext cx="2796840" cy="2103480"/>
          </a:xfrm>
          <a:prstGeom prst="rect">
            <a:avLst/>
          </a:prstGeom>
          <a:ln w="0">
            <a:noFill/>
          </a:ln>
        </p:spPr>
      </p:pic>
      <p:sp>
        <p:nvSpPr>
          <p:cNvPr id="398" name=""/>
          <p:cNvSpPr/>
          <p:nvPr/>
        </p:nvSpPr>
        <p:spPr>
          <a:xfrm>
            <a:off x="7617600" y="4822200"/>
            <a:ext cx="45468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[4]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2363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Instead of modeling the position for each molecule at each moment in time, we can: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Discretize our domain into “mesoscopic” nodes that model the approximate microscopic molecular interactions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nodes then “collide” and “stream” information to each other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0" name="Google Shape;207;p 5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1" name="PlaceHolder 2"/>
          <p:cNvSpPr>
            <a:spLocks noGrp="1"/>
          </p:cNvSpPr>
          <p:nvPr>
            <p:ph type="sldNum" idx="90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CA08EC-6151-4DDF-8E8E-BFC45C350D7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Lattice-Boltzmann Method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03" name="" descr=""/>
          <p:cNvPicPr/>
          <p:nvPr/>
        </p:nvPicPr>
        <p:blipFill>
          <a:blip r:embed="rId1"/>
          <a:stretch/>
        </p:blipFill>
        <p:spPr>
          <a:xfrm>
            <a:off x="5766480" y="3272400"/>
            <a:ext cx="1532520" cy="1793160"/>
          </a:xfrm>
          <a:prstGeom prst="rect">
            <a:avLst/>
          </a:prstGeom>
          <a:ln w="0">
            <a:noFill/>
          </a:ln>
        </p:spPr>
      </p:pic>
      <p:pic>
        <p:nvPicPr>
          <p:cNvPr id="404" name="" descr=""/>
          <p:cNvPicPr/>
          <p:nvPr/>
        </p:nvPicPr>
        <p:blipFill>
          <a:blip r:embed="rId2"/>
          <a:srcRect l="0" t="18239" r="7" b="0"/>
          <a:stretch/>
        </p:blipFill>
        <p:spPr>
          <a:xfrm>
            <a:off x="1636200" y="3043800"/>
            <a:ext cx="3654720" cy="2045160"/>
          </a:xfrm>
          <a:prstGeom prst="rect">
            <a:avLst/>
          </a:prstGeom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7315200" y="4752000"/>
            <a:ext cx="455760" cy="45576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[5]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280" cy="4419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Fluid properties can be encoded in the amplitudes of the quantum states and initial conditions transform into a quantum state vector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QLBM algorithm can then be broken down into four steps that evolve the system: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Encoding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Collide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Stream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Calculate macroscopic variables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7" name="Google Shape;207;p 6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8" name="PlaceHolder 2"/>
          <p:cNvSpPr>
            <a:spLocks noGrp="1"/>
          </p:cNvSpPr>
          <p:nvPr>
            <p:ph type="sldNum" idx="91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82FBD7-DBA6-48C7-984D-16C197439AB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520" cy="554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Lattice-Boltzmann Method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0" name="" descr=""/>
          <p:cNvPicPr/>
          <p:nvPr/>
        </p:nvPicPr>
        <p:blipFill>
          <a:blip r:embed="rId1"/>
          <a:stretch/>
        </p:blipFill>
        <p:spPr>
          <a:xfrm>
            <a:off x="4726800" y="3012120"/>
            <a:ext cx="4052160" cy="168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QLBM Issues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8760" cy="4118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Issues with the hardware: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To effectively simulate these systems, we need 100s or 1000s of lattice sites (qubits)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Must be reasonably error-free / fault-tolerant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Requires lots of shots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 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</a:t>
            </a: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Therefore, QLBM becomes difficult to deploy on real quantum hardware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13" name="Google Shape;207;p 10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14" name="PlaceHolder 3"/>
          <p:cNvSpPr>
            <a:spLocks noGrp="1"/>
          </p:cNvSpPr>
          <p:nvPr>
            <p:ph type="sldNum" idx="92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2ADDB6-4045-404B-8ED5-A70DD0714E9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VQA &amp; GQE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8760" cy="4118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Variational Quantum Algorithms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(VQAs)</a:t>
            </a: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utilize classical processing to optimize an encoded problem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Several issues with scaling to large problem sizes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Informed Machine Learning (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QIML</a:t>
            </a: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techniques take a similar approach, but utilize classical ML with cost functions that tailor the optimization: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Generative Quantum Eigensolvers</a:t>
            </a:r>
            <a:r>
              <a:rPr b="0" lang="en-US" sz="18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[6]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(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GQEs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utilize Generative Pre-trained Transformers (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GPTs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to determine the entire circuit structure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17" name="Google Shape;207;p 4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18" name="PlaceHolder 3"/>
          <p:cNvSpPr>
            <a:spLocks noGrp="1"/>
          </p:cNvSpPr>
          <p:nvPr>
            <p:ph type="sldNum" idx="93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202F87-81E7-41B3-8D09-2E0166E26C2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 circuit generation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8760" cy="13770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 utilizes a transformer similarly to LLMs by employing a “dictionary” of “words” (A set of quantum gates)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circuit is then processed on the QPU and evaluated with a cost function that is then fed back into the transformer model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21" name="Google Shape;207;p 9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22" name="PlaceHolder 3"/>
          <p:cNvSpPr>
            <a:spLocks noGrp="1"/>
          </p:cNvSpPr>
          <p:nvPr>
            <p:ph type="sldNum" idx="94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DB74C8-84D3-4837-82F4-0F85A28BE9F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423" name="" descr=""/>
          <p:cNvPicPr/>
          <p:nvPr/>
        </p:nvPicPr>
        <p:blipFill>
          <a:blip r:embed="rId1"/>
          <a:stretch/>
        </p:blipFill>
        <p:spPr>
          <a:xfrm>
            <a:off x="1828800" y="2837880"/>
            <a:ext cx="5484960" cy="1961280"/>
          </a:xfrm>
          <a:prstGeom prst="rect">
            <a:avLst/>
          </a:prstGeom>
          <a:ln w="54720">
            <a:noFill/>
          </a:ln>
        </p:spPr>
      </p:pic>
      <p:sp>
        <p:nvSpPr>
          <p:cNvPr id="424" name=""/>
          <p:cNvSpPr/>
          <p:nvPr/>
        </p:nvSpPr>
        <p:spPr>
          <a:xfrm>
            <a:off x="7543800" y="4572000"/>
            <a:ext cx="455760" cy="45576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[6]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Distributed Quantum Computing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080" cy="18342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Distributed Quantum architecture combines different qubit technologies into a heterogeneous QPU structure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compilation</a:t>
            </a:r>
            <a:r>
              <a:rPr b="0" lang="en-US" sz="20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[7]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becomes more complex as you begin to leverage inter-QPU communication costs with error rates on hardware with different qubit counts and tradeoffs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27" name="Google Shape;207;p 14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28" name="PlaceHolder 3"/>
          <p:cNvSpPr>
            <a:spLocks noGrp="1"/>
          </p:cNvSpPr>
          <p:nvPr>
            <p:ph type="sldNum" idx="95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E98461-82B0-43E7-A945-FA96932E7EB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257560" y="384984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2351520" y="392832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 flipV="1">
            <a:off x="2453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 flipV="1">
            <a:off x="2570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 flipV="1">
            <a:off x="2687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 flipV="1">
            <a:off x="2804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 flipV="1">
            <a:off x="2921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 flipV="1">
            <a:off x="3038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 flipV="1">
            <a:off x="3155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 flipV="1">
            <a:off x="2453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 flipV="1">
            <a:off x="2570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 flipV="1">
            <a:off x="2687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 flipV="1">
            <a:off x="2804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 flipV="1">
            <a:off x="2921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 flipV="1">
            <a:off x="3038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 flipV="1">
            <a:off x="3155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 flipV="1">
            <a:off x="2147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V="1">
            <a:off x="2148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 flipV="1">
            <a:off x="2148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 flipV="1">
            <a:off x="2149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 flipV="1">
            <a:off x="2149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 flipV="1">
            <a:off x="2150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 flipV="1">
            <a:off x="2151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 flipV="1">
            <a:off x="3317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 flipV="1">
            <a:off x="3317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 flipV="1">
            <a:off x="3318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flipV="1">
            <a:off x="3318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 flipV="1">
            <a:off x="3319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 flipV="1">
            <a:off x="3320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 flipV="1">
            <a:off x="3321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9" name="" descr=""/>
          <p:cNvPicPr/>
          <p:nvPr/>
        </p:nvPicPr>
        <p:blipFill>
          <a:blip r:embed="rId1"/>
          <a:stretch/>
        </p:blipFill>
        <p:spPr>
          <a:xfrm>
            <a:off x="2473920" y="401328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460" name=""/>
          <p:cNvSpPr/>
          <p:nvPr/>
        </p:nvSpPr>
        <p:spPr>
          <a:xfrm>
            <a:off x="3841920" y="2734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3935880" y="2812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 flipV="1">
            <a:off x="4037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 flipV="1">
            <a:off x="4154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 flipV="1">
            <a:off x="4271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flipV="1">
            <a:off x="4388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flipV="1">
            <a:off x="4505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flipV="1">
            <a:off x="4622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flipV="1">
            <a:off x="4739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 flipV="1">
            <a:off x="4037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 flipV="1">
            <a:off x="4154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 flipV="1">
            <a:off x="4271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 flipV="1">
            <a:off x="4388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 flipV="1">
            <a:off x="4505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 flipV="1">
            <a:off x="4622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flipV="1">
            <a:off x="4739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flipV="1">
            <a:off x="3731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flipV="1">
            <a:off x="3732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flipV="1">
            <a:off x="3733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flipV="1">
            <a:off x="3733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 flipV="1">
            <a:off x="3734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 flipV="1">
            <a:off x="3735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 flipV="1">
            <a:off x="3736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 flipV="1">
            <a:off x="4901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V="1">
            <a:off x="4902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 flipV="1">
            <a:off x="4902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 flipV="1">
            <a:off x="4903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 flipV="1">
            <a:off x="4903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 flipV="1">
            <a:off x="4904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 flipV="1">
            <a:off x="4905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2"/>
          <a:stretch/>
        </p:blipFill>
        <p:spPr>
          <a:xfrm>
            <a:off x="4058280" y="2897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491" name=""/>
          <p:cNvSpPr/>
          <p:nvPr/>
        </p:nvSpPr>
        <p:spPr>
          <a:xfrm flipV="1">
            <a:off x="3425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5461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5555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3"/>
          <a:stretch/>
        </p:blipFill>
        <p:spPr>
          <a:xfrm>
            <a:off x="5678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523" name=""/>
          <p:cNvSpPr/>
          <p:nvPr/>
        </p:nvSpPr>
        <p:spPr>
          <a:xfrm>
            <a:off x="5461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5555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53" name="" descr=""/>
          <p:cNvPicPr/>
          <p:nvPr/>
        </p:nvPicPr>
        <p:blipFill>
          <a:blip r:embed="rId4"/>
          <a:stretch/>
        </p:blipFill>
        <p:spPr>
          <a:xfrm>
            <a:off x="5678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554" name=""/>
          <p:cNvSpPr/>
          <p:nvPr/>
        </p:nvSpPr>
        <p:spPr>
          <a:xfrm flipV="1">
            <a:off x="2804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5009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An optimized Distributed Quantum System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080" cy="18342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There is lots of interest in placing the GPU at the center of the DQC to accelerate any classical processing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structure is an excellent candidate for quantum algorithms that would otherwise be infeasible to scale to real hardware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58" name="Google Shape;207;p 7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59" name="PlaceHolder 3"/>
          <p:cNvSpPr>
            <a:spLocks noGrp="1"/>
          </p:cNvSpPr>
          <p:nvPr>
            <p:ph type="sldNum" idx="96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C4C69B-E8C1-4D3B-A06B-8419231B7AC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257560" y="384984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2351520" y="392832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 flipV="1">
            <a:off x="2453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 flipV="1">
            <a:off x="2570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 flipV="1">
            <a:off x="2687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 flipV="1">
            <a:off x="2804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 flipV="1">
            <a:off x="2921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 flipV="1">
            <a:off x="3038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 flipV="1">
            <a:off x="3155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 flipV="1">
            <a:off x="2453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 flipV="1">
            <a:off x="2570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 flipV="1">
            <a:off x="2687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 flipV="1">
            <a:off x="2804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 flipV="1">
            <a:off x="2921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 flipV="1">
            <a:off x="3038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 flipV="1">
            <a:off x="3155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2147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2148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flipV="1">
            <a:off x="2148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 flipV="1">
            <a:off x="2149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flipV="1">
            <a:off x="2149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flipV="1">
            <a:off x="2150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flipV="1">
            <a:off x="2151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 flipV="1">
            <a:off x="3317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 flipV="1">
            <a:off x="3317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 flipV="1">
            <a:off x="3318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 flipV="1">
            <a:off x="3318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 flipV="1">
            <a:off x="3319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 flipV="1">
            <a:off x="3320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 flipV="1">
            <a:off x="3321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0" name="" descr=""/>
          <p:cNvPicPr/>
          <p:nvPr/>
        </p:nvPicPr>
        <p:blipFill>
          <a:blip r:embed="rId1"/>
          <a:stretch/>
        </p:blipFill>
        <p:spPr>
          <a:xfrm>
            <a:off x="2473920" y="401328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591" name=""/>
          <p:cNvSpPr/>
          <p:nvPr/>
        </p:nvSpPr>
        <p:spPr>
          <a:xfrm>
            <a:off x="3841920" y="2734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3935880" y="2812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 flipV="1">
            <a:off x="4037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 flipV="1">
            <a:off x="4154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 flipV="1">
            <a:off x="4271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 flipV="1">
            <a:off x="4388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 flipV="1">
            <a:off x="4505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 flipV="1">
            <a:off x="4622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 flipV="1">
            <a:off x="4739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 flipV="1">
            <a:off x="4037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 flipV="1">
            <a:off x="4154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 flipV="1">
            <a:off x="4271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 flipV="1">
            <a:off x="4388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 flipV="1">
            <a:off x="4505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 flipV="1">
            <a:off x="4622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 flipV="1">
            <a:off x="4739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 flipV="1">
            <a:off x="3731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 flipV="1">
            <a:off x="3732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 flipV="1">
            <a:off x="3733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 flipV="1">
            <a:off x="3733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 flipV="1">
            <a:off x="3734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 flipV="1">
            <a:off x="3735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 flipV="1">
            <a:off x="3736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 flipV="1">
            <a:off x="4901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 flipV="1">
            <a:off x="4902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 flipV="1">
            <a:off x="4902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 flipV="1">
            <a:off x="4903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 flipV="1">
            <a:off x="4903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 flipV="1">
            <a:off x="4904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 flipV="1">
            <a:off x="4905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1" name="" descr=""/>
          <p:cNvPicPr/>
          <p:nvPr/>
        </p:nvPicPr>
        <p:blipFill>
          <a:blip r:embed="rId2"/>
          <a:stretch/>
        </p:blipFill>
        <p:spPr>
          <a:xfrm>
            <a:off x="4058280" y="2897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622" name=""/>
          <p:cNvSpPr/>
          <p:nvPr/>
        </p:nvSpPr>
        <p:spPr>
          <a:xfrm flipV="1">
            <a:off x="3425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5461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5555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53" name="" descr=""/>
          <p:cNvPicPr/>
          <p:nvPr/>
        </p:nvPicPr>
        <p:blipFill>
          <a:blip r:embed="rId3"/>
          <a:stretch/>
        </p:blipFill>
        <p:spPr>
          <a:xfrm>
            <a:off x="5678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654" name=""/>
          <p:cNvSpPr/>
          <p:nvPr/>
        </p:nvSpPr>
        <p:spPr>
          <a:xfrm>
            <a:off x="5461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5555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4" name="" descr=""/>
          <p:cNvPicPr/>
          <p:nvPr/>
        </p:nvPicPr>
        <p:blipFill>
          <a:blip r:embed="rId4"/>
          <a:stretch/>
        </p:blipFill>
        <p:spPr>
          <a:xfrm>
            <a:off x="5678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685" name=""/>
          <p:cNvSpPr/>
          <p:nvPr/>
        </p:nvSpPr>
        <p:spPr>
          <a:xfrm flipV="1">
            <a:off x="2804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5009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7" name="" descr=""/>
          <p:cNvPicPr/>
          <p:nvPr/>
        </p:nvPicPr>
        <p:blipFill>
          <a:blip r:embed="rId5"/>
          <a:stretch/>
        </p:blipFill>
        <p:spPr>
          <a:xfrm>
            <a:off x="3904200" y="3995640"/>
            <a:ext cx="988200" cy="706680"/>
          </a:xfrm>
          <a:prstGeom prst="rect">
            <a:avLst/>
          </a:prstGeom>
          <a:ln w="54720">
            <a:noFill/>
          </a:ln>
        </p:spPr>
      </p:pic>
      <p:sp>
        <p:nvSpPr>
          <p:cNvPr id="688" name=""/>
          <p:cNvSpPr/>
          <p:nvPr/>
        </p:nvSpPr>
        <p:spPr>
          <a:xfrm>
            <a:off x="4770000" y="4537800"/>
            <a:ext cx="455760" cy="45576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[8]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>
            <a:off x="228600" y="2743200"/>
            <a:ext cx="2513160" cy="228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GQE-inspired QLBM deployed on DQC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080" cy="18342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 hopes to outpace a classical LBM solution, we could pair GQE with a QLBM implementation and seek to deploy onto a heterogeneous DQC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We can leverage CUDA-Q parallelization to obtain drastic speedup compared to a CPU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92" name="Google Shape;207;p 8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3" name="PlaceHolder 3"/>
          <p:cNvSpPr>
            <a:spLocks noGrp="1"/>
          </p:cNvSpPr>
          <p:nvPr>
            <p:ph type="sldNum" idx="97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27FF3E-FC7D-40B9-B28F-F8AF49CE0F1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4345560" y="384984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4439520" y="392832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 flipV="1">
            <a:off x="4541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 flipV="1">
            <a:off x="4658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 flipV="1">
            <a:off x="4775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 flipV="1">
            <a:off x="4892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 flipV="1">
            <a:off x="5009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 flipV="1">
            <a:off x="5126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 flipV="1">
            <a:off x="5243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 flipV="1">
            <a:off x="4541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 flipV="1">
            <a:off x="4658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 flipV="1">
            <a:off x="4775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 flipV="1">
            <a:off x="4892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 flipV="1">
            <a:off x="5009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 flipV="1">
            <a:off x="5126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 flipV="1">
            <a:off x="5243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 flipV="1">
            <a:off x="4235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 flipV="1">
            <a:off x="4236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 flipV="1">
            <a:off x="4236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 flipV="1">
            <a:off x="4237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 flipV="1">
            <a:off x="4237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 flipV="1">
            <a:off x="4238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 flipV="1">
            <a:off x="4239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 flipV="1">
            <a:off x="5405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 flipV="1">
            <a:off x="5405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 flipV="1">
            <a:off x="5406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 flipV="1">
            <a:off x="5406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 flipV="1">
            <a:off x="5407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 flipV="1">
            <a:off x="5408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 flipV="1">
            <a:off x="5409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4" name="" descr=""/>
          <p:cNvPicPr/>
          <p:nvPr/>
        </p:nvPicPr>
        <p:blipFill>
          <a:blip r:embed="rId1"/>
          <a:stretch/>
        </p:blipFill>
        <p:spPr>
          <a:xfrm>
            <a:off x="4561920" y="401328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725" name=""/>
          <p:cNvSpPr/>
          <p:nvPr/>
        </p:nvSpPr>
        <p:spPr>
          <a:xfrm>
            <a:off x="5929920" y="2734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6023880" y="2812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 flipV="1">
            <a:off x="6125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 flipV="1">
            <a:off x="6242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 flipV="1">
            <a:off x="6359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 flipV="1">
            <a:off x="6476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 flipV="1">
            <a:off x="6593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 flipV="1">
            <a:off x="6710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 flipV="1">
            <a:off x="6827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 flipV="1">
            <a:off x="6125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 flipV="1">
            <a:off x="6242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 flipV="1">
            <a:off x="6359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 flipV="1">
            <a:off x="6476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 flipV="1">
            <a:off x="6593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 flipV="1">
            <a:off x="6710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 flipV="1">
            <a:off x="6827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 flipV="1">
            <a:off x="5819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 flipV="1">
            <a:off x="5820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 flipV="1">
            <a:off x="5821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 flipV="1">
            <a:off x="5821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 flipV="1">
            <a:off x="5822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flipV="1">
            <a:off x="5823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 flipV="1">
            <a:off x="5824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 flipV="1">
            <a:off x="6989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V="1">
            <a:off x="6990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 flipV="1">
            <a:off x="6990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 flipV="1">
            <a:off x="6991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 flipV="1">
            <a:off x="6991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 flipV="1">
            <a:off x="6992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 flipV="1">
            <a:off x="6993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55" name="" descr=""/>
          <p:cNvPicPr/>
          <p:nvPr/>
        </p:nvPicPr>
        <p:blipFill>
          <a:blip r:embed="rId2"/>
          <a:stretch/>
        </p:blipFill>
        <p:spPr>
          <a:xfrm>
            <a:off x="6146280" y="2897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756" name=""/>
          <p:cNvSpPr/>
          <p:nvPr/>
        </p:nvSpPr>
        <p:spPr>
          <a:xfrm flipV="1">
            <a:off x="5513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7549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7643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 flipV="1">
            <a:off x="7745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 flipV="1">
            <a:off x="7862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 flipV="1">
            <a:off x="7979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 flipV="1">
            <a:off x="8096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 flipV="1">
            <a:off x="8213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 flipV="1">
            <a:off x="8330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 flipV="1">
            <a:off x="8447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 flipV="1">
            <a:off x="7745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 flipV="1">
            <a:off x="7862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 flipV="1">
            <a:off x="7979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 flipV="1">
            <a:off x="8096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 flipV="1">
            <a:off x="8213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 flipV="1">
            <a:off x="8330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 flipV="1">
            <a:off x="8447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 flipV="1">
            <a:off x="7439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 flipV="1">
            <a:off x="7440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 flipV="1">
            <a:off x="7441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 flipV="1">
            <a:off x="7441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 flipV="1">
            <a:off x="7442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 flipV="1">
            <a:off x="7443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 flipV="1">
            <a:off x="7444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 flipV="1">
            <a:off x="8609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 flipV="1">
            <a:off x="8610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 flipV="1">
            <a:off x="8610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 flipV="1">
            <a:off x="8611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 flipV="1">
            <a:off x="8611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 flipV="1">
            <a:off x="8612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 flipV="1">
            <a:off x="8613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7" name="" descr=""/>
          <p:cNvPicPr/>
          <p:nvPr/>
        </p:nvPicPr>
        <p:blipFill>
          <a:blip r:embed="rId3"/>
          <a:stretch/>
        </p:blipFill>
        <p:spPr>
          <a:xfrm>
            <a:off x="7766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788" name=""/>
          <p:cNvSpPr/>
          <p:nvPr/>
        </p:nvSpPr>
        <p:spPr>
          <a:xfrm>
            <a:off x="7549920" y="3850200"/>
            <a:ext cx="1059840" cy="96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7643880" y="3928680"/>
            <a:ext cx="875880" cy="79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flipV="1">
            <a:off x="7745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flipV="1">
            <a:off x="7862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flipV="1">
            <a:off x="7979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flipV="1">
            <a:off x="8096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V="1">
            <a:off x="8213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 flipV="1">
            <a:off x="8330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 flipV="1">
            <a:off x="8447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 flipV="1">
            <a:off x="7745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 flipV="1">
            <a:off x="7862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 flipV="1">
            <a:off x="7979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 flipV="1">
            <a:off x="8096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 flipV="1">
            <a:off x="8213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 flipV="1">
            <a:off x="8330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 flipV="1">
            <a:off x="8447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 flipV="1">
            <a:off x="7439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 flipV="1">
            <a:off x="7440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7441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 flipV="1">
            <a:off x="7441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 flipV="1">
            <a:off x="7442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 flipV="1">
            <a:off x="7443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 flipV="1">
            <a:off x="7444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 flipV="1">
            <a:off x="8609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 flipV="1">
            <a:off x="8610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 flipV="1">
            <a:off x="8610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 flipV="1">
            <a:off x="8611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 flipV="1">
            <a:off x="8611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 flipV="1">
            <a:off x="8612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8613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18" name="" descr=""/>
          <p:cNvPicPr/>
          <p:nvPr/>
        </p:nvPicPr>
        <p:blipFill>
          <a:blip r:embed="rId4"/>
          <a:stretch/>
        </p:blipFill>
        <p:spPr>
          <a:xfrm>
            <a:off x="7766280" y="4013640"/>
            <a:ext cx="621000" cy="623520"/>
          </a:xfrm>
          <a:prstGeom prst="rect">
            <a:avLst/>
          </a:prstGeom>
          <a:ln w="54720">
            <a:noFill/>
          </a:ln>
        </p:spPr>
      </p:pic>
      <p:sp>
        <p:nvSpPr>
          <p:cNvPr id="819" name=""/>
          <p:cNvSpPr/>
          <p:nvPr/>
        </p:nvSpPr>
        <p:spPr>
          <a:xfrm flipV="1">
            <a:off x="4892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7097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21" name="" descr=""/>
          <p:cNvPicPr/>
          <p:nvPr/>
        </p:nvPicPr>
        <p:blipFill>
          <a:blip r:embed="rId5"/>
          <a:stretch/>
        </p:blipFill>
        <p:spPr>
          <a:xfrm>
            <a:off x="5992200" y="3995640"/>
            <a:ext cx="988200" cy="706680"/>
          </a:xfrm>
          <a:prstGeom prst="rect">
            <a:avLst/>
          </a:prstGeom>
          <a:ln w="54720">
            <a:noFill/>
          </a:ln>
        </p:spPr>
      </p:pic>
      <p:pic>
        <p:nvPicPr>
          <p:cNvPr id="822" name="" descr=""/>
          <p:cNvPicPr/>
          <p:nvPr/>
        </p:nvPicPr>
        <p:blipFill>
          <a:blip r:embed="rId6"/>
          <a:stretch/>
        </p:blipFill>
        <p:spPr>
          <a:xfrm>
            <a:off x="571680" y="3200400"/>
            <a:ext cx="1532520" cy="1793160"/>
          </a:xfrm>
          <a:prstGeom prst="rect">
            <a:avLst/>
          </a:prstGeom>
          <a:ln w="0">
            <a:noFill/>
          </a:ln>
        </p:spPr>
      </p:pic>
      <p:sp>
        <p:nvSpPr>
          <p:cNvPr id="823" name=""/>
          <p:cNvSpPr/>
          <p:nvPr/>
        </p:nvSpPr>
        <p:spPr>
          <a:xfrm>
            <a:off x="2286000" y="4537800"/>
            <a:ext cx="455760" cy="45576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[5]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2971800" y="3429000"/>
            <a:ext cx="13716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1143000" y="2773800"/>
            <a:ext cx="1598760" cy="55548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GPT-inspired circuit optimization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520" cy="914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Sources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/>
          </p:nvPr>
        </p:nvSpPr>
        <p:spPr>
          <a:xfrm>
            <a:off x="343080" y="786960"/>
            <a:ext cx="8306280" cy="4415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[1] David Wawrzyniak, Josef Winter, Steffen Schmidt, Thomas Indinger, Christian F. JanSen Uwe Schramm and Nikolaus A. Adams. A quantum algorithm for the lattic-Boltzmann method advection-diffusion equation, In: </a:t>
            </a:r>
            <a:r>
              <a:rPr b="0" i="1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Computer Physics Communications 306 (2025) 109373.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[2] Solving Multiphysics with quantum computers. https://medium.com/qiskit/solving-multiphysics-with-quantum-computers-6307017b2cc5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[3] https://www.comsol.com/support/learning-center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[4] https://www1.grc.nasa.gov/beginners-guide-to-aeronautics/navier-strokes-equation/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[5] https://en.wikipedia.org/wiki/Lattice_Boltzmann_methods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[6] Kouhei Nakaji, Lasse Bjorn Kristensen, Ryota Kemmoku, et. al. The generative quantum eigensolver (GQE) and its application for ground state search, ArXiv 2025.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[7] Ruilin Zhou, Jinglei Cheng, Yuhang Gan, Junyu Liu and Chen Qian. Optimizing Compilation for Distributed Quantum Computing via Clustering and Annealing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[8] https://www.vecteezy.com/vector-art/15663056-gpu-graphic-card-icon-color-outline-vector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28" name="Google Shape;207;p 1"/>
          <p:cNvCxnSpPr/>
          <p:nvPr/>
        </p:nvCxnSpPr>
        <p:spPr>
          <a:xfrm>
            <a:off x="204480" y="721440"/>
            <a:ext cx="8744040" cy="93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29" name="PlaceHolder 3"/>
          <p:cNvSpPr>
            <a:spLocks noGrp="1"/>
          </p:cNvSpPr>
          <p:nvPr>
            <p:ph type="sldNum" idx="98"/>
          </p:nvPr>
        </p:nvSpPr>
        <p:spPr>
          <a:xfrm>
            <a:off x="8472600" y="4637160"/>
            <a:ext cx="53964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AEC04-86A6-4902-97ED-3B1682513AE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2025-12-01T12:35:15Z</dcterms:modified>
  <cp:revision>61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