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60.xml" ContentType="application/vnd.openxmlformats-officedocument.theme+xml"/>
  <Override PartName="/ppt/theme/theme18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78.xml" ContentType="application/vnd.openxmlformats-officedocument.theme+xml"/>
  <Override PartName="/ppt/theme/theme66.xml" ContentType="application/vnd.openxmlformats-officedocument.theme+xml"/>
  <Override PartName="/ppt/theme/theme77.xml" ContentType="application/vnd.openxmlformats-officedocument.theme+xml"/>
  <Override PartName="/ppt/theme/theme76.xml" ContentType="application/vnd.openxmlformats-officedocument.theme+xml"/>
  <Override PartName="/ppt/theme/theme75.xml" ContentType="application/vnd.openxmlformats-officedocument.theme+xml"/>
  <Override PartName="/ppt/theme/theme74.xml" ContentType="application/vnd.openxmlformats-officedocument.theme+xml"/>
  <Override PartName="/ppt/theme/theme73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47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7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4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30.xml" ContentType="application/vnd.openxmlformats-officedocument.presentationml.slide+xml"/>
  <Override PartName="/ppt/slides/slide4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  <p:sldMasterId id="2147483800" r:id="rId78"/>
  </p:sldMasterIdLst>
  <p:notesMasterIdLst>
    <p:notesMasterId r:id="rId79"/>
  </p:notesMasterIdLst>
  <p:sldIdLst>
    <p:sldId id="256" r:id="rId80"/>
    <p:sldId id="257" r:id="rId81"/>
    <p:sldId id="258" r:id="rId82"/>
    <p:sldId id="259" r:id="rId83"/>
    <p:sldId id="260" r:id="rId84"/>
    <p:sldId id="261" r:id="rId85"/>
    <p:sldId id="262" r:id="rId86"/>
    <p:sldId id="263" r:id="rId87"/>
    <p:sldId id="264" r:id="rId88"/>
    <p:sldId id="265" r:id="rId89"/>
    <p:sldId id="266" r:id="rId90"/>
    <p:sldId id="267" r:id="rId91"/>
    <p:sldId id="268" r:id="rId92"/>
    <p:sldId id="269" r:id="rId93"/>
    <p:sldId id="270" r:id="rId94"/>
    <p:sldId id="271" r:id="rId95"/>
    <p:sldId id="272" r:id="rId96"/>
    <p:sldId id="273" r:id="rId97"/>
    <p:sldId id="274" r:id="rId98"/>
    <p:sldId id="275" r:id="rId99"/>
    <p:sldId id="276" r:id="rId100"/>
    <p:sldId id="277" r:id="rId101"/>
    <p:sldId id="278" r:id="rId102"/>
    <p:sldId id="279" r:id="rId103"/>
    <p:sldId id="280" r:id="rId104"/>
    <p:sldId id="281" r:id="rId105"/>
    <p:sldId id="282" r:id="rId106"/>
    <p:sldId id="283" r:id="rId107"/>
    <p:sldId id="284" r:id="rId108"/>
    <p:sldId id="285" r:id="rId109"/>
    <p:sldId id="286" r:id="rId110"/>
    <p:sldId id="287" r:id="rId111"/>
    <p:sldId id="288" r:id="rId112"/>
    <p:sldId id="289" r:id="rId113"/>
    <p:sldId id="290" r:id="rId114"/>
    <p:sldId id="291" r:id="rId115"/>
    <p:sldId id="292" r:id="rId116"/>
    <p:sldId id="293" r:id="rId117"/>
    <p:sldId id="294" r:id="rId118"/>
    <p:sldId id="295" r:id="rId119"/>
    <p:sldId id="296" r:id="rId120"/>
    <p:sldId id="297" r:id="rId1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notesMaster" Target="notesMasters/notesMaster1.xml"/><Relationship Id="rId80" Type="http://schemas.openxmlformats.org/officeDocument/2006/relationships/slide" Target="slides/slide1.xml"/><Relationship Id="rId81" Type="http://schemas.openxmlformats.org/officeDocument/2006/relationships/slide" Target="slides/slide2.xml"/><Relationship Id="rId82" Type="http://schemas.openxmlformats.org/officeDocument/2006/relationships/slide" Target="slides/slide3.xml"/><Relationship Id="rId83" Type="http://schemas.openxmlformats.org/officeDocument/2006/relationships/slide" Target="slides/slide4.xml"/><Relationship Id="rId84" Type="http://schemas.openxmlformats.org/officeDocument/2006/relationships/slide" Target="slides/slide5.xml"/><Relationship Id="rId85" Type="http://schemas.openxmlformats.org/officeDocument/2006/relationships/slide" Target="slides/slide6.xml"/><Relationship Id="rId86" Type="http://schemas.openxmlformats.org/officeDocument/2006/relationships/slide" Target="slides/slide7.xml"/><Relationship Id="rId87" Type="http://schemas.openxmlformats.org/officeDocument/2006/relationships/slide" Target="slides/slide8.xml"/><Relationship Id="rId88" Type="http://schemas.openxmlformats.org/officeDocument/2006/relationships/slide" Target="slides/slide9.xml"/><Relationship Id="rId89" Type="http://schemas.openxmlformats.org/officeDocument/2006/relationships/slide" Target="slides/slide10.xml"/><Relationship Id="rId90" Type="http://schemas.openxmlformats.org/officeDocument/2006/relationships/slide" Target="slides/slide11.xml"/><Relationship Id="rId91" Type="http://schemas.openxmlformats.org/officeDocument/2006/relationships/slide" Target="slides/slide12.xml"/><Relationship Id="rId92" Type="http://schemas.openxmlformats.org/officeDocument/2006/relationships/slide" Target="slides/slide13.xml"/><Relationship Id="rId93" Type="http://schemas.openxmlformats.org/officeDocument/2006/relationships/slide" Target="slides/slide14.xml"/><Relationship Id="rId94" Type="http://schemas.openxmlformats.org/officeDocument/2006/relationships/slide" Target="slides/slide15.xml"/><Relationship Id="rId95" Type="http://schemas.openxmlformats.org/officeDocument/2006/relationships/slide" Target="slides/slide16.xml"/><Relationship Id="rId96" Type="http://schemas.openxmlformats.org/officeDocument/2006/relationships/slide" Target="slides/slide17.xml"/><Relationship Id="rId97" Type="http://schemas.openxmlformats.org/officeDocument/2006/relationships/slide" Target="slides/slide18.xml"/><Relationship Id="rId98" Type="http://schemas.openxmlformats.org/officeDocument/2006/relationships/slide" Target="slides/slide19.xml"/><Relationship Id="rId99" Type="http://schemas.openxmlformats.org/officeDocument/2006/relationships/slide" Target="slides/slide20.xml"/><Relationship Id="rId100" Type="http://schemas.openxmlformats.org/officeDocument/2006/relationships/slide" Target="slides/slide21.xml"/><Relationship Id="rId101" Type="http://schemas.openxmlformats.org/officeDocument/2006/relationships/slide" Target="slides/slide22.xml"/><Relationship Id="rId102" Type="http://schemas.openxmlformats.org/officeDocument/2006/relationships/slide" Target="slides/slide23.xml"/><Relationship Id="rId103" Type="http://schemas.openxmlformats.org/officeDocument/2006/relationships/slide" Target="slides/slide24.xml"/><Relationship Id="rId104" Type="http://schemas.openxmlformats.org/officeDocument/2006/relationships/slide" Target="slides/slide25.xml"/><Relationship Id="rId105" Type="http://schemas.openxmlformats.org/officeDocument/2006/relationships/slide" Target="slides/slide26.xml"/><Relationship Id="rId106" Type="http://schemas.openxmlformats.org/officeDocument/2006/relationships/slide" Target="slides/slide27.xml"/><Relationship Id="rId107" Type="http://schemas.openxmlformats.org/officeDocument/2006/relationships/slide" Target="slides/slide28.xml"/><Relationship Id="rId108" Type="http://schemas.openxmlformats.org/officeDocument/2006/relationships/slide" Target="slides/slide29.xml"/><Relationship Id="rId109" Type="http://schemas.openxmlformats.org/officeDocument/2006/relationships/slide" Target="slides/slide30.xml"/><Relationship Id="rId110" Type="http://schemas.openxmlformats.org/officeDocument/2006/relationships/slide" Target="slides/slide31.xml"/><Relationship Id="rId111" Type="http://schemas.openxmlformats.org/officeDocument/2006/relationships/slide" Target="slides/slide32.xml"/><Relationship Id="rId112" Type="http://schemas.openxmlformats.org/officeDocument/2006/relationships/slide" Target="slides/slide33.xml"/><Relationship Id="rId113" Type="http://schemas.openxmlformats.org/officeDocument/2006/relationships/slide" Target="slides/slide34.xml"/><Relationship Id="rId114" Type="http://schemas.openxmlformats.org/officeDocument/2006/relationships/slide" Target="slides/slide35.xml"/><Relationship Id="rId115" Type="http://schemas.openxmlformats.org/officeDocument/2006/relationships/slide" Target="slides/slide36.xml"/><Relationship Id="rId116" Type="http://schemas.openxmlformats.org/officeDocument/2006/relationships/slide" Target="slides/slide37.xml"/><Relationship Id="rId117" Type="http://schemas.openxmlformats.org/officeDocument/2006/relationships/slide" Target="slides/slide38.xml"/><Relationship Id="rId118" Type="http://schemas.openxmlformats.org/officeDocument/2006/relationships/slide" Target="slides/slide39.xml"/><Relationship Id="rId119" Type="http://schemas.openxmlformats.org/officeDocument/2006/relationships/slide" Target="slides/slide40.xml"/><Relationship Id="rId120" Type="http://schemas.openxmlformats.org/officeDocument/2006/relationships/slide" Target="slides/slide41.xml"/><Relationship Id="rId121" Type="http://schemas.openxmlformats.org/officeDocument/2006/relationships/slide" Target="slides/slide42.xml"/><Relationship Id="rId1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dt" idx="7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ftr" idx="7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sldNum" idx="8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8597C24-8B0F-474F-803F-852DBD29384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AF9E30-A0D4-44B5-A24D-BD8EEAD7604A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DE8636-E4E0-4725-8A9F-B804E643E4F6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E42A55-BBFF-42E1-9C94-320B11EC189C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8AF0AF-B522-4795-9829-52623028421F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E23C6E-EBF0-4F32-B9C7-E1FC782431EF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82802F-5052-4DC8-A159-A50E7DDF37D0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83305A-708D-4777-A667-C2305732E865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2E7A23-7022-44F2-9BB7-198926AEC7D1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7522B5-DE1D-4B21-8053-9969BE9EFC16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627001-A3A3-46AA-ABEF-40632C5F3E0C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E7608E-74FD-4672-91BC-84DA64D23B57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50793B-BF9C-4236-9F02-0A68BBDE184D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22DE23-B959-4FB0-98FD-7D9C55D66DBF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AB24D6-CE68-428E-B082-755B5DC1B31A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4D8356-1F84-4F85-A975-8AFEBFB67399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9FC649-A37D-4579-8715-F3C89B173304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AE95D6-C9DC-4ED0-B51E-E84BE2E14C3E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DCBA2F-BAA3-4268-AF73-FD1AF1E7387F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79FB90-3260-4A00-B799-2B7011B4B0AE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44B33E-2CEC-4CA9-B462-529E9BF2DD37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4409C4-88BD-4327-8384-A3608DF3D27E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C92BF0-556B-4EB3-AFBE-D76E6CA1A646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7E4E34-2DE3-439C-8B3B-82A802EB368E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1A0FD3-A79E-4619-99C3-6DF2B17D8981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F6B6F-8498-4002-89D5-958256438F57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F68D89-3283-4B60-8925-6C340055B467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6C8ABE-45DF-4583-90D3-C8159611F82C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DDC71E-8453-454E-B4EF-ECDD6B73566C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0F97B7-21A5-4323-B689-599249020CE9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C2521A-C16A-4CEF-BCCB-F2EA43F337A7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EF5CED-E02E-4788-945B-687697491524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C08904-91DC-48BC-AB20-1A80E85F8771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1A02DE-923B-44FB-8A77-21518B724580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C8744A-A038-41C3-9853-A34756C7FB6B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5B76BA-0F08-424B-99B6-B44BBAA65839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4800" cy="306324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360" cy="357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48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1ECC6E-F3E6-413F-B310-8A7DA5A5BBE4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C4A353-B2DF-4010-9C09-42803DF62A33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A30BF5-E063-402F-88B8-1699A7CBAC6A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161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A6FC95-E5EA-4A4F-811E-71369DFAFAE9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162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DB19DC-F127-46D9-930B-D09F66978FBC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9C4956-3EE2-4FB8-B15D-E03E20B68566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280" cy="306972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840" cy="358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55240" cy="44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51090E-AFDE-40B7-806C-4F9688780C1E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56B888F-8FE3-4321-8129-31CED73FC30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2A5C9B-7579-4EB9-A004-101925F9F84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94335D-99D2-441A-8F7F-540F49B8FB1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3CEC54-6D01-4F4E-A25D-08E69C3F740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C159C2-0B38-4984-BA4F-F0668D4BAC7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D684E4-BB54-4A88-9153-AB669AE938D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347273B-2FB1-45C1-B9FA-31B43431E2DF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10B6B6B-EBB3-4813-858F-E2F1AF2C202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AD1192-0791-4C52-A506-6729B4CE6BE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D004FAA-BBED-4E54-892A-90E17D6213C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5E0BD54-0BED-455E-91BC-C7579E24BF7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F77BA2-847E-4F98-96C3-0082EF5EB69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1E2E4F9-79C9-4124-B2C8-622A4CC0CC41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393E5B8-53EC-4DF3-9B50-98884CB93E4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A6E500-4D5D-4F70-A925-48038E0F967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10F8D14D-947C-4C88-80B4-1656293F1E5D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36354BC-F6DE-4BFC-A52C-12CBF10F956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A0F528-9442-4127-8C42-D787B92E0388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4A99042-8EA4-4505-BC19-1A5517054AA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84BC648-B453-4269-87C5-FD946877EC68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33BA19-8DB5-4937-AD7F-3493BF224BE2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28BF111-C142-4634-A5D4-EFAA3D3B49A6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3E70B3D-D0DE-4512-8115-435F6F151D68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F8374E7-CAA4-474B-8CAE-3575319598B2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0FE43501-69BE-47AB-8C15-6F7BDBA7A7B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49ACD0A-7E93-4B29-ADC2-D5C64801558D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D942873-3FB4-4308-A9C9-5FBC3FC3A71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4AC6B6B8-5150-434F-87D9-5BBCBF1D0760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7A3D88D-66F5-4C8F-B91F-0C94E4B6C4B9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A7C4BA1-883F-4C66-9BD5-85FE7CBEB91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36A8329E-7547-44CE-88DD-EF7A1B63B83F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EA98454-9275-4F79-AC9E-8BD014AB8CB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BC6A525-8287-4B1D-A4C7-9AC5A7A24BCC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3AE11CA2-F3CB-4830-8A0E-48BD65D22840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A63B137-E825-4306-B464-BB11739B1FB2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88487E6-4933-420C-BD4A-2BC80F49691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43A184AD-F5DA-48A6-A898-4C1CC97CAE33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4D00E0A-B6DE-4BC9-9C6F-9D85B8EFBAB6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2C218B4A-2F53-403C-9D6A-938C85E7102B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959C31C-D703-4FBE-9453-476A3DF6F923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7EAC48D-D9A4-48B0-829A-D09FD8332F44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1648434-67AD-444E-939A-7751FBFF2164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F67229FA-DB41-4506-8083-631B4E92C1D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3A4B7A6D-2048-48FB-B4F6-3AD054A5570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78B7435E-B60C-4814-933E-AADE9DFBE009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F5007B4F-D894-4BAA-A7FD-43789162BAA2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51B5ECA-BB6B-40F6-97CA-4EB840C483E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E2544C34-306E-4EE7-B312-8ED29D2FF2DE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F83CD0A5-B617-4938-B4A5-13D86AF759E4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CD694FF-B87D-4DDA-9AA8-8328B57A16BB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9CD50E14-7EB7-4F54-A4D2-863DB3A5A473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50C5F86-6D92-471A-A65A-2FC5ABE49E52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548A1BD8-717C-48AD-95F0-EE566C3CF4A4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4E18A440-9C98-4F54-B2F3-A2416E721A94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5"/>
          </p:nvPr>
        </p:nvSpPr>
        <p:spPr/>
        <p:txBody>
          <a:bodyPr/>
          <a:p>
            <a:fld id="{FBA09C1A-E04C-41EF-8485-D8EFDF74ED4F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A20D57E-40F3-4AA1-AD8A-47F20C53B003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FCC07961-6125-4C2C-B8BD-A9A0969D4376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C3B9F989-45B9-4695-8B33-88D5ECA79B4E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E16DC5A7-41C6-41EE-84AC-AA1E7FC12A9A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00FC9BC3-DAFE-4DBE-BB92-7D8A4127D757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307EF091-BFB5-4A24-B106-79B9CACD940B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EF96DA3F-123B-4480-9E14-14822CDD7F1B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A040AD3C-A6F8-49DC-8DE1-7436F0557AE5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657F6257-76DB-4AD8-A08B-AAC8CD2BA43B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8BE6281C-CFC9-4D1D-867A-779D54765E8C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200A22F0-2883-415E-AB9A-43633557D785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22FA09F8-7BF4-4FD9-8DAD-6FA1F8C13305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4B4CAEC0-CD8E-4534-B4D1-CAE497D8AC5E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30D5E3D1-0407-4DE5-9C3E-52F359742484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7B350946-EB0D-47F4-999A-E9474B512E80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76089593-CEBC-40F6-A8E5-0FE73387D3C3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07AA4928-8EDC-46F3-860D-6FED86EC24AB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3"/>
          </p:nvPr>
        </p:nvSpPr>
        <p:spPr/>
        <p:txBody>
          <a:bodyPr/>
          <a:p>
            <a:fld id="{ED9CDE68-5091-42FF-9FC0-A2F90AC6C2E2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BEFC544-B21D-4EDE-B7BD-3C5F69D2D1B9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CC8D2518-6647-47A7-AA95-1226799BEAD3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A6FD3BBD-41E3-4BA1-A2F8-FA8C1625596B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282FF196-EE58-444B-9DD1-02A3DE01A5D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7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A0689C-0A40-4F06-9725-58C89F3D6C9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3B0BEE-BE3A-4356-B2D2-22DF05F325C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E3DB1B-D929-4ACC-8A9D-F6DA2748A7A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109BB0-BED9-45A1-B3E1-4C1EBAD3952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66F342-658E-4427-A5B5-4DF588A2421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435373-911D-48E0-985E-3F7FD1982D6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B53EE-D160-4EC6-809C-A59E787DF4F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8F198E-A3A4-497B-B4D1-9ED30A615E3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F18124-2D5D-42D2-A1E7-3714F7CFFFD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1E96E0-09E1-4343-A578-E9D6EC4F4BD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396DC0-81CE-4188-BBE1-CD5FBAE849C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912CD3-2318-4399-AF24-DAB234F454F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C71DA1-2A59-4632-B441-B6AEF144F5B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3CD7C9-6DC4-4AF1-9F4D-D09526677CC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728DCD-C27E-421E-BB9E-0442088ADFF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EAC2FD-AF0C-42BB-B60F-EFC324E41B9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7B3CE8-D3D3-4F78-AEFB-4B4C4910AC4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F8B2C5-48CE-45C3-BEE4-A23029564DB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782155-52B7-4548-BEE2-13B1F30A91E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4CC891-2D93-42F9-9A43-16DA1F1B5FD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EA8446-3E64-4EA3-A600-3DB1DA68EB5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93B638-4A41-436B-AE06-CF070F82062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B204C4-0422-4FFB-A03C-5BE3DA90798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24340C-25B1-4B0A-96DE-D9C86DB5815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B5215D-7A17-48AA-8C03-95F4BDE8AE5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68525B-5E71-454D-A58A-88E0D81819E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BAD3BB-C975-447D-9648-2A6E0D26F02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5A39B5-2807-435F-9766-E72955F6FB2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ACA234-12FF-4864-B91F-4F0558AC686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0ED12A-B764-43C0-9C05-0463126D5CD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562C28-0015-46FC-9ABA-9C724A23C63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3F6D13-7DF9-4915-88B9-FA9F848E13B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E5F18F-9592-4E1B-9948-C9DDADB9E0B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636706-D8BA-4162-9271-1103D69AFCA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73AA93-B7C5-4C1F-841E-3E9037511DB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A65B6F-59B6-4AA5-809C-440DDFCE819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264FAF-8D98-45CE-8936-CC858C2857A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1A005B-52F8-44E2-946F-5DDC595ACF9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BFFAFA-FD2E-4D73-9FCE-F481CD138A3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5ACDD2-0BA2-4E16-B86F-E17AB9297E4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1BBFC1-A62E-4CEA-8068-30E8A5EC284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694E7E-DEAF-478E-98BE-6572189402B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7DCC96-A7C3-4C3D-8894-7B84FAE9300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FFF2CD-91BD-440C-9260-564C264D47F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D0564B-C1DE-480D-B9FB-D91359AFDB9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974706-43A7-4823-B5A6-334D9B94324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ABA5C2-4FB1-4AB7-BD0A-CF5360509B5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425A3B-8336-4F01-956D-17E529259D2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A10E3A-C4AB-4F23-B9E8-3C59208CC3B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EF54AF-ABDA-46C2-9A72-68A57E0F530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5421FA-80A4-4315-9948-E4C57CB9AE0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A4DFCA-B6C5-487C-B0DA-DF941621DDF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5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388130-79F7-4019-9D23-B27997AD6ED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ldNum" idx="5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7D741E-76D3-4248-97A5-250579B711E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60ACE6-9910-4BDC-BE6F-8BB28C84DE9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sldNum" idx="5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DF6C03-C684-4CDE-ACBD-DFE35FF4B4C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5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816993-2B0F-42D5-B567-DEC9615A19D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ldNum" idx="5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BE9DBB-FFB3-4162-AE53-373A6CF1080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5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8FF0CF-9362-4A30-87E9-925F4744926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6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B68ECC-D767-49F1-9289-99D5AFF94B3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ldNum" idx="6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1FEFE3-5B4E-4700-9817-584411A1C53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ldNum" idx="6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D0C462-2F15-4968-A93E-5718CB5A7B5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6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DF6223-BF83-4443-A045-3EE7017F65C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6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EDC03B-867C-423C-9A1F-8EDCEDF985F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6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CB4491-56D2-4A36-B2A4-E53EEF5919D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sldNum" idx="6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8F121E-1462-4CFF-AA66-E7B4EE6B241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sldNum" idx="67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4E54C9-39BE-404A-9FA6-4EB8BDBCB5C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68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EF966C-50F8-4332-AB06-EC2239D7ED8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Num" idx="69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0AA752-8FA4-4628-9BE4-E5A2CDF2598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0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DA57F3-9E4A-4006-9B71-C51C2A98643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sldNum" idx="7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EB5ECA-CAFF-47D0-8E72-ED4EC7C84F2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ldNum" idx="72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B54C5F-E690-47CF-8EB3-D6E4AD908B8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Num" idx="73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DF2F17-8BBF-45AC-9417-E54C6AFB14B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Num" idx="74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606FF1-8390-440F-BA6D-5FF4D17F991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6;p9"/>
          <p:cNvSpPr/>
          <p:nvPr/>
        </p:nvSpPr>
        <p:spPr>
          <a:xfrm>
            <a:off x="4572000" y="0"/>
            <a:ext cx="4561920" cy="5133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75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A0073B-5E5C-4818-A9D2-2C034796E7A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Num" idx="7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9244DE-76C6-4491-B260-46612089A9C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77"/>
          </p:nvPr>
        </p:nvSpPr>
        <p:spPr>
          <a:xfrm>
            <a:off x="8472600" y="466308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68A4CD-177E-432E-BCD8-C4B8EC0B75E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8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834480" y="347400"/>
            <a:ext cx="7464600" cy="17550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" sz="33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 Configurable Secure Memory Implementation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7" name="Google Shape;56;p13"/>
          <p:cNvCxnSpPr/>
          <p:nvPr/>
        </p:nvCxnSpPr>
        <p:spPr>
          <a:xfrm>
            <a:off x="204480" y="230472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348" name="Google Shape;57;p13"/>
          <p:cNvCxnSpPr/>
          <p:nvPr/>
        </p:nvCxnSpPr>
        <p:spPr>
          <a:xfrm>
            <a:off x="204480" y="39488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49" name="PlaceHolder 2"/>
          <p:cNvSpPr>
            <a:spLocks noGrp="1"/>
          </p:cNvSpPr>
          <p:nvPr>
            <p:ph type="sldNum" idx="81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7F0D31-1C30-4709-AD57-29964A45648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Google Shape;59;p13"/>
          <p:cNvSpPr/>
          <p:nvPr/>
        </p:nvSpPr>
        <p:spPr>
          <a:xfrm>
            <a:off x="1946880" y="2244240"/>
            <a:ext cx="524052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Presentation By: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Will Buziak</a:t>
            </a:r>
            <a:br>
              <a:rPr sz="1900"/>
            </a:br>
            <a:r>
              <a:rPr b="0" lang="en" sz="17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Department of Computer Science</a:t>
            </a:r>
            <a:br>
              <a:rPr sz="1700"/>
            </a:br>
            <a:r>
              <a:rPr b="0" lang="en" sz="17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Colorado School of Mines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60;p13"/>
          <p:cNvSpPr/>
          <p:nvPr/>
        </p:nvSpPr>
        <p:spPr>
          <a:xfrm>
            <a:off x="3071880" y="3948480"/>
            <a:ext cx="2989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br>
              <a:rPr sz="1800"/>
            </a:b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December, 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Content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600" cy="2592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Background &amp; Motivation  .............................................................3-4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Trusted Execution Environments  ...................................................5-7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Secure Memory .............................................................................8-12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gem5 ............................................................................................13-25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4" name="Google Shape;68;p 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55" name="PlaceHolder 3"/>
          <p:cNvSpPr>
            <a:spLocks noGrp="1"/>
          </p:cNvSpPr>
          <p:nvPr>
            <p:ph type="sldNum" idx="82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65C8D6-1EDE-47E9-8B6D-30E2782A336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Background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343080" y="822600"/>
            <a:ext cx="8382600" cy="4185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Motivated attackers can employ many tactics to corrupt or steal data, this work focuses on preventing: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 malicious OS, application or thread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Replay or side-channel attacks targeting off-chip peripherals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Trusted Execution Environments (TEEs) provide hardware guarantees that attempt to secure the integrity of the processor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Secure Memory methods protect against off-chip tampering by encrypting and storing metadata securely on-chip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8" name="Google Shape;68;p14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59" name="PlaceHolder 3"/>
          <p:cNvSpPr>
            <a:spLocks noGrp="1"/>
          </p:cNvSpPr>
          <p:nvPr>
            <p:ph type="sldNum" idx="83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868BD5-1667-4796-B5E8-178381F9EC9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93;p17"/>
          <p:cNvSpPr/>
          <p:nvPr/>
        </p:nvSpPr>
        <p:spPr>
          <a:xfrm>
            <a:off x="327960" y="4114800"/>
            <a:ext cx="8478360" cy="801360"/>
          </a:xfrm>
          <a:prstGeom prst="roundRect">
            <a:avLst>
              <a:gd name="adj" fmla="val 16667"/>
            </a:avLst>
          </a:prstGeom>
          <a:solidFill>
            <a:srgbClr val="ffc000">
              <a:alpha val="20000"/>
            </a:srgbClr>
          </a:solidFill>
          <a:ln w="12600">
            <a:solidFill>
              <a:srgbClr val="32549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sldNum" idx="84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B619A3-7FBE-4639-AD77-FA8034DE34E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941400" y="3567600"/>
            <a:ext cx="7251480" cy="1896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Goal</a:t>
            </a:r>
            <a:r>
              <a:rPr b="0" lang="en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: Leverage TEE architecture to implement efficient secure memory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Motivation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4" name="Google Shape;97;p17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343080" y="829800"/>
            <a:ext cx="8382600" cy="2771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TEEs provide confidence against malicious applications attempting to tamper with data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Still vulnerable to replay attacks and off-chip tampering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Secure Memory can mitigate these concerns by adding another layer of protection for off-chip devices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RISC-V TEEs (e. g. Keystone</a:t>
            </a:r>
            <a:r>
              <a:rPr b="0" lang="en" sz="2100" spc="-1" strike="noStrike" baseline="33000">
                <a:solidFill>
                  <a:schemeClr val="dk1"/>
                </a:solidFill>
                <a:latin typeface="Times New Roman"/>
                <a:ea typeface="Times New Roman"/>
              </a:rPr>
              <a:t>[1]</a:t>
            </a: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) provides an open-source, configurable platform for developing TEEs to specific applications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Trusted Execution Environments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7" name="Google Shape;114;p 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68" name="PlaceHolder 2"/>
          <p:cNvSpPr>
            <a:spLocks noGrp="1"/>
          </p:cNvSpPr>
          <p:nvPr>
            <p:ph type="sldNum" idx="85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37F047-DFF4-4C19-A107-9F3EE8C35E3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343080" y="462600"/>
            <a:ext cx="8382600" cy="4558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TEE implements different </a:t>
            </a:r>
            <a:r>
              <a:rPr b="0" i="1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privelege modes</a:t>
            </a: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with separate </a:t>
            </a:r>
            <a:r>
              <a:rPr b="0" i="1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address spaces</a:t>
            </a: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enforcing a set of rules dictating which components can access what regions of memory: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User mode, Supervisor mode, Machine mode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Almost all major CPU vendors have their own flavor of TEE: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Intel SGX/TDX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ARM Confidential Computer Architecture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AMD SEV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These implementations leverage proprietary hardware, opening the door for a configurable &amp; open-source TEE, keystone</a:t>
            </a:r>
            <a:r>
              <a:rPr b="0" lang="en" sz="2100" spc="-1" strike="noStrike" baseline="33000">
                <a:solidFill>
                  <a:srgbClr val="000000"/>
                </a:solidFill>
                <a:latin typeface="Times New Roman"/>
                <a:ea typeface="Times New Roman"/>
              </a:rPr>
              <a:t>[1]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Trusted Execution Environments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1" name="Google Shape;114;p 2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72" name="PlaceHolder 2"/>
          <p:cNvSpPr>
            <a:spLocks noGrp="1"/>
          </p:cNvSpPr>
          <p:nvPr>
            <p:ph type="sldNum" idx="86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C2B8E8-9CCE-4D01-8924-3D5E3135DDE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343080" y="462600"/>
            <a:ext cx="3396960" cy="4558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TEEs protect the processor: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Attempts to avoid malicious activity from the application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Still vulnerable to side-channel &amp; replay attacks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Application mode is checked on memory request: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Memory regions are assigned to modes with permissions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region in which the mode does not have access is denied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3742920" y="1371600"/>
            <a:ext cx="4905000" cy="3667680"/>
          </a:xfrm>
          <a:prstGeom prst="rect">
            <a:avLst/>
          </a:prstGeom>
          <a:ln w="0">
            <a:noFill/>
          </a:ln>
        </p:spPr>
      </p:pic>
      <p:sp>
        <p:nvSpPr>
          <p:cNvPr id="375" name=""/>
          <p:cNvSpPr/>
          <p:nvPr/>
        </p:nvSpPr>
        <p:spPr>
          <a:xfrm>
            <a:off x="4728600" y="1900800"/>
            <a:ext cx="442080" cy="45468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781160" y="2031480"/>
            <a:ext cx="330840" cy="950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781160" y="2139840"/>
            <a:ext cx="330840" cy="946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2840" bIns="428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781160" y="2247840"/>
            <a:ext cx="330840" cy="950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5916600" y="1901160"/>
            <a:ext cx="442080" cy="45468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5969160" y="2031840"/>
            <a:ext cx="330840" cy="950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969160" y="2140200"/>
            <a:ext cx="330840" cy="9468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2840" bIns="428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5969160" y="2248200"/>
            <a:ext cx="330840" cy="950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 flipH="1">
            <a:off x="6361200" y="2057400"/>
            <a:ext cx="4968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6906600" y="1949400"/>
            <a:ext cx="454680" cy="2296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PMP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Physical Memory Protection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6" name="Google Shape;114;p 4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7" name="PlaceHolder 2"/>
          <p:cNvSpPr>
            <a:spLocks noGrp="1"/>
          </p:cNvSpPr>
          <p:nvPr>
            <p:ph type="sldNum" idx="87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432703-F6E1-4399-B81F-03CD09011DC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343080" y="842400"/>
            <a:ext cx="3396960" cy="41785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Each core has a PMP table: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Stores the address range along with the pmpCfg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pmpCfg determines: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Permissions, address matching, &amp; locking with space for extra bits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PMP checks walk the table &amp; match the request address with each stored entries A field &amp; respective address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1"/>
          <a:stretch/>
        </p:blipFill>
        <p:spPr>
          <a:xfrm>
            <a:off x="4146480" y="4123800"/>
            <a:ext cx="4537440" cy="683640"/>
          </a:xfrm>
          <a:prstGeom prst="rect">
            <a:avLst/>
          </a:prstGeom>
          <a:ln w="0">
            <a:noFill/>
          </a:ln>
        </p:spPr>
      </p:pic>
      <p:sp>
        <p:nvSpPr>
          <p:cNvPr id="390" name=""/>
          <p:cNvSpPr/>
          <p:nvPr/>
        </p:nvSpPr>
        <p:spPr>
          <a:xfrm flipH="1" flipV="1">
            <a:off x="4114800" y="3429000"/>
            <a:ext cx="1600200" cy="82980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 flipV="1">
            <a:off x="6543000" y="3429000"/>
            <a:ext cx="543600" cy="8301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 flipV="1">
            <a:off x="5607000" y="2057400"/>
            <a:ext cx="360" cy="7977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2"/>
          <a:stretch/>
        </p:blipFill>
        <p:spPr>
          <a:xfrm>
            <a:off x="4124520" y="2658600"/>
            <a:ext cx="3033000" cy="911520"/>
          </a:xfrm>
          <a:prstGeom prst="rect">
            <a:avLst/>
          </a:prstGeom>
          <a:ln w="0">
            <a:noFill/>
          </a:ln>
        </p:spPr>
      </p:pic>
      <p:pic>
        <p:nvPicPr>
          <p:cNvPr id="394" name="" descr=""/>
          <p:cNvPicPr/>
          <p:nvPr/>
        </p:nvPicPr>
        <p:blipFill>
          <a:blip r:embed="rId3"/>
          <a:stretch/>
        </p:blipFill>
        <p:spPr>
          <a:xfrm>
            <a:off x="4188600" y="924840"/>
            <a:ext cx="3197520" cy="140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6" name="Google Shape;114;p19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7" name="PlaceHolder 2"/>
          <p:cNvSpPr>
            <a:spLocks noGrp="1"/>
          </p:cNvSpPr>
          <p:nvPr>
            <p:ph type="sldNum" idx="88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5E7A41-596C-4A64-A363-4A4C470DDBD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4683600" cy="43236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Base Assumption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: off-chip data is untrusted &amp; requires verification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protects data / memory devices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Builds a hash (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merkle</a:t>
            </a:r>
            <a:r>
              <a:rPr b="0" lang="en" sz="2100" spc="-1" strike="noStrike" baseline="33000">
                <a:solidFill>
                  <a:srgbClr val="000000"/>
                </a:solidFill>
                <a:latin typeface="Times New Roman"/>
                <a:ea typeface="Times New Roman"/>
              </a:rPr>
              <a:t>[2]</a:t>
            </a: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tree, the root of which is always stored on-chip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Built over data &amp; metadata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Nodes can be stored in a metadata cache to reduce fetch latency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 flipV="1">
            <a:off x="5970960" y="409068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0" name=""/>
          <p:cNvSpPr/>
          <p:nvPr/>
        </p:nvSpPr>
        <p:spPr>
          <a:xfrm flipV="1">
            <a:off x="6418440" y="4105800"/>
            <a:ext cx="72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1" name=""/>
          <p:cNvSpPr/>
          <p:nvPr/>
        </p:nvSpPr>
        <p:spPr>
          <a:xfrm flipV="1">
            <a:off x="6865560" y="4105800"/>
            <a:ext cx="72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2" name=""/>
          <p:cNvSpPr/>
          <p:nvPr/>
        </p:nvSpPr>
        <p:spPr>
          <a:xfrm flipV="1">
            <a:off x="7256880" y="410580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3" name=""/>
          <p:cNvSpPr/>
          <p:nvPr/>
        </p:nvSpPr>
        <p:spPr>
          <a:xfrm flipV="1">
            <a:off x="7983360" y="410580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4" name=""/>
          <p:cNvSpPr/>
          <p:nvPr/>
        </p:nvSpPr>
        <p:spPr>
          <a:xfrm rot="5400000">
            <a:off x="5641200" y="4544280"/>
            <a:ext cx="68940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 rot="5400000">
            <a:off x="6078600" y="4544280"/>
            <a:ext cx="68940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 rot="5400000">
            <a:off x="6516720" y="4544280"/>
            <a:ext cx="689400" cy="3420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 rot="5400000">
            <a:off x="6899760" y="4544280"/>
            <a:ext cx="68940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 rot="5400000">
            <a:off x="7664040" y="4544280"/>
            <a:ext cx="689400" cy="3420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031520" y="1406160"/>
            <a:ext cx="720" cy="650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7031520" y="1406160"/>
            <a:ext cx="654120" cy="315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 flipH="1">
            <a:off x="6266160" y="1406160"/>
            <a:ext cx="765360" cy="315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 flipH="1">
            <a:off x="6921360" y="2028240"/>
            <a:ext cx="106200" cy="546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6732720" y="2448000"/>
            <a:ext cx="349920" cy="349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 rot="5400000">
            <a:off x="5576040" y="3417120"/>
            <a:ext cx="820800" cy="3420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 rot="5400000">
            <a:off x="6023520" y="3416760"/>
            <a:ext cx="82080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 rot="5400000">
            <a:off x="6470640" y="3416760"/>
            <a:ext cx="82080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 rot="5400000">
            <a:off x="6861960" y="3417120"/>
            <a:ext cx="820800" cy="3420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 rot="5400000">
            <a:off x="7588440" y="3417120"/>
            <a:ext cx="820800" cy="3420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7027560" y="2028240"/>
            <a:ext cx="303120" cy="551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7123680" y="2448000"/>
            <a:ext cx="350280" cy="349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 flipH="1">
            <a:off x="6027480" y="1869840"/>
            <a:ext cx="238680" cy="633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6216120" y="1844280"/>
            <a:ext cx="232200" cy="75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7685640" y="1869840"/>
            <a:ext cx="327960" cy="578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515000" y="1721160"/>
            <a:ext cx="35028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285600" y="2448000"/>
            <a:ext cx="349920" cy="349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7850160" y="2448000"/>
            <a:ext cx="350280" cy="349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5838480" y="2448000"/>
            <a:ext cx="350280" cy="349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6062040" y="1721160"/>
            <a:ext cx="34992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844320" y="1721160"/>
            <a:ext cx="35028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 flipV="1">
            <a:off x="5967000" y="2802600"/>
            <a:ext cx="720" cy="375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 flipV="1">
            <a:off x="6469920" y="2803320"/>
            <a:ext cx="72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 flipV="1">
            <a:off x="686124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 flipV="1">
            <a:off x="730836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 flipV="1">
            <a:off x="803484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6700320" y="981000"/>
            <a:ext cx="648360" cy="52776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root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432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Counter-Mode based Encryption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7" name="Google Shape;114;p 16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38" name="PlaceHolder 2"/>
          <p:cNvSpPr>
            <a:spLocks noGrp="1"/>
          </p:cNvSpPr>
          <p:nvPr>
            <p:ph type="sldNum" idx="89"/>
          </p:nvPr>
        </p:nvSpPr>
        <p:spPr>
          <a:xfrm>
            <a:off x="8364600" y="4561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335B93-EA82-4B31-8918-B2B2B198337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379080" y="750600"/>
            <a:ext cx="4226760" cy="26762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HMACs are produced through the xor of a one-time pad &amp; the plaintext: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One-time pad is generated with a hardware key and a write-incremented counter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Tree must be re-hashed when counters overflow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Counter incrementing methods reduce the frequency of rehashing the tree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6220800" y="1769400"/>
            <a:ext cx="912240" cy="6836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AES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4776840" y="1998000"/>
            <a:ext cx="912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HW key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5607000" y="2154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6396840" y="1026000"/>
            <a:ext cx="615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6678000" y="1278720"/>
            <a:ext cx="360" cy="45468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6341400" y="3717000"/>
            <a:ext cx="683640" cy="683640"/>
          </a:xfrm>
          <a:prstGeom prst="ellipse">
            <a:avLst/>
          </a:prstGeom>
          <a:solidFill>
            <a:srgbClr val="ffffff"/>
          </a:solidFill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6180840" y="2826360"/>
            <a:ext cx="964800" cy="683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One-time pad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6678000" y="332100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6678000" y="248868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4776840" y="3870000"/>
            <a:ext cx="912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plaintext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5607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7656840" y="3870000"/>
            <a:ext cx="1017000" cy="484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cipher 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7155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4" name="Google Shape;114;p 15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55" name="PlaceHolder 2"/>
          <p:cNvSpPr>
            <a:spLocks noGrp="1"/>
          </p:cNvSpPr>
          <p:nvPr>
            <p:ph type="sldNum" idx="90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3D378F-446F-480C-8136-96BE1E83224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7800" cy="43236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Process: 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Off-chip data is signed with a counter, cryptographically hashed and stored in a merkle tree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Memory blocks are fetched, hashed and compared against each successive parent node from the data leaves up to the secure 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 flipV="1">
            <a:off x="7133400" y="372600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58" name=""/>
          <p:cNvSpPr/>
          <p:nvPr/>
        </p:nvSpPr>
        <p:spPr>
          <a:xfrm flipV="1">
            <a:off x="7421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59" name=""/>
          <p:cNvSpPr/>
          <p:nvPr/>
        </p:nvSpPr>
        <p:spPr>
          <a:xfrm flipV="1">
            <a:off x="7709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60" name=""/>
          <p:cNvSpPr/>
          <p:nvPr/>
        </p:nvSpPr>
        <p:spPr>
          <a:xfrm flipV="1">
            <a:off x="7961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61" name=""/>
          <p:cNvSpPr/>
          <p:nvPr/>
        </p:nvSpPr>
        <p:spPr>
          <a:xfrm flipV="1">
            <a:off x="8429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5712480" y="1368000"/>
            <a:ext cx="2747160" cy="107676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5487120" y="1049040"/>
            <a:ext cx="77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SOC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7696080" y="176760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rot="5400000">
            <a:off x="6921720" y="401796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rot="5400000">
            <a:off x="7203600" y="401796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rot="5400000">
            <a:off x="7485840" y="401796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rot="5400000">
            <a:off x="7732440" y="401796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 rot="5400000">
            <a:off x="8224920" y="401796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7816680" y="199656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7816680" y="199656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 flipH="1">
            <a:off x="7323480" y="199656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 flipH="1">
            <a:off x="7745760" y="239724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7624080" y="2667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rot="5400000">
            <a:off x="6879960" y="3291840"/>
            <a:ext cx="527760" cy="21960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rot="5400000">
            <a:off x="7168320" y="329184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rot="5400000">
            <a:off x="7456320" y="329184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rot="5400000">
            <a:off x="7708320" y="329184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rot="5400000">
            <a:off x="8176320" y="329184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814160" y="239724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7876080" y="2667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 flipH="1">
            <a:off x="7169760" y="229536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291440" y="227880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8237880" y="229536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8128080" y="2199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7336080" y="2667600"/>
            <a:ext cx="224640" cy="224640"/>
          </a:xfrm>
          <a:prstGeom prst="ellipse">
            <a:avLst/>
          </a:prstGeom>
          <a:solidFill>
            <a:srgbClr val="5983b0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8344080" y="2667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7048080" y="266760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7192080" y="219960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7696080" y="2199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 flipV="1">
            <a:off x="7130880" y="2896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 flipV="1">
            <a:off x="7454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 flipV="1">
            <a:off x="7706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 flipV="1">
            <a:off x="7994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 flipV="1">
            <a:off x="8462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5494320" y="1103760"/>
            <a:ext cx="3197880" cy="13690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5494680" y="2523960"/>
            <a:ext cx="3197880" cy="20548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5659560" y="1376280"/>
            <a:ext cx="1826280" cy="539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Metadata-Cache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0" name="Google Shape;114;p 3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01" name="PlaceHolder 2"/>
          <p:cNvSpPr>
            <a:spLocks noGrp="1"/>
          </p:cNvSpPr>
          <p:nvPr>
            <p:ph type="sldNum" idx="91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35F667-D77A-427A-AE88-C2DBF761EAF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7800" cy="43236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Process: 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Off-chip data is signed with a counter, cryptographically hashed and stored in a merkle tree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Memory blocks are fetched, hashed and compared against each successive parent node from the data leaves up to the secure 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This incurs peripheral node fetch latencies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flipV="1">
            <a:off x="7129440" y="372132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4" name=""/>
          <p:cNvSpPr/>
          <p:nvPr/>
        </p:nvSpPr>
        <p:spPr>
          <a:xfrm flipV="1">
            <a:off x="7417800" y="3731040"/>
            <a:ext cx="360" cy="325800"/>
          </a:xfrm>
          <a:prstGeom prst="line">
            <a:avLst/>
          </a:prstGeom>
          <a:ln w="38160">
            <a:solidFill>
              <a:srgbClr val="ff383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5" name=""/>
          <p:cNvSpPr/>
          <p:nvPr/>
        </p:nvSpPr>
        <p:spPr>
          <a:xfrm flipV="1">
            <a:off x="7705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6" name=""/>
          <p:cNvSpPr/>
          <p:nvPr/>
        </p:nvSpPr>
        <p:spPr>
          <a:xfrm flipV="1">
            <a:off x="7957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7" name=""/>
          <p:cNvSpPr/>
          <p:nvPr/>
        </p:nvSpPr>
        <p:spPr>
          <a:xfrm flipV="1">
            <a:off x="8425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5708520" y="1363320"/>
            <a:ext cx="2747160" cy="107676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5483160" y="1044360"/>
            <a:ext cx="77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SOC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7692120" y="176292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rot="5400000">
            <a:off x="6917760" y="401328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rot="5400000">
            <a:off x="7199640" y="401328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 rot="5400000">
            <a:off x="7481880" y="401328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 rot="5400000">
            <a:off x="7728480" y="401328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 rot="5400000">
            <a:off x="8220960" y="401328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7812720" y="199188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7812720" y="199188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 flipH="1">
            <a:off x="7319520" y="199188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 flipH="1">
            <a:off x="7741800" y="239256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7620120" y="266292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rot="5400000">
            <a:off x="6876000" y="3287160"/>
            <a:ext cx="527760" cy="21960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 rot="5400000">
            <a:off x="7164360" y="3287160"/>
            <a:ext cx="527760" cy="21960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 rot="5400000">
            <a:off x="7452360" y="328716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 rot="5400000">
            <a:off x="7704360" y="328716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 rot="5400000">
            <a:off x="8172360" y="328716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810200" y="239256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7872120" y="266292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 flipH="1">
            <a:off x="7165800" y="229068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7287480" y="227412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233920" y="229068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124120" y="219492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7332120" y="2662920"/>
            <a:ext cx="224640" cy="224640"/>
          </a:xfrm>
          <a:prstGeom prst="ellipse">
            <a:avLst/>
          </a:prstGeom>
          <a:solidFill>
            <a:srgbClr val="ff3838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8340120" y="266292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7044120" y="266292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7188120" y="219492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7692120" y="219492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 flipV="1">
            <a:off x="7126920" y="289152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 flipV="1">
            <a:off x="7450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 flipV="1">
            <a:off x="7702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 flipV="1">
            <a:off x="7990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 flipV="1">
            <a:off x="8458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5490360" y="1099080"/>
            <a:ext cx="3197880" cy="13690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5490720" y="2519280"/>
            <a:ext cx="3197880" cy="20548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5655600" y="1371600"/>
            <a:ext cx="1826280" cy="539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Metadata-Cache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432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Counter-Mode based Encryption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46" name="Google Shape;114;p 17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47" name="PlaceHolder 2"/>
          <p:cNvSpPr>
            <a:spLocks noGrp="1"/>
          </p:cNvSpPr>
          <p:nvPr>
            <p:ph type="sldNum" idx="92"/>
          </p:nvPr>
        </p:nvSpPr>
        <p:spPr>
          <a:xfrm>
            <a:off x="8364600" y="4561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D5D24E-62B8-4577-8A71-67C8D416D47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379080" y="750600"/>
            <a:ext cx="4226760" cy="3592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Hashing: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Generating the one-time pad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Refers to the mac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mac_queue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Encryption: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Masking the plaintext with the one-time pad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Refers to the encryption or cipher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cipher_queue, xor_queue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HMAC is the final cipher text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220800" y="1769400"/>
            <a:ext cx="912240" cy="6836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AES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4776840" y="1998000"/>
            <a:ext cx="912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HW key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5607000" y="2154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6396840" y="1026000"/>
            <a:ext cx="615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6678000" y="1278720"/>
            <a:ext cx="360" cy="45468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341400" y="3717000"/>
            <a:ext cx="683640" cy="683640"/>
          </a:xfrm>
          <a:prstGeom prst="ellipse">
            <a:avLst/>
          </a:prstGeom>
          <a:solidFill>
            <a:srgbClr val="ffffff"/>
          </a:solidFill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6180840" y="2826360"/>
            <a:ext cx="964800" cy="683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One-time pad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6678000" y="332100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6678000" y="248868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4776840" y="3870000"/>
            <a:ext cx="912600" cy="28656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plaintext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5607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7656840" y="3870000"/>
            <a:ext cx="1017000" cy="484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cipher 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7155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7543800" y="914400"/>
            <a:ext cx="9136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Counter goes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 flipH="1">
            <a:off x="7013160" y="1143000"/>
            <a:ext cx="530640" cy="36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4800600" y="4451400"/>
            <a:ext cx="1142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Data (can be counter)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 flipV="1">
            <a:off x="5257800" y="4199400"/>
            <a:ext cx="360" cy="22860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7844400" y="3283200"/>
            <a:ext cx="9136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HMAC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8229960" y="3568320"/>
            <a:ext cx="360" cy="22860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9" name="Google Shape;114;p 7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70" name="PlaceHolder 2"/>
          <p:cNvSpPr>
            <a:spLocks noGrp="1"/>
          </p:cNvSpPr>
          <p:nvPr>
            <p:ph type="sldNum" idx="93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516C85-4991-4FDD-ABFD-0ACCB48FBB0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7800" cy="43236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Bonsai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merkle trees</a:t>
            </a:r>
            <a:r>
              <a:rPr b="0" lang="en" sz="2100" spc="-1" strike="noStrike" baseline="33000">
                <a:solidFill>
                  <a:srgbClr val="000000"/>
                </a:solidFill>
                <a:latin typeface="Times New Roman"/>
                <a:ea typeface="Times New Roman"/>
              </a:rPr>
              <a:t>[3]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are built solely over the counters: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Reduces metadata storage requirements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Each node can protect a larger block of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 flipV="1">
            <a:off x="5663520" y="257508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3" name=""/>
          <p:cNvSpPr/>
          <p:nvPr/>
        </p:nvSpPr>
        <p:spPr>
          <a:xfrm flipV="1">
            <a:off x="5951880" y="2584800"/>
            <a:ext cx="360" cy="325800"/>
          </a:xfrm>
          <a:prstGeom prst="line">
            <a:avLst/>
          </a:prstGeom>
          <a:ln w="38160">
            <a:solidFill>
              <a:srgbClr val="ff383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4" name=""/>
          <p:cNvSpPr/>
          <p:nvPr/>
        </p:nvSpPr>
        <p:spPr>
          <a:xfrm flipV="1">
            <a:off x="6239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5" name=""/>
          <p:cNvSpPr/>
          <p:nvPr/>
        </p:nvSpPr>
        <p:spPr>
          <a:xfrm flipV="1">
            <a:off x="6491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6743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7" name=""/>
          <p:cNvSpPr/>
          <p:nvPr/>
        </p:nvSpPr>
        <p:spPr>
          <a:xfrm rot="5400000">
            <a:off x="5337720" y="2981520"/>
            <a:ext cx="671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rot="5400000">
            <a:off x="5619600" y="2981520"/>
            <a:ext cx="671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 rot="5400000">
            <a:off x="5901840" y="2981520"/>
            <a:ext cx="671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rot="5400000">
            <a:off x="6148440" y="2981520"/>
            <a:ext cx="671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rot="5400000">
            <a:off x="6424920" y="2981520"/>
            <a:ext cx="671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hmac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rot="5400000">
            <a:off x="6872040" y="3282480"/>
            <a:ext cx="527760" cy="21960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 rot="5400000">
            <a:off x="7160400" y="3282480"/>
            <a:ext cx="527760" cy="21960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 rot="5400000">
            <a:off x="744840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 rot="5400000">
            <a:off x="770040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 rot="5400000">
            <a:off x="816840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833616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 flipV="1">
            <a:off x="712296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 flipV="1">
            <a:off x="7446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 flipV="1">
            <a:off x="7698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 flipV="1">
            <a:off x="7986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 flipV="1">
            <a:off x="8454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5486760" y="2514600"/>
            <a:ext cx="3197880" cy="20548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5712480" y="1368000"/>
            <a:ext cx="2747160" cy="107676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5487120" y="1049040"/>
            <a:ext cx="77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SOC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7696080" y="176760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7816680" y="199656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816680" y="199656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 flipH="1">
            <a:off x="7323480" y="199656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5494320" y="1103760"/>
            <a:ext cx="3197880" cy="136908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5659560" y="1376280"/>
            <a:ext cx="1826280" cy="539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Metadata-Cache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 flipH="1">
            <a:off x="773784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780624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 flipH="1">
            <a:off x="716184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728352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822996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8128080" y="2199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7192080" y="219960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7696080" y="219960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761616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786816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7328160" y="2658240"/>
            <a:ext cx="224640" cy="22464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7040160" y="26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1422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 supports RISC-V &amp; multi-core simulation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Keystone including PMP tables &amp; checker implementations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Memory encryption engine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implementation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Developer space is divided into different scopes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16" name="Google Shape;140;p2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17" name="PlaceHolder 3"/>
          <p:cNvSpPr>
            <a:spLocks noGrp="1"/>
          </p:cNvSpPr>
          <p:nvPr>
            <p:ph type="sldNum" idx="94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56FBFC-E36C-4674-967C-961B4710DF3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969160" y="3214080"/>
            <a:ext cx="2026800" cy="1216080"/>
          </a:xfrm>
          <a:prstGeom prst="roundRect">
            <a:avLst>
              <a:gd name="adj" fmla="val 16667"/>
            </a:avLst>
          </a:prstGeom>
          <a:solidFill>
            <a:srgbClr val="3faf46"/>
          </a:solidFill>
          <a:ln w="3816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9" name=""/>
          <p:cNvSpPr/>
          <p:nvPr/>
        </p:nvSpPr>
        <p:spPr>
          <a:xfrm>
            <a:off x="6166800" y="3620880"/>
            <a:ext cx="1617840" cy="6357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cpp Implementation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6221520" y="3283200"/>
            <a:ext cx="1632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Python Wrapper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5949720" y="2873880"/>
            <a:ext cx="2080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Hardware 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6112080" y="1034280"/>
            <a:ext cx="1759320" cy="135396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3" name=""/>
          <p:cNvSpPr/>
          <p:nvPr/>
        </p:nvSpPr>
        <p:spPr>
          <a:xfrm>
            <a:off x="6241680" y="1366920"/>
            <a:ext cx="1477080" cy="90828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Open Sans"/>
              <a:ea typeface="DejaVu Sans"/>
            </a:endParaRPr>
          </a:p>
        </p:txBody>
      </p:sp>
      <p:sp>
        <p:nvSpPr>
          <p:cNvPr id="624" name=""/>
          <p:cNvSpPr/>
          <p:nvPr/>
        </p:nvSpPr>
        <p:spPr>
          <a:xfrm>
            <a:off x="6307920" y="1383120"/>
            <a:ext cx="1171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Config Files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6209280" y="1019160"/>
            <a:ext cx="1171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User Space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6434280" y="1778040"/>
            <a:ext cx="1123920" cy="41652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Open Sans"/>
                <a:ea typeface="DejaVu Sans"/>
              </a:rPr>
              <a:t>Program Binary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6986880" y="2394000"/>
            <a:ext cx="360" cy="4827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8" name=""/>
          <p:cNvSpPr/>
          <p:nvPr/>
        </p:nvSpPr>
        <p:spPr>
          <a:xfrm>
            <a:off x="5848200" y="2874240"/>
            <a:ext cx="2296800" cy="163152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 eventQueue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 eventQueue is how gem5 schedules processes to enable multi-core simulation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Most member functions operate shared queues instead of directly calling one another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eventWrappers are scheduled instead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Events are scheduled with latencies: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i.e. things like computing the cipher arent actually done, but scheduled &amp; the latency is modeled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1" name="Google Shape;140;p 4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32" name="PlaceHolder 3"/>
          <p:cNvSpPr>
            <a:spLocks noGrp="1"/>
          </p:cNvSpPr>
          <p:nvPr>
            <p:ph type="sldNum" idx="95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0C123F-7161-48D3-BC1E-D16B68D80EF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33" name="" descr=""/>
          <p:cNvPicPr/>
          <p:nvPr/>
        </p:nvPicPr>
        <p:blipFill>
          <a:blip r:embed="rId1"/>
          <a:srcRect l="0" t="19992" r="0" b="13335"/>
          <a:stretch/>
        </p:blipFill>
        <p:spPr>
          <a:xfrm>
            <a:off x="6325560" y="1107000"/>
            <a:ext cx="2370960" cy="342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initiateMac &amp; initiateCipher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46850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Prepare the pkt for hashing: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Assigns pkt with a time signature &amp; inserting into the </a:t>
            </a:r>
            <a:r>
              <a:rPr b="0" i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hashing_queue / cipher_queue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Schedules a mac/cipher event for the eventQueue to trigger the mac/cipher engine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initiateCipher must also account for counter vs data mac pkts: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Control flow to insert into separate queues and handled by cipherEngine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6" name="Google Shape;140;p 2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37" name="PlaceHolder 3"/>
          <p:cNvSpPr>
            <a:spLocks noGrp="1"/>
          </p:cNvSpPr>
          <p:nvPr>
            <p:ph type="sldNum" idx="96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C632F6-FE01-4E68-913A-64E9F78E3EB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38" name="" descr=""/>
          <p:cNvPicPr/>
          <p:nvPr/>
        </p:nvPicPr>
        <p:blipFill>
          <a:blip r:embed="rId1"/>
          <a:srcRect l="37382" t="13099" r="13193" b="15784"/>
          <a:stretch/>
        </p:blipFill>
        <p:spPr>
          <a:xfrm>
            <a:off x="5257800" y="914400"/>
            <a:ext cx="3656160" cy="365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macEngine &amp; cipherEngine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/>
          </p:nvPr>
        </p:nvSpPr>
        <p:spPr>
          <a:xfrm>
            <a:off x="344520" y="914400"/>
            <a:ext cx="81126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Process one pkt from respective queue &amp; schedule the next: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Calls handleTreeResponse / handleCounterResponse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648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 </a:t>
            </a: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These in turn can call initiateCipher/Mac on the child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Calls updateTree and responds to the processor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1" name="Google Shape;140;p 5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42" name="PlaceHolder 3"/>
          <p:cNvSpPr>
            <a:spLocks noGrp="1"/>
          </p:cNvSpPr>
          <p:nvPr>
            <p:ph type="sldNum" idx="97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CB078C-FA77-4149-8CCC-167F3CAB533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updateTree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Creates packets for counters, mac &amp; parent: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Sends nodes to memory &amp; metadata cache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 has been encrypted &amp; hashes computed, all stored in the pkt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calculateAddress functions operate on the packet to return the desired address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5" name="Google Shape;140;p 6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46" name="PlaceHolder 3"/>
          <p:cNvSpPr>
            <a:spLocks noGrp="1"/>
          </p:cNvSpPr>
          <p:nvPr>
            <p:ph type="sldNum" idx="98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E0FC83-942D-4D53-A7ED-8137C8AB5A3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 rot="5400000">
            <a:off x="6400440" y="3329640"/>
            <a:ext cx="664200" cy="27648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 rot="5400000">
            <a:off x="6762960" y="3329640"/>
            <a:ext cx="664200" cy="27648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 rot="5400000">
            <a:off x="7125480" y="3330000"/>
            <a:ext cx="664200" cy="2761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 rot="5400000">
            <a:off x="7442280" y="3329640"/>
            <a:ext cx="664200" cy="27648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 rot="5400000">
            <a:off x="8030880" y="3329640"/>
            <a:ext cx="664200" cy="27648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cntr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8242200" y="2544840"/>
            <a:ext cx="282960" cy="2829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 flipV="1">
            <a:off x="6716520" y="2832480"/>
            <a:ext cx="360" cy="303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 flipV="1">
            <a:off x="7124040" y="2832840"/>
            <a:ext cx="36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 flipV="1">
            <a:off x="744084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 flipV="1">
            <a:off x="780300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 flipV="1">
            <a:off x="839160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7437240" y="1424520"/>
            <a:ext cx="282960" cy="28296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7589160" y="1712520"/>
            <a:ext cx="360" cy="527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7589160" y="1712520"/>
            <a:ext cx="529560" cy="255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 flipH="1">
            <a:off x="6968880" y="1712520"/>
            <a:ext cx="620280" cy="255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 flipH="1">
            <a:off x="7489800" y="2204640"/>
            <a:ext cx="86040" cy="442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7575840" y="2204640"/>
            <a:ext cx="245520" cy="447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 flipH="1">
            <a:off x="6765480" y="2076840"/>
            <a:ext cx="193320" cy="513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6918480" y="2055960"/>
            <a:ext cx="187920" cy="614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8108640" y="2076840"/>
            <a:ext cx="266040" cy="46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7980840" y="1968120"/>
            <a:ext cx="282600" cy="2826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6803640" y="1968120"/>
            <a:ext cx="282600" cy="2826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7437240" y="1968120"/>
            <a:ext cx="282960" cy="2826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7336800" y="2544840"/>
            <a:ext cx="282960" cy="2829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7653600" y="2544840"/>
            <a:ext cx="282960" cy="2829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6974640" y="2544840"/>
            <a:ext cx="282960" cy="28296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6612480" y="2544840"/>
            <a:ext cx="282600" cy="28296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handleRequest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Prepare counter &amp; mac for the pkt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Place into queues for authentication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Send to memory / metadata cache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This starts the recursive hashing / authentication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Writes are just placed in a queue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6" name="Google Shape;140;p 1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77" name="PlaceHolder 3"/>
          <p:cNvSpPr>
            <a:spLocks noGrp="1"/>
          </p:cNvSpPr>
          <p:nvPr>
            <p:ph type="sldNum" idx="99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D55C38-875D-4075-AAFC-0F43C848D8C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handleResponse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81140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Decryption &amp; authentication of responses from memory requests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 functions prepare pkts by checking, popping and placing into queues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Uses other functions to actually schedule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 important / complex thing to consider in all scenarios is the coontext of control flow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Debugging, development &amp; code reading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0" name="Google Shape;140;p 10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81" name="PlaceHolder 3"/>
          <p:cNvSpPr>
            <a:spLocks noGrp="1"/>
          </p:cNvSpPr>
          <p:nvPr>
            <p:ph type="sldNum" idx="100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56BB4E-B1F5-4E8E-B813-0BFBFEE15C4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Port functions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81140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Functions like sendPacket &amp; recvRespRetry manage blocked packets in a similar manner: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Pop / push pkts onto a </a:t>
            </a:r>
            <a:r>
              <a:rPr b="0" i="1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blocked_packets &amp; pending_*</a:t>
            </a: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queues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Calls handle functions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Important to consider the scope of the call (mem_side vs cpu_side)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4" name="Google Shape;140;p 12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85" name="PlaceHolder 3"/>
          <p:cNvSpPr>
            <a:spLocks noGrp="1"/>
          </p:cNvSpPr>
          <p:nvPr>
            <p:ph type="sldNum" idx="101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76259C-7F2B-435D-BE5B-686DEF83157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handleCounterResponse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Check for data waiting on the counter: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Send for encryption / decryption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pkt is a write, compute the MAC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8" name="Google Shape;140;p 9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89" name="PlaceHolder 3"/>
          <p:cNvSpPr>
            <a:spLocks noGrp="1"/>
          </p:cNvSpPr>
          <p:nvPr>
            <p:ph type="sldNum" idx="102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0BEF3-036B-45E2-BFCD-75BA158B391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handleMacResponse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Check for returned data waiting on a counter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Push onto </a:t>
            </a:r>
            <a:r>
              <a:rPr b="0" i="1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pending_mac</a:t>
            </a: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queue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2" name="Google Shape;140;p 13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3" name="PlaceHolder 3"/>
          <p:cNvSpPr>
            <a:spLocks noGrp="1"/>
          </p:cNvSpPr>
          <p:nvPr>
            <p:ph type="sldNum" idx="103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F5690A-437F-476D-A215-BC6664C61AF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handleTreeResponse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78854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Handles the recursive authentication of the integrity tree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 and all children nodes are authenticated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Authenticates metadata &amp; sends to metadata cache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Mostly removes eligible pkts from </a:t>
            </a:r>
            <a:r>
              <a:rPr b="0" i="1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needs_authentication</a:t>
            </a: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queue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6" name="Google Shape;140;p 8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7" name="PlaceHolder 3"/>
          <p:cNvSpPr>
            <a:spLocks noGrp="1"/>
          </p:cNvSpPr>
          <p:nvPr>
            <p:ph type="sldNum" idx="104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0921E4-A93E-476E-8158-67341CC1445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handleMetadataCacheMiss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0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Adds pkt to authentication queue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Checks for eager fetch and sends parent pkt to metadata cache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Must be metadata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0" name="Google Shape;140;p 7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01" name="PlaceHolder 3"/>
          <p:cNvSpPr>
            <a:spLocks noGrp="1"/>
          </p:cNvSpPr>
          <p:nvPr>
            <p:ph type="sldNum" idx="105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82A0C5-28B6-418B-857E-C8198A821EB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788544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Everything is stored and processed through the pkt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 eventQueue schedules processes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Functions operate on shared queues in order to service pending pkts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 state of the system is the important thing to debug as problems arise and implementations progress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4" name="Google Shape;140;p 14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05" name="PlaceHolder 3"/>
          <p:cNvSpPr>
            <a:spLocks noGrp="1"/>
          </p:cNvSpPr>
          <p:nvPr>
            <p:ph type="sldNum" idx="106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CE7536-DAAD-4975-9159-70F9E1756E5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Sources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05200" cy="4410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[1]</a:t>
            </a: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Dayeol Lee (2022) Building Trusted Execution Environments. In: </a:t>
            </a:r>
            <a:r>
              <a:rPr b="0" i="1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 dissertation submitted in partial satisfaction of the requirements for the degree of Doctor of Philosophy in Computer Science in the Graduate Division of the University of California, Berkeley</a:t>
            </a: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[2] Chenyu Yan, Brian Rogers, Daniel Englender, et. al. (2006) Improving Cost, Performance, and Security of Memory Encryption and Authentication. In: </a:t>
            </a:r>
            <a:r>
              <a:rPr b="0" i="1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Proceedings of the 33rd International Symposium on Computer Architecture (ISCA’06)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[3] Brian Rogers &amp; Milos Prvulovic (2007) Using address independent seed encryption and bonsai merkle trees to make secure processors OS-and performance-friendly. In: </a:t>
            </a:r>
            <a:r>
              <a:rPr b="0" i="1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40th IEEE/ACM International Symposium on Microarchitecture (MICRO’07)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[4] Zach Moolman &amp; Tamara Silbergleit Lehman (2024) Extending RISC-V Keystone to Include Efficient Secure Memory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[5] The RISC-V Instruction Set Manual: Volume II Privileged Architecture. Version 20240411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[6] Samuel Thomas (2025) Towards A Practical Secure Memory for Practical Development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8" name="Google Shape;207;p28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09" name="PlaceHolder 3"/>
          <p:cNvSpPr>
            <a:spLocks noGrp="1"/>
          </p:cNvSpPr>
          <p:nvPr>
            <p:ph type="sldNum" idx="107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C2024-92A6-4888-A688-EE88FDFF6CA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0" name="Google Shape;114;p 5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11" name="PlaceHolder 1"/>
          <p:cNvSpPr>
            <a:spLocks noGrp="1"/>
          </p:cNvSpPr>
          <p:nvPr>
            <p:ph type="sldNum" idx="108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9D5C46-4F78-4D1F-8319-8D09844C27E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Where does Secure Memory fit in?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5409720" y="2128320"/>
            <a:ext cx="62388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5532480" y="2490120"/>
            <a:ext cx="2433600" cy="1118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5" name=""/>
          <p:cNvSpPr/>
          <p:nvPr/>
        </p:nvSpPr>
        <p:spPr>
          <a:xfrm>
            <a:off x="6728040" y="21283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16" name=""/>
          <p:cNvSpPr/>
          <p:nvPr/>
        </p:nvSpPr>
        <p:spPr>
          <a:xfrm flipH="1">
            <a:off x="7405200" y="2128320"/>
            <a:ext cx="77472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5884200" y="2978640"/>
            <a:ext cx="2049480" cy="55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Secure 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5532480" y="2515680"/>
            <a:ext cx="2007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4566600" y="1049400"/>
            <a:ext cx="4328280" cy="10980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4695840" y="1400760"/>
            <a:ext cx="115992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Application Thread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6175800" y="1400760"/>
            <a:ext cx="112032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Operating System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7586640" y="1400760"/>
            <a:ext cx="118188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Remote or Cloud User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4720320" y="1051200"/>
            <a:ext cx="40255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Potentially Malicious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 flipV="1">
            <a:off x="6728760" y="36349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5119200" y="3888000"/>
            <a:ext cx="3196080" cy="4521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Storage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9"/>
          <p:cNvSpPr/>
          <p:nvPr/>
        </p:nvSpPr>
        <p:spPr>
          <a:xfrm>
            <a:off x="685800" y="4932000"/>
            <a:ext cx="79963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(ISCA’06)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10"/>
          <p:cNvSpPr/>
          <p:nvPr/>
        </p:nvSpPr>
        <p:spPr>
          <a:xfrm>
            <a:off x="343080" y="830160"/>
            <a:ext cx="422424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Secure memory methods protect SoCs against off-chip memory corruption by additionally: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Encrypting / Decrypting protected memory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Storing and checking an integrity tree to verify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These checks result in latencies both in encryption and memory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29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30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31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32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733" name="Google Shape;114;p 9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34" name="PlaceHolder 1"/>
          <p:cNvSpPr>
            <a:spLocks noGrp="1"/>
          </p:cNvSpPr>
          <p:nvPr>
            <p:ph type="sldNum" idx="109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7C0F2-274B-4231-89E5-3EDB3B6DF24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Incurs Latency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5532480" y="942120"/>
            <a:ext cx="2433600" cy="1118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7" name=""/>
          <p:cNvSpPr/>
          <p:nvPr/>
        </p:nvSpPr>
        <p:spPr>
          <a:xfrm>
            <a:off x="5884200" y="1430640"/>
            <a:ext cx="2049480" cy="55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Secure 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4927320" y="1039680"/>
            <a:ext cx="3161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5407200" y="3888000"/>
            <a:ext cx="3196080" cy="4521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15"/>
          <p:cNvSpPr/>
          <p:nvPr/>
        </p:nvSpPr>
        <p:spPr>
          <a:xfrm>
            <a:off x="685800" y="4932000"/>
            <a:ext cx="79963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(ISCA’06)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7687800" y="17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16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Each parent is the hash of its children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Root is kept on-chip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On a memory fetch, the core must additionally: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Recursively check each node up to the 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 rot="5400000">
            <a:off x="69134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 rot="5400000">
            <a:off x="719532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 rot="5400000">
            <a:off x="74775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rot="5400000">
            <a:off x="77241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 rot="5400000">
            <a:off x="82166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761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 rot="5400000">
            <a:off x="687168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 rot="5400000">
            <a:off x="716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 rot="5400000">
            <a:off x="744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 rot="5400000">
            <a:off x="770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 rot="5400000">
            <a:off x="816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7867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8119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7327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833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7039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7183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7687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5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6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7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8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779" name="Google Shape;114;p 10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80" name="PlaceHolder 1"/>
          <p:cNvSpPr>
            <a:spLocks noGrp="1"/>
          </p:cNvSpPr>
          <p:nvPr>
            <p:ph type="sldNum" idx="110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09ADBF-09E7-40E5-9228-8042AC25755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Incurs Latency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5532480" y="942120"/>
            <a:ext cx="2433600" cy="1118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3" name=""/>
          <p:cNvSpPr/>
          <p:nvPr/>
        </p:nvSpPr>
        <p:spPr>
          <a:xfrm>
            <a:off x="5884200" y="1430640"/>
            <a:ext cx="2049480" cy="55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Secure 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4927320" y="1039680"/>
            <a:ext cx="3161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5407200" y="3888000"/>
            <a:ext cx="3196080" cy="4521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22"/>
          <p:cNvSpPr/>
          <p:nvPr/>
        </p:nvSpPr>
        <p:spPr>
          <a:xfrm>
            <a:off x="685800" y="4932000"/>
            <a:ext cx="79963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(ISCA’06)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7687800" y="17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23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Each parent is the hash of its children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Root is kept on-chip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On a memory fetch, the core must additionally: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Recursively check each node up to the 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 rot="5400000">
            <a:off x="69134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rot="5400000">
            <a:off x="719532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rot="5400000">
            <a:off x="74775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rot="5400000">
            <a:off x="77241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rot="5400000">
            <a:off x="82166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761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 rot="5400000">
            <a:off x="6871680" y="3282480"/>
            <a:ext cx="527760" cy="21960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 rot="5400000">
            <a:off x="716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 rot="5400000">
            <a:off x="744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 rot="5400000">
            <a:off x="770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 rot="5400000">
            <a:off x="816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>
            <a:off x="7867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8119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>
            <a:off x="7327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833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7039800" y="26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7183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7687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1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2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3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4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825" name="Google Shape;114;p 11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26" name="PlaceHolder 1"/>
          <p:cNvSpPr>
            <a:spLocks noGrp="1"/>
          </p:cNvSpPr>
          <p:nvPr>
            <p:ph type="sldNum" idx="111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1396BB-079E-4234-9813-FC09F4DF663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Incurs Latency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5532480" y="942120"/>
            <a:ext cx="2433600" cy="1118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9" name=""/>
          <p:cNvSpPr/>
          <p:nvPr/>
        </p:nvSpPr>
        <p:spPr>
          <a:xfrm>
            <a:off x="5884200" y="1430640"/>
            <a:ext cx="2049480" cy="55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Secure 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4927320" y="1039680"/>
            <a:ext cx="3161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5407200" y="3888000"/>
            <a:ext cx="3196080" cy="4521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29"/>
          <p:cNvSpPr/>
          <p:nvPr/>
        </p:nvSpPr>
        <p:spPr>
          <a:xfrm>
            <a:off x="685800" y="4932000"/>
            <a:ext cx="79963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(ISCA’06)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7687800" y="17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30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Each parent is the hash of its children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Root is kept on-chip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On a memory fetch, the core must additionally: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Recursively check each node up to the 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 rot="5400000">
            <a:off x="69134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 rot="5400000">
            <a:off x="719532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 rot="5400000">
            <a:off x="74775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"/>
          <p:cNvSpPr/>
          <p:nvPr/>
        </p:nvSpPr>
        <p:spPr>
          <a:xfrm rot="5400000">
            <a:off x="772416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"/>
          <p:cNvSpPr/>
          <p:nvPr/>
        </p:nvSpPr>
        <p:spPr>
          <a:xfrm rot="5400000">
            <a:off x="8216640" y="4008600"/>
            <a:ext cx="4431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761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 rot="5400000">
            <a:off x="6871680" y="3282480"/>
            <a:ext cx="527760" cy="21960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 rot="5400000">
            <a:off x="716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 rot="5400000">
            <a:off x="744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 rot="5400000">
            <a:off x="7700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 rot="5400000">
            <a:off x="8168040" y="3282480"/>
            <a:ext cx="527760" cy="21960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hash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7867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8119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7327800" y="2658240"/>
            <a:ext cx="224640" cy="22464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8335800" y="2658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7039800" y="2658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7183800" y="2190240"/>
            <a:ext cx="224640" cy="22464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7687800" y="2190240"/>
            <a:ext cx="224640" cy="224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6" name="Google Shape;114;p 12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67" name="PlaceHolder 1"/>
          <p:cNvSpPr>
            <a:spLocks noGrp="1"/>
          </p:cNvSpPr>
          <p:nvPr>
            <p:ph type="sldNum" idx="112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32C31F-8424-46C5-ADB7-810656C6462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Keystone Memory Isolation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36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On boot, the Security Monitor (SM) sets up a component called the Physical Memory Protections (PMP) Table: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Divides memory and assigns to modes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Resides in each core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If a memory request from an application does not have access, it is denied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6001560" y="2021400"/>
            <a:ext cx="55008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6109920" y="2382840"/>
            <a:ext cx="2145960" cy="127080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2" name=""/>
          <p:cNvSpPr/>
          <p:nvPr/>
        </p:nvSpPr>
        <p:spPr>
          <a:xfrm>
            <a:off x="7164360" y="2021400"/>
            <a:ext cx="36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73" name=""/>
          <p:cNvSpPr/>
          <p:nvPr/>
        </p:nvSpPr>
        <p:spPr>
          <a:xfrm flipH="1">
            <a:off x="7761600" y="2021400"/>
            <a:ext cx="68328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6109920" y="2408400"/>
            <a:ext cx="1770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5257800" y="943200"/>
            <a:ext cx="3817440" cy="108684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5371920" y="1294200"/>
            <a:ext cx="1022400" cy="5446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Application Thread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6677280" y="1294200"/>
            <a:ext cx="987840" cy="5446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Operating System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7921800" y="1294200"/>
            <a:ext cx="1041840" cy="5446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Remote or Cloud User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5393520" y="945000"/>
            <a:ext cx="35503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Potentially Malicious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PlaceHolder 37"/>
          <p:cNvSpPr/>
          <p:nvPr/>
        </p:nvSpPr>
        <p:spPr>
          <a:xfrm>
            <a:off x="228960" y="4932000"/>
            <a:ext cx="86821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chemeClr val="dk1"/>
                </a:solidFill>
                <a:latin typeface="Open Sans"/>
                <a:ea typeface="Open Sans"/>
              </a:rPr>
              <a:t>Dayeol Lee, David Kohlbrenner, Shweta Shinde, Krste Asanovic, and Dawn Song, Keystone: An Open Framework for Architecting Trusted Execution Environments, EuroSys 2020.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7099200" y="2707200"/>
            <a:ext cx="910440" cy="9104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>
            <a:off x="7086600" y="2671200"/>
            <a:ext cx="910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PMP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7207200" y="2968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7207200" y="318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7207200" y="340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5787000" y="3814200"/>
            <a:ext cx="2739240" cy="910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DRAM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5839200" y="3868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"/>
          <p:cNvSpPr/>
          <p:nvPr/>
        </p:nvSpPr>
        <p:spPr>
          <a:xfrm>
            <a:off x="5839200" y="408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5839200" y="430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" name="Google Shape;114;p 8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91" name="PlaceHolder 1"/>
          <p:cNvSpPr>
            <a:spLocks noGrp="1"/>
          </p:cNvSpPr>
          <p:nvPr>
            <p:ph type="sldNum" idx="113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B17408-8A0E-4E36-BC3A-07B58ABE95A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510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Extending Keystone to include Efficient 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42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mitigate latency concerns, our work proposes to store metadata on-chip, greatly reducing memory access overhead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This structure is called the Aggregated Extended PMP</a:t>
            </a: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(ePMP) 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table: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Tracks requests through the Memory Encryption Engine (MEE)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Updates metadata entries corresponding to their PMP status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5787000" y="3814200"/>
            <a:ext cx="2739240" cy="910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DRAM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>
            <a:off x="5839200" y="3868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5839200" y="408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"/>
          <p:cNvSpPr/>
          <p:nvPr/>
        </p:nvSpPr>
        <p:spPr>
          <a:xfrm>
            <a:off x="5839200" y="430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290880" y="4800600"/>
            <a:ext cx="869796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2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Zach Moolman &amp; Tamara Silbergleit Lehman,  Extending RISC-V Keystone to Include Efficient Secure Memory CARRV 2024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"/>
          <p:cNvSpPr/>
          <p:nvPr/>
        </p:nvSpPr>
        <p:spPr>
          <a:xfrm>
            <a:off x="6172200" y="2635200"/>
            <a:ext cx="2053440" cy="9104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6109920" y="2624400"/>
            <a:ext cx="2115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Memory Encryption Engine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6894000" y="3135240"/>
            <a:ext cx="1139040" cy="3744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ePMP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6109920" y="1158840"/>
            <a:ext cx="2145960" cy="127080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3" name=""/>
          <p:cNvSpPr/>
          <p:nvPr/>
        </p:nvSpPr>
        <p:spPr>
          <a:xfrm>
            <a:off x="6109920" y="1184400"/>
            <a:ext cx="1770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7099200" y="1483200"/>
            <a:ext cx="910440" cy="9104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7207200" y="174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7207200" y="196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7207200" y="2176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8" name="Google Shape;114;p 13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09" name="PlaceHolder 1"/>
          <p:cNvSpPr>
            <a:spLocks noGrp="1"/>
          </p:cNvSpPr>
          <p:nvPr>
            <p:ph type="sldNum" idx="114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746C4B-4668-45E7-A8F7-6F353C1E3BC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Extending Keystone to include Efficient Secure Memory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PlaceHolder 48"/>
          <p:cNvSpPr/>
          <p:nvPr/>
        </p:nvSpPr>
        <p:spPr>
          <a:xfrm>
            <a:off x="343080" y="830160"/>
            <a:ext cx="491076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To mitigate latency concerns, our work proposes to store metadata on-chip, greatly reducing memory access overhead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This structure is called the Aggregated Extended PMP</a:t>
            </a: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(ePMP) </a:t>
            </a: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table: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Tracks requests through the Memory Encryption Engine (MEE)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PingFang SC"/>
              </a:rPr>
              <a:t>Updates metadata entries corresponding to their PMP status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5787000" y="3814200"/>
            <a:ext cx="2739240" cy="910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DRAM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5839200" y="3868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5839200" y="408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5839200" y="430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290880" y="4800600"/>
            <a:ext cx="869796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05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Zach Moolman &amp; Tamara Silbergleit Lehman,  Extending RISC-V Keystone to Include Efficient Secure Memory CARRV 2024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5715000" y="837720"/>
            <a:ext cx="2895840" cy="288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6172200" y="2635200"/>
            <a:ext cx="2053440" cy="9104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6109920" y="2624400"/>
            <a:ext cx="2115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Memory Encryption Engine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6894000" y="3135240"/>
            <a:ext cx="1139040" cy="3744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ePMP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5922720" y="1086120"/>
            <a:ext cx="2495520" cy="1411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acb2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6109920" y="1158840"/>
            <a:ext cx="2145960" cy="127080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3" name=""/>
          <p:cNvSpPr/>
          <p:nvPr/>
        </p:nvSpPr>
        <p:spPr>
          <a:xfrm>
            <a:off x="6109920" y="1184400"/>
            <a:ext cx="1770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RISC-V Keystone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7099200" y="1483200"/>
            <a:ext cx="910440" cy="9104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6078600" y="835200"/>
            <a:ext cx="910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7207200" y="1744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7207200" y="1960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7207200" y="2176200"/>
            <a:ext cx="681840" cy="19224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"/>
          <p:cNvSpPr/>
          <p:nvPr/>
        </p:nvSpPr>
        <p:spPr>
          <a:xfrm>
            <a:off x="5250600" y="835560"/>
            <a:ext cx="910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0" name="Google Shape;114;p 6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31" name="PlaceHolder 1"/>
          <p:cNvSpPr>
            <a:spLocks noGrp="1"/>
          </p:cNvSpPr>
          <p:nvPr>
            <p:ph type="sldNum" idx="115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1E04E1-0D24-4324-801B-0EC7D2DB9B0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PlaceHolder 2"/>
          <p:cNvSpPr>
            <a:spLocks noGrp="1"/>
          </p:cNvSpPr>
          <p:nvPr>
            <p:ph/>
          </p:nvPr>
        </p:nvSpPr>
        <p:spPr>
          <a:xfrm>
            <a:off x="343080" y="786600"/>
            <a:ext cx="5596920" cy="42375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 is an open-source, cycle-accurate architecture emulation platform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Allows end-to-end development including full-system simulation &amp; benchmarks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Breaks hardware description into different layers, enabling researchers to edit any aspect of an implementation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This is helpful, but also results in a colossal codebase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510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The gem5 Simulation Suite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11880" y="4896000"/>
            <a:ext cx="91166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Jason Lowe-Power, Abdul Mutaal Ahmad, Ayaz Akram, Mohammad Alian, et al. (2007), The gem5 Simulator: Version 20.0+ (arXiv)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"/>
          <p:cNvSpPr/>
          <p:nvPr/>
        </p:nvSpPr>
        <p:spPr>
          <a:xfrm>
            <a:off x="6293160" y="3026520"/>
            <a:ext cx="2026800" cy="1216080"/>
          </a:xfrm>
          <a:prstGeom prst="roundRect">
            <a:avLst>
              <a:gd name="adj" fmla="val 16667"/>
            </a:avLst>
          </a:prstGeom>
          <a:solidFill>
            <a:srgbClr val="3faf46"/>
          </a:solidFill>
          <a:ln w="3816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6" name=""/>
          <p:cNvSpPr/>
          <p:nvPr/>
        </p:nvSpPr>
        <p:spPr>
          <a:xfrm>
            <a:off x="6490800" y="3433320"/>
            <a:ext cx="1617840" cy="6357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cpp Implementation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>
            <a:off x="6545520" y="3095640"/>
            <a:ext cx="1632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Python Wrapper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>
            <a:off x="6273720" y="2686320"/>
            <a:ext cx="2080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Hardware 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6436080" y="846720"/>
            <a:ext cx="1759320" cy="135396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0" name=""/>
          <p:cNvSpPr/>
          <p:nvPr/>
        </p:nvSpPr>
        <p:spPr>
          <a:xfrm>
            <a:off x="6565680" y="1179360"/>
            <a:ext cx="1477080" cy="90828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Open Sans"/>
              <a:ea typeface="DejaVu Sans"/>
            </a:endParaRPr>
          </a:p>
        </p:txBody>
      </p:sp>
      <p:sp>
        <p:nvSpPr>
          <p:cNvPr id="941" name=""/>
          <p:cNvSpPr/>
          <p:nvPr/>
        </p:nvSpPr>
        <p:spPr>
          <a:xfrm>
            <a:off x="6631920" y="1195560"/>
            <a:ext cx="1171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Config Files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6533280" y="831600"/>
            <a:ext cx="1171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Open Sans"/>
                <a:ea typeface="DejaVu Sans"/>
              </a:rPr>
              <a:t>User Space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"/>
          <p:cNvSpPr/>
          <p:nvPr/>
        </p:nvSpPr>
        <p:spPr>
          <a:xfrm>
            <a:off x="6758280" y="1590480"/>
            <a:ext cx="1123920" cy="41652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Open Sans"/>
                <a:ea typeface="DejaVu Sans"/>
              </a:rPr>
              <a:t>Program Binary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"/>
          <p:cNvSpPr/>
          <p:nvPr/>
        </p:nvSpPr>
        <p:spPr>
          <a:xfrm>
            <a:off x="7310880" y="2206440"/>
            <a:ext cx="360" cy="4827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5" name=""/>
          <p:cNvSpPr/>
          <p:nvPr/>
        </p:nvSpPr>
        <p:spPr>
          <a:xfrm>
            <a:off x="6172200" y="2686680"/>
            <a:ext cx="2296800" cy="163152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6" name="Google Shape;114;p 14"/>
          <p:cNvCxnSpPr/>
          <p:nvPr/>
        </p:nvCxnSpPr>
        <p:spPr>
          <a:xfrm>
            <a:off x="204480" y="721440"/>
            <a:ext cx="8751600" cy="169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47" name="PlaceHolder 1"/>
          <p:cNvSpPr>
            <a:spLocks noGrp="1"/>
          </p:cNvSpPr>
          <p:nvPr>
            <p:ph type="sldNum" idx="116"/>
          </p:nvPr>
        </p:nvSpPr>
        <p:spPr>
          <a:xfrm>
            <a:off x="8472600" y="4633560"/>
            <a:ext cx="532080" cy="3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617B15-6159-4CF8-9828-66596826775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560" cy="90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Challenges with gem5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"/>
          <p:cNvSpPr/>
          <p:nvPr/>
        </p:nvSpPr>
        <p:spPr>
          <a:xfrm>
            <a:off x="3180600" y="3184200"/>
            <a:ext cx="2739600" cy="167940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"/>
          <p:cNvSpPr/>
          <p:nvPr/>
        </p:nvSpPr>
        <p:spPr>
          <a:xfrm>
            <a:off x="4095000" y="4026600"/>
            <a:ext cx="910800" cy="6084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DejaVu Sans"/>
              </a:rPr>
              <a:t>Linux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"/>
          <p:cNvSpPr/>
          <p:nvPr/>
        </p:nvSpPr>
        <p:spPr>
          <a:xfrm>
            <a:off x="5009400" y="4026600"/>
            <a:ext cx="910800" cy="6084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DejaVu Sans"/>
              </a:rPr>
              <a:t>Disk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3409200" y="3267000"/>
            <a:ext cx="22824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DejaVu Sans"/>
              </a:rPr>
              <a:t>gem5 Pre-compiled Resources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"/>
          <p:cNvSpPr/>
          <p:nvPr/>
        </p:nvSpPr>
        <p:spPr>
          <a:xfrm>
            <a:off x="3180600" y="4026600"/>
            <a:ext cx="910800" cy="6084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DejaVu Sans"/>
              </a:rPr>
              <a:t>Boot-loader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66"/>
          <p:cNvSpPr/>
          <p:nvPr/>
        </p:nvSpPr>
        <p:spPr>
          <a:xfrm>
            <a:off x="343080" y="830160"/>
            <a:ext cx="8340120" cy="37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This work requires the use of gem5 full-system emulation, while many aspects of gem5 enable research, some also hinder progress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Scattered source files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Lots of detail, making high-level understanding non-trivial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FS requires gem5 resources and pre-compiled binaries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Num" idx="117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010DEB-D90C-4CFE-B57F-AE7FCC2C819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Direction / Future Work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7" name="Google Shape;106;p 3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58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5362560" cy="4190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Implementing a RISC-V TEE in gem5: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Currently adding cache hierarchy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Incorporating caches into secure memory through “board” hierarchy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Entirely different way of connecting things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PMP is included in any RISCV cpu in gem5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What is my contribution?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Until now, I have been just trying to implement Zach’s work in gem5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Deeper understanding of attack methods (winter break project?)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9" name="" descr=""/>
          <p:cNvPicPr/>
          <p:nvPr/>
        </p:nvPicPr>
        <p:blipFill>
          <a:blip r:embed="rId1"/>
          <a:stretch/>
        </p:blipFill>
        <p:spPr>
          <a:xfrm>
            <a:off x="5734440" y="1238400"/>
            <a:ext cx="3171600" cy="3077280"/>
          </a:xfrm>
          <a:prstGeom prst="rect">
            <a:avLst/>
          </a:prstGeom>
          <a:ln w="0">
            <a:noFill/>
          </a:ln>
        </p:spPr>
      </p:pic>
      <p:sp>
        <p:nvSpPr>
          <p:cNvPr id="960" name=""/>
          <p:cNvSpPr/>
          <p:nvPr/>
        </p:nvSpPr>
        <p:spPr>
          <a:xfrm>
            <a:off x="5943600" y="4572000"/>
            <a:ext cx="22773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08080"/>
                </a:solidFill>
                <a:latin typeface="Times New Roman"/>
              </a:rPr>
              <a:t>Moolman, Z. &amp; Lehman 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Num" idx="118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1E8C31-F27B-4231-9F4C-973CBB02ED6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Gap &amp; Contribution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3" name="Google Shape;106;p 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64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8334720" cy="4190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A Midsummer Nights Tree (AMNT) by Sam Thomas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Crash consistent secure memory protocol by defining write-back protocols that sync the on-chip BMT root &amp; stored leaf counters in off-chip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Limitations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600" cy="34848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Computational and memory overhead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7" name="Google Shape;180;p25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68" name="PlaceHolder 3"/>
          <p:cNvSpPr>
            <a:spLocks noGrp="1"/>
          </p:cNvSpPr>
          <p:nvPr>
            <p:ph type="sldNum" idx="119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29D366-87C0-4320-AAA8-8D2D115DDBF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Num" idx="120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CC5E32-6CCC-41E9-A7C5-F2CD9FADB97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PMP Sensitivity Analysis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1" name="Google Shape;106;p 2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72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7882920" cy="4190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How does a variable PMP size affect performance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Efficient PMP packing: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Currently, gem5 implements Naturally Aligned Power of Two (NAPOT) packing, which requires the base address to be aligned by a power of two.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 Simple Sanity Check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600" cy="44193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Base gem5 vs. Secure Memory implementation (</a:t>
            </a:r>
            <a:r>
              <a:rPr b="0" lang="en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version 24.0.0.1</a:t>
            </a: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Benchmark: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1,000 accesses on 1GB array of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 caches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Secure memory implementation requires an increase in both runtime and memory overhead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5" name="Google Shape;140;p 1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76" name="PlaceHolder 3"/>
          <p:cNvSpPr>
            <a:spLocks noGrp="1"/>
          </p:cNvSpPr>
          <p:nvPr>
            <p:ph type="sldNum" idx="121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52690C-93CE-4E0D-A0B7-91B344A8D2E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977" name=""/>
          <p:cNvGraphicFramePr/>
          <p:nvPr/>
        </p:nvGraphicFramePr>
        <p:xfrm>
          <a:off x="2039400" y="2683440"/>
          <a:ext cx="5075280" cy="139716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Simulated Time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(Seconds)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Host Memory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(MB)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Number of Instructions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(thousands)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Base gem5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.00388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1.18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55,966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Secure gem5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.014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3.43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55,966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8" name=""/>
          <p:cNvSpPr/>
          <p:nvPr/>
        </p:nvSpPr>
        <p:spPr>
          <a:xfrm>
            <a:off x="1480680" y="2561400"/>
            <a:ext cx="1819440" cy="752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440" cy="912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gem5 Cache Sanity Check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0" name="Google Shape;140;p 3"/>
          <p:cNvCxnSpPr/>
          <p:nvPr/>
        </p:nvCxnSpPr>
        <p:spPr>
          <a:xfrm>
            <a:off x="204480" y="721440"/>
            <a:ext cx="8745120" cy="1044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81" name="PlaceHolder 2"/>
          <p:cNvSpPr>
            <a:spLocks noGrp="1"/>
          </p:cNvSpPr>
          <p:nvPr>
            <p:ph type="sldNum" idx="122"/>
          </p:nvPr>
        </p:nvSpPr>
        <p:spPr>
          <a:xfrm>
            <a:off x="8472600" y="463356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3C5D25-9BE6-4BB7-876A-A038DCA330C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613800" y="1636200"/>
            <a:ext cx="2003400" cy="151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Base gem5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613800" y="3231720"/>
            <a:ext cx="2003400" cy="151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Secure gem5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2625480" y="1645200"/>
            <a:ext cx="1637640" cy="75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False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2625480" y="2395440"/>
            <a:ext cx="1637640" cy="75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True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2625840" y="3229200"/>
            <a:ext cx="1637640" cy="75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False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2625840" y="3979440"/>
            <a:ext cx="1637640" cy="75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True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4262400" y="1182960"/>
            <a:ext cx="1363320" cy="44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</a:rPr>
              <a:t>Simulated Time </a:t>
            </a: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(seconds)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5630760" y="1183320"/>
            <a:ext cx="1363320" cy="44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</a:rPr>
              <a:t>Host Memory </a:t>
            </a: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(MB)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6999120" y="1183680"/>
            <a:ext cx="1363320" cy="44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</a:rPr>
              <a:t>Number of Instructions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4262760" y="164196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.003880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5631120" y="164232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1.18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"/>
          <p:cNvSpPr/>
          <p:nvPr/>
        </p:nvSpPr>
        <p:spPr>
          <a:xfrm>
            <a:off x="6999480" y="164268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55,966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4263120" y="239832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.000069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>
            <a:off x="5631480" y="239868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1.18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6999840" y="239904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55,966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"/>
          <p:cNvSpPr/>
          <p:nvPr/>
        </p:nvSpPr>
        <p:spPr>
          <a:xfrm>
            <a:off x="4263120" y="322632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.014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"/>
          <p:cNvSpPr/>
          <p:nvPr/>
        </p:nvSpPr>
        <p:spPr>
          <a:xfrm>
            <a:off x="5631480" y="322668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3.43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6999840" y="322704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55,966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"/>
          <p:cNvSpPr/>
          <p:nvPr/>
        </p:nvSpPr>
        <p:spPr>
          <a:xfrm>
            <a:off x="4263480" y="398268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.000531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"/>
          <p:cNvSpPr/>
          <p:nvPr/>
        </p:nvSpPr>
        <p:spPr>
          <a:xfrm>
            <a:off x="5631840" y="398304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3.44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"/>
          <p:cNvSpPr/>
          <p:nvPr/>
        </p:nvSpPr>
        <p:spPr>
          <a:xfrm>
            <a:off x="7000200" y="3983400"/>
            <a:ext cx="1371960" cy="750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55,966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"/>
          <p:cNvSpPr/>
          <p:nvPr/>
        </p:nvSpPr>
        <p:spPr>
          <a:xfrm>
            <a:off x="2642760" y="1183320"/>
            <a:ext cx="1619280" cy="44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Cache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2026-10-27T15:01:37Z</dcterms:modified>
  <cp:revision>94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